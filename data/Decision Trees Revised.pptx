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7" name="Google Shape;45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 name="Google Shape;48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5" name="Google Shape;52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7" name="Google Shape;53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17" name="Google Shape;17;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8" name="Google Shape;18;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25" name="Google Shape;25;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6" name="Google Shape;26;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33" name="Google Shape;33;p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4" name="Google Shape;34;p4"/>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42" name="Google Shape;42;p5"/>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43" name="Google Shape;43;p5"/>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53" name="Google Shape;53;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4" name="Google Shape;54;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60" name="Google Shape;60;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1" name="Google Shape;61;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66" name="Google Shape;66;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7" name="Google Shape;67;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75" name="Google Shape;75;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6" name="Google Shape;76;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p:nvPr>
            <p:ph idx="2" type="pic"/>
          </p:nvPr>
        </p:nvSpPr>
        <p:spPr>
          <a:xfrm>
            <a:off x="5183188" y="987425"/>
            <a:ext cx="6172200" cy="4873625"/>
          </a:xfrm>
          <a:prstGeom prst="rect">
            <a:avLst/>
          </a:prstGeom>
          <a:noFill/>
          <a:ln>
            <a:noFill/>
          </a:ln>
        </p:spPr>
      </p:sp>
      <p:sp>
        <p:nvSpPr>
          <p:cNvPr id="80" name="Google Shape;8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84" name="Google Shape;84;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5" name="Google Shape;85;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92" name="Google Shape;92;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3" name="Google Shape;93;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
        <p:nvSpPr>
          <p:cNvPr id="100" name="Google Shape;100;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1" name="Google Shape;101;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mychartguide.com/decision-tree/" TargetMode="External"/><Relationship Id="rId4" Type="http://schemas.openxmlformats.org/officeDocument/2006/relationships/hyperlink" Target="https://statquest.com/" TargetMode="External"/><Relationship Id="rId5" Type="http://schemas.openxmlformats.org/officeDocument/2006/relationships/hyperlink" Target="https://aionlinecourse.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7" name="Google Shape;107;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8" name="Google Shape;108;p13"/>
          <p:cNvSpPr/>
          <p:nvPr/>
        </p:nvSpPr>
        <p:spPr>
          <a:xfrm rot="-172285">
            <a:off x="1108520" y="775849"/>
            <a:ext cx="2987899" cy="2987899"/>
          </a:xfrm>
          <a:prstGeom prst="arc">
            <a:avLst>
              <a:gd fmla="val 16200000" name="adj1"/>
              <a:gd fmla="val 2287352"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9" name="Google Shape;109;p13"/>
          <p:cNvSpPr txBox="1"/>
          <p:nvPr>
            <p:ph type="ctrTitle"/>
          </p:nvPr>
        </p:nvSpPr>
        <p:spPr>
          <a:xfrm>
            <a:off x="860742" y="1124988"/>
            <a:ext cx="4425962"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Twentieth Century"/>
              <a:buNone/>
            </a:pPr>
            <a:r>
              <a:rPr lang="en-CA"/>
              <a:t>Decision Trees</a:t>
            </a:r>
            <a:endParaRPr/>
          </a:p>
        </p:txBody>
      </p:sp>
      <p:sp>
        <p:nvSpPr>
          <p:cNvPr id="110" name="Google Shape;110;p13"/>
          <p:cNvSpPr txBox="1"/>
          <p:nvPr>
            <p:ph idx="1" type="subTitle"/>
          </p:nvPr>
        </p:nvSpPr>
        <p:spPr>
          <a:xfrm>
            <a:off x="841692" y="3671791"/>
            <a:ext cx="4425962" cy="165576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p:txBody>
      </p:sp>
      <p:pic>
        <p:nvPicPr>
          <p:cNvPr descr="Small tree" id="111" name="Google Shape;111;p13"/>
          <p:cNvPicPr preferRelativeResize="0"/>
          <p:nvPr/>
        </p:nvPicPr>
        <p:blipFill rotWithShape="1">
          <a:blip r:embed="rId3">
            <a:alphaModFix/>
          </a:blip>
          <a:srcRect b="-2" l="9234" r="27906" t="0"/>
          <a:stretch/>
        </p:blipFill>
        <p:spPr>
          <a:xfrm>
            <a:off x="5733768" y="-1"/>
            <a:ext cx="6458232" cy="6858001"/>
          </a:xfrm>
          <a:custGeom>
            <a:rect b="b" l="l" r="r" t="t"/>
            <a:pathLst>
              <a:path extrusionOk="0" h="6858001" w="6458232">
                <a:moveTo>
                  <a:pt x="2209000" y="0"/>
                </a:moveTo>
                <a:lnTo>
                  <a:pt x="6458232" y="0"/>
                </a:lnTo>
                <a:lnTo>
                  <a:pt x="6458232" y="6858001"/>
                </a:lnTo>
                <a:lnTo>
                  <a:pt x="651045" y="6858001"/>
                </a:lnTo>
                <a:lnTo>
                  <a:pt x="635146" y="6830200"/>
                </a:lnTo>
                <a:cubicBezTo>
                  <a:pt x="230085" y="6080469"/>
                  <a:pt x="0" y="5221296"/>
                  <a:pt x="0" y="4308089"/>
                </a:cubicBezTo>
                <a:cubicBezTo>
                  <a:pt x="0" y="2572997"/>
                  <a:pt x="830606" y="1032965"/>
                  <a:pt x="2113832" y="68046"/>
                </a:cubicBezTo>
                <a:close/>
              </a:path>
            </a:pathLst>
          </a:custGeom>
          <a:noFill/>
          <a:ln>
            <a:noFill/>
          </a:ln>
        </p:spPr>
      </p:pic>
      <p:sp>
        <p:nvSpPr>
          <p:cNvPr id="112" name="Google Shape;112;p13"/>
          <p:cNvSpPr/>
          <p:nvPr/>
        </p:nvSpPr>
        <p:spPr>
          <a:xfrm>
            <a:off x="5394269" y="4274457"/>
            <a:ext cx="825256" cy="825256"/>
          </a:xfrm>
          <a:prstGeom prst="rect">
            <a:avLst/>
          </a:prstGeom>
          <a:noFill/>
          <a:ln cap="flat" cmpd="sng" w="1270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3" name="Google Shape;113;p13"/>
          <p:cNvSpPr/>
          <p:nvPr/>
        </p:nvSpPr>
        <p:spPr>
          <a:xfrm>
            <a:off x="860742" y="5649686"/>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50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700"/>
                                        <p:tgtEl>
                                          <p:spTgt spid="110">
                                            <p:txEl>
                                              <p:pRg end="0" st="0"/>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700"/>
                                        <p:tgtEl>
                                          <p:spTgt spid="110">
                                            <p:txEl>
                                              <p:pRg end="1" st="1"/>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700"/>
                                        <p:tgtEl>
                                          <p:spTgt spid="110">
                                            <p:txEl>
                                              <p:pRg end="2" st="2"/>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700"/>
                                        <p:tgtEl>
                                          <p:spTgt spid="110">
                                            <p:txEl>
                                              <p:pRg end="3" st="3"/>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700"/>
                                        <p:tgtEl>
                                          <p:spTgt spid="110">
                                            <p:txEl>
                                              <p:pRg end="4" st="4"/>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700"/>
                                        <p:tgtEl>
                                          <p:spTgt spid="110">
                                            <p:txEl>
                                              <p:pRg end="5" st="5"/>
                                            </p:txEl>
                                          </p:spTgt>
                                        </p:tgtEl>
                                      </p:cBhvr>
                                    </p:animEffect>
                                  </p:childTnLst>
                                </p:cTn>
                              </p:par>
                              <p:par>
                                <p:cTn fill="hold" nodeType="withEffect" presetClass="entr" presetID="10" presetSubtype="0">
                                  <p:stCondLst>
                                    <p:cond delay="1500"/>
                                  </p:stCondLst>
                                  <p:childTnLst>
                                    <p:set>
                                      <p:cBhvr>
                                        <p:cTn dur="1" fill="hold">
                                          <p:stCondLst>
                                            <p:cond delay="0"/>
                                          </p:stCondLst>
                                        </p:cTn>
                                        <p:tgtEl>
                                          <p:spTgt spid="110">
                                            <p:txEl>
                                              <p:pRg end="6" st="6"/>
                                            </p:txEl>
                                          </p:spTgt>
                                        </p:tgtEl>
                                        <p:attrNameLst>
                                          <p:attrName>style.visibility</p:attrName>
                                        </p:attrNameLst>
                                      </p:cBhvr>
                                      <p:to>
                                        <p:strVal val="visible"/>
                                      </p:to>
                                    </p:set>
                                    <p:animEffect filter="fade" transition="in">
                                      <p:cBhvr>
                                        <p:cTn dur="700"/>
                                        <p:tgtEl>
                                          <p:spTgt spid="110">
                                            <p:txEl>
                                              <p:pRg end="6" st="6"/>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109"/>
                                        </p:tgtEl>
                                        <p:attrNameLst>
                                          <p:attrName>style.visibility</p:attrName>
                                        </p:attrNameLst>
                                      </p:cBhvr>
                                      <p:to>
                                        <p:strVal val="visible"/>
                                      </p:to>
                                    </p:set>
                                    <p:animEffect filter="fade" transition="in">
                                      <p:cBhvr>
                                        <p:cTn dur="7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Agenda</a:t>
            </a:r>
            <a:endParaRPr/>
          </a:p>
        </p:txBody>
      </p:sp>
      <p:sp>
        <p:nvSpPr>
          <p:cNvPr id="119" name="Google Shape;119;p1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Assumptions</a:t>
            </a:r>
            <a:endParaRPr/>
          </a:p>
          <a:p>
            <a:pPr indent="-228600" lvl="0" marL="228600" rtl="0" algn="l">
              <a:lnSpc>
                <a:spcPct val="90000"/>
              </a:lnSpc>
              <a:spcBef>
                <a:spcPts val="1000"/>
              </a:spcBef>
              <a:spcAft>
                <a:spcPts val="0"/>
              </a:spcAft>
              <a:buClr>
                <a:schemeClr val="dk1"/>
              </a:buClr>
              <a:buSzPts val="2800"/>
              <a:buChar char="•"/>
            </a:pPr>
            <a:r>
              <a:rPr lang="en-CA"/>
              <a:t>Introduction</a:t>
            </a:r>
            <a:endParaRPr/>
          </a:p>
          <a:p>
            <a:pPr indent="-228600" lvl="0" marL="228600" rtl="0" algn="l">
              <a:lnSpc>
                <a:spcPct val="90000"/>
              </a:lnSpc>
              <a:spcBef>
                <a:spcPts val="1000"/>
              </a:spcBef>
              <a:spcAft>
                <a:spcPts val="0"/>
              </a:spcAft>
              <a:buClr>
                <a:schemeClr val="dk1"/>
              </a:buClr>
              <a:buSzPts val="2800"/>
              <a:buChar char="•"/>
            </a:pPr>
            <a:r>
              <a:rPr lang="en-CA"/>
              <a:t>The basics: What, Why and How?</a:t>
            </a:r>
            <a:endParaRPr/>
          </a:p>
          <a:p>
            <a:pPr indent="-228600" lvl="0" marL="228600" rtl="0" algn="l">
              <a:lnSpc>
                <a:spcPct val="90000"/>
              </a:lnSpc>
              <a:spcBef>
                <a:spcPts val="1000"/>
              </a:spcBef>
              <a:spcAft>
                <a:spcPts val="0"/>
              </a:spcAft>
              <a:buClr>
                <a:schemeClr val="dk1"/>
              </a:buClr>
              <a:buSzPts val="2800"/>
              <a:buChar char="•"/>
            </a:pPr>
            <a:r>
              <a:rPr lang="en-CA"/>
              <a:t>Understanding the concept</a:t>
            </a:r>
            <a:endParaRPr/>
          </a:p>
          <a:p>
            <a:pPr indent="-228600" lvl="0" marL="228600" rtl="0" algn="l">
              <a:lnSpc>
                <a:spcPct val="90000"/>
              </a:lnSpc>
              <a:spcBef>
                <a:spcPts val="1000"/>
              </a:spcBef>
              <a:spcAft>
                <a:spcPts val="0"/>
              </a:spcAft>
              <a:buClr>
                <a:schemeClr val="dk1"/>
              </a:buClr>
              <a:buSzPts val="2800"/>
              <a:buChar char="•"/>
            </a:pPr>
            <a:r>
              <a:rPr lang="en-CA"/>
              <a:t>Practical Implementation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15"/>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25" name="Google Shape;125;p15"/>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6" name="Google Shape;126;p1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27" name="Google Shape;127;p15"/>
          <p:cNvSpPr/>
          <p:nvPr/>
        </p:nvSpPr>
        <p:spPr>
          <a:xfrm rot="-4995211">
            <a:off x="675639" y="775849"/>
            <a:ext cx="2987899" cy="2987899"/>
          </a:xfrm>
          <a:prstGeom prst="arc">
            <a:avLst>
              <a:gd fmla="val 14455503" name="adj1"/>
              <a:gd fmla="val 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8" name="Google Shape;128;p15"/>
          <p:cNvSpPr txBox="1"/>
          <p:nvPr>
            <p:ph type="title"/>
          </p:nvPr>
        </p:nvSpPr>
        <p:spPr>
          <a:xfrm>
            <a:off x="892818" y="1370171"/>
            <a:ext cx="5085580"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Twentieth Century"/>
              <a:buNone/>
            </a:pPr>
            <a:r>
              <a:rPr lang="en-CA" sz="6000">
                <a:solidFill>
                  <a:schemeClr val="dk1"/>
                </a:solidFill>
                <a:latin typeface="Twentieth Century"/>
                <a:ea typeface="Twentieth Century"/>
                <a:cs typeface="Twentieth Century"/>
                <a:sym typeface="Twentieth Century"/>
              </a:rPr>
              <a:t>Introduction</a:t>
            </a:r>
            <a:endParaRPr/>
          </a:p>
        </p:txBody>
      </p:sp>
      <p:sp>
        <p:nvSpPr>
          <p:cNvPr id="129" name="Google Shape;129;p15"/>
          <p:cNvSpPr txBox="1"/>
          <p:nvPr>
            <p:ph idx="1" type="body"/>
          </p:nvPr>
        </p:nvSpPr>
        <p:spPr>
          <a:xfrm>
            <a:off x="892818" y="3849845"/>
            <a:ext cx="5085580" cy="5332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CA" sz="2400">
                <a:solidFill>
                  <a:schemeClr val="dk1"/>
                </a:solidFill>
                <a:latin typeface="Avenir"/>
                <a:ea typeface="Avenir"/>
                <a:cs typeface="Avenir"/>
                <a:sym typeface="Avenir"/>
              </a:rPr>
              <a:t>Bird or animal? </a:t>
            </a:r>
            <a:endParaRPr/>
          </a:p>
        </p:txBody>
      </p:sp>
      <p:sp>
        <p:nvSpPr>
          <p:cNvPr id="130" name="Google Shape;130;p15"/>
          <p:cNvSpPr/>
          <p:nvPr/>
        </p:nvSpPr>
        <p:spPr>
          <a:xfrm>
            <a:off x="9224703" y="541034"/>
            <a:ext cx="931930" cy="90664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pic>
        <p:nvPicPr>
          <p:cNvPr descr="Animals in the wild | World Animal Protection" id="131" name="Google Shape;131;p15"/>
          <p:cNvPicPr preferRelativeResize="0"/>
          <p:nvPr/>
        </p:nvPicPr>
        <p:blipFill rotWithShape="1">
          <a:blip r:embed="rId3">
            <a:alphaModFix/>
          </a:blip>
          <a:srcRect b="1" l="0" r="1" t="20635"/>
          <a:stretch/>
        </p:blipFill>
        <p:spPr>
          <a:xfrm>
            <a:off x="6041841" y="394624"/>
            <a:ext cx="4123157" cy="4123157"/>
          </a:xfrm>
          <a:custGeom>
            <a:rect b="b" l="l" r="r" t="t"/>
            <a:pathLst>
              <a:path extrusionOk="0" h="3741748" w="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132" name="Google Shape;132;p15"/>
          <p:cNvSpPr/>
          <p:nvPr/>
        </p:nvSpPr>
        <p:spPr>
          <a:xfrm>
            <a:off x="6501501" y="3865664"/>
            <a:ext cx="739429" cy="739429"/>
          </a:xfrm>
          <a:prstGeom prst="rect">
            <a:avLst/>
          </a:prstGeom>
          <a:noFill/>
          <a:ln cap="flat" cmpd="sng" w="1270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pic>
        <p:nvPicPr>
          <p:cNvPr descr="8 Top Small Pet Birds" id="133" name="Google Shape;133;p15"/>
          <p:cNvPicPr preferRelativeResize="0"/>
          <p:nvPr/>
        </p:nvPicPr>
        <p:blipFill rotWithShape="1">
          <a:blip r:embed="rId4">
            <a:alphaModFix/>
          </a:blip>
          <a:srcRect b="3" l="0" r="3" t="0"/>
          <a:stretch/>
        </p:blipFill>
        <p:spPr>
          <a:xfrm>
            <a:off x="8695537" y="3158548"/>
            <a:ext cx="3047542" cy="3047542"/>
          </a:xfrm>
          <a:custGeom>
            <a:rect b="b" l="l" r="r" t="t"/>
            <a:pathLst>
              <a:path extrusionOk="0" h="2283868" w="2283868">
                <a:moveTo>
                  <a:pt x="1141934" y="0"/>
                </a:moveTo>
                <a:cubicBezTo>
                  <a:pt x="1772607" y="0"/>
                  <a:pt x="2283868" y="511261"/>
                  <a:pt x="2283868" y="1141934"/>
                </a:cubicBezTo>
                <a:cubicBezTo>
                  <a:pt x="2283868" y="1772607"/>
                  <a:pt x="1772607" y="2283868"/>
                  <a:pt x="1141934" y="2283868"/>
                </a:cubicBezTo>
                <a:cubicBezTo>
                  <a:pt x="511261" y="2283868"/>
                  <a:pt x="0" y="1772607"/>
                  <a:pt x="0" y="1141934"/>
                </a:cubicBezTo>
                <a:cubicBezTo>
                  <a:pt x="0" y="511261"/>
                  <a:pt x="511261" y="0"/>
                  <a:pt x="1141934" y="0"/>
                </a:cubicBezTo>
                <a:close/>
              </a:path>
            </a:pathLst>
          </a:custGeom>
          <a:noFill/>
          <a:ln>
            <a:noFill/>
          </a:ln>
        </p:spPr>
      </p:pic>
      <p:sp>
        <p:nvSpPr>
          <p:cNvPr id="134" name="Google Shape;134;p15"/>
          <p:cNvSpPr txBox="1"/>
          <p:nvPr/>
        </p:nvSpPr>
        <p:spPr>
          <a:xfrm>
            <a:off x="892818" y="5672887"/>
            <a:ext cx="5085580" cy="10422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0" i="0" lang="en-CA" sz="2400" u="none" cap="none" strike="noStrike">
                <a:solidFill>
                  <a:schemeClr val="dk1"/>
                </a:solidFill>
                <a:latin typeface="Avenir"/>
                <a:ea typeface="Avenir"/>
                <a:cs typeface="Avenir"/>
                <a:sym typeface="Avenir"/>
              </a:rPr>
              <a:t>How do you identify so quickly?</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CA" sz="2400" u="none" cap="none" strike="noStrike">
                <a:solidFill>
                  <a:schemeClr val="dk1"/>
                </a:solidFill>
                <a:latin typeface="Avenir"/>
                <a:ea typeface="Avenir"/>
                <a:cs typeface="Avenir"/>
                <a:sym typeface="Avenir"/>
              </a:rPr>
              <a:t>You know the rules!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28"/>
                                        </p:tgtEl>
                                        <p:attrNameLst>
                                          <p:attrName>style.visibility</p:attrName>
                                        </p:attrNameLst>
                                      </p:cBhvr>
                                      <p:to>
                                        <p:strVal val="visible"/>
                                      </p:to>
                                    </p:set>
                                    <p:animEffect filter="fade" transition="in">
                                      <p:cBhvr>
                                        <p:cTn dur="7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animEffect filter="fade" transition="in">
                                      <p:cBhvr>
                                        <p:cTn dur="500"/>
                                        <p:tgtEl>
                                          <p:spTgt spid="1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to teach a computer?</a:t>
            </a:r>
            <a:endParaRPr/>
          </a:p>
        </p:txBody>
      </p:sp>
      <p:sp>
        <p:nvSpPr>
          <p:cNvPr id="140" name="Google Shape;140;p1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How do you teach the same thing to a computer?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Same thing = “Set of Rules”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Decision Trees!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46" name="Google Shape;146;p17"/>
          <p:cNvSpPr txBox="1"/>
          <p:nvPr>
            <p:ph type="title"/>
          </p:nvPr>
        </p:nvSpPr>
        <p:spPr>
          <a:xfrm>
            <a:off x="838200" y="365125"/>
            <a:ext cx="539336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147" name="Google Shape;147;p17"/>
          <p:cNvSpPr txBox="1"/>
          <p:nvPr>
            <p:ph idx="1" type="body"/>
          </p:nvPr>
        </p:nvSpPr>
        <p:spPr>
          <a:xfrm>
            <a:off x="838200" y="1825625"/>
            <a:ext cx="539336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A tree that helps you take a decision! Really.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Fun fact – it’s an inverted tree*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We create it daily – thousands of times! </a:t>
            </a:r>
            <a:endParaRPr/>
          </a:p>
        </p:txBody>
      </p:sp>
      <p:pic>
        <p:nvPicPr>
          <p:cNvPr descr="green leaf tree under blue sky" id="148" name="Google Shape;148;p17"/>
          <p:cNvPicPr preferRelativeResize="0"/>
          <p:nvPr/>
        </p:nvPicPr>
        <p:blipFill rotWithShape="1">
          <a:blip r:embed="rId3">
            <a:alphaModFix/>
          </a:blip>
          <a:srcRect b="-2" l="18905" r="14344" t="0"/>
          <a:stretch/>
        </p:blipFill>
        <p:spPr>
          <a:xfrm flipH="1" rot="10800000">
            <a:off x="6374920" y="758514"/>
            <a:ext cx="5122238" cy="5122238"/>
          </a:xfrm>
          <a:custGeom>
            <a:rect b="b" l="l" r="r" t="t"/>
            <a:pathLst>
              <a:path extrusionOk="0" h="2663168" w="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149" name="Google Shape;149;p17"/>
          <p:cNvSpPr/>
          <p:nvPr/>
        </p:nvSpPr>
        <p:spPr>
          <a:xfrm flipH="1" rot="10389197">
            <a:off x="6261882" y="687822"/>
            <a:ext cx="5471147" cy="5471147"/>
          </a:xfrm>
          <a:prstGeom prst="arc">
            <a:avLst>
              <a:gd fmla="val 16200000" name="adj1"/>
              <a:gd fmla="val 20093138" name="adj2"/>
            </a:avLst>
          </a:prstGeom>
          <a:noFill/>
          <a:ln cap="rnd" cmpd="sng" w="127000">
            <a:solidFill>
              <a:schemeClr val="accent4">
                <a:alpha val="94902"/>
              </a:schemeClr>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50" name="Google Shape;150;p17"/>
          <p:cNvSpPr/>
          <p:nvPr/>
        </p:nvSpPr>
        <p:spPr>
          <a:xfrm>
            <a:off x="10248561" y="921125"/>
            <a:ext cx="791021" cy="76956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156" name="Google Shape;156;p1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Have you driven? Have you cooked? Have you thought?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Anticipation / What – If?</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In milliseconds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Let’s meet my friend Bob.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62" name="Google Shape;162;p19"/>
          <p:cNvSpPr/>
          <p:nvPr/>
        </p:nvSpPr>
        <p:spPr>
          <a:xfrm>
            <a:off x="6295924" y="1656147"/>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63" name="Google Shape;163;p19"/>
          <p:cNvSpPr/>
          <p:nvPr/>
        </p:nvSpPr>
        <p:spPr>
          <a:xfrm>
            <a:off x="7787212" y="587516"/>
            <a:ext cx="2987899" cy="2987899"/>
          </a:xfrm>
          <a:prstGeom prst="arc">
            <a:avLst>
              <a:gd fmla="val 15817365" name="adj1"/>
              <a:gd fmla="val 178138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64" name="Google Shape;16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165" name="Google Shape;165;p19"/>
          <p:cNvSpPr txBox="1"/>
          <p:nvPr>
            <p:ph idx="1" type="body"/>
          </p:nvPr>
        </p:nvSpPr>
        <p:spPr>
          <a:xfrm>
            <a:off x="838200" y="1825625"/>
            <a:ext cx="5393361" cy="1046535"/>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CA" sz="2400"/>
              <a:t>On a serious note</a:t>
            </a:r>
            <a:endParaRPr/>
          </a:p>
          <a:p>
            <a:pPr indent="-99060" lvl="0" marL="228600" rtl="0" algn="l">
              <a:lnSpc>
                <a:spcPct val="90000"/>
              </a:lnSpc>
              <a:spcBef>
                <a:spcPts val="1000"/>
              </a:spcBef>
              <a:spcAft>
                <a:spcPts val="0"/>
              </a:spcAft>
              <a:buClr>
                <a:schemeClr val="dk1"/>
              </a:buClr>
              <a:buSzPct val="100000"/>
              <a:buNone/>
            </a:pPr>
            <a:r>
              <a:t/>
            </a:r>
            <a:endParaRPr sz="2400"/>
          </a:p>
          <a:p>
            <a:pPr indent="-228600" lvl="0" marL="228600" rtl="0" algn="l">
              <a:lnSpc>
                <a:spcPct val="90000"/>
              </a:lnSpc>
              <a:spcBef>
                <a:spcPts val="1000"/>
              </a:spcBef>
              <a:spcAft>
                <a:spcPts val="0"/>
              </a:spcAft>
              <a:buClr>
                <a:schemeClr val="dk1"/>
              </a:buClr>
              <a:buSzPct val="100000"/>
              <a:buChar char="•"/>
            </a:pPr>
            <a:r>
              <a:rPr lang="en-CA" sz="2400"/>
              <a:t>Let’s simplify</a:t>
            </a:r>
            <a:endParaRPr/>
          </a:p>
        </p:txBody>
      </p:sp>
      <p:sp>
        <p:nvSpPr>
          <p:cNvPr id="166" name="Google Shape;166;p19"/>
          <p:cNvSpPr txBox="1"/>
          <p:nvPr/>
        </p:nvSpPr>
        <p:spPr>
          <a:xfrm>
            <a:off x="7773210" y="1565939"/>
            <a:ext cx="223312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Does the person like BTS songs?</a:t>
            </a:r>
            <a:endParaRPr b="0" i="0" sz="1400" u="none" cap="none" strike="noStrike">
              <a:solidFill>
                <a:srgbClr val="000000"/>
              </a:solidFill>
              <a:latin typeface="Arial"/>
              <a:ea typeface="Arial"/>
              <a:cs typeface="Arial"/>
              <a:sym typeface="Arial"/>
            </a:endParaRPr>
          </a:p>
        </p:txBody>
      </p:sp>
      <p:cxnSp>
        <p:nvCxnSpPr>
          <p:cNvPr id="167" name="Google Shape;167;p19"/>
          <p:cNvCxnSpPr/>
          <p:nvPr/>
        </p:nvCxnSpPr>
        <p:spPr>
          <a:xfrm flipH="1">
            <a:off x="7381875" y="2202247"/>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168" name="Google Shape;168;p19"/>
          <p:cNvSpPr txBox="1"/>
          <p:nvPr/>
        </p:nvSpPr>
        <p:spPr>
          <a:xfrm>
            <a:off x="7038774" y="3309614"/>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Yes</a:t>
            </a:r>
            <a:endParaRPr b="0" i="0" sz="1400" u="none" cap="none" strike="noStrike">
              <a:solidFill>
                <a:srgbClr val="000000"/>
              </a:solidFill>
              <a:latin typeface="Arial"/>
              <a:ea typeface="Arial"/>
              <a:cs typeface="Arial"/>
              <a:sym typeface="Arial"/>
            </a:endParaRPr>
          </a:p>
        </p:txBody>
      </p:sp>
      <p:sp>
        <p:nvSpPr>
          <p:cNvPr id="169" name="Google Shape;169;p19"/>
          <p:cNvSpPr txBox="1"/>
          <p:nvPr/>
        </p:nvSpPr>
        <p:spPr>
          <a:xfrm>
            <a:off x="9280627" y="3309614"/>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a:t>
            </a:r>
            <a:endParaRPr b="0" i="0" sz="1400" u="none" cap="none" strike="noStrike">
              <a:solidFill>
                <a:srgbClr val="000000"/>
              </a:solidFill>
              <a:latin typeface="Arial"/>
              <a:ea typeface="Arial"/>
              <a:cs typeface="Arial"/>
              <a:sym typeface="Arial"/>
            </a:endParaRPr>
          </a:p>
        </p:txBody>
      </p:sp>
      <p:cxnSp>
        <p:nvCxnSpPr>
          <p:cNvPr id="170" name="Google Shape;170;p19"/>
          <p:cNvCxnSpPr/>
          <p:nvPr/>
        </p:nvCxnSpPr>
        <p:spPr>
          <a:xfrm>
            <a:off x="8686800" y="2202246"/>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171" name="Google Shape;171;p19"/>
          <p:cNvCxnSpPr/>
          <p:nvPr/>
        </p:nvCxnSpPr>
        <p:spPr>
          <a:xfrm flipH="1">
            <a:off x="5937996" y="3678946"/>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172" name="Google Shape;172;p19"/>
          <p:cNvCxnSpPr/>
          <p:nvPr/>
        </p:nvCxnSpPr>
        <p:spPr>
          <a:xfrm>
            <a:off x="9559207" y="3671765"/>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173" name="Google Shape;173;p19"/>
          <p:cNvSpPr txBox="1"/>
          <p:nvPr/>
        </p:nvSpPr>
        <p:spPr>
          <a:xfrm>
            <a:off x="9965088" y="4756887"/>
            <a:ext cx="159554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The person is a little less awesome ;)</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5066521" y="4756887"/>
            <a:ext cx="3209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The person is Awesome!</a:t>
            </a:r>
            <a:endParaRPr b="0" i="0" sz="1400" u="none" cap="none" strike="noStrike">
              <a:solidFill>
                <a:srgbClr val="000000"/>
              </a:solidFill>
              <a:latin typeface="Arial"/>
              <a:ea typeface="Arial"/>
              <a:cs typeface="Arial"/>
              <a:sym typeface="Arial"/>
            </a:endParaRPr>
          </a:p>
        </p:txBody>
      </p:sp>
      <p:pic>
        <p:nvPicPr>
          <p:cNvPr descr="BTS Bang Bang Con Performances: What Are the Band Members Performing? |  Heavy.com" id="175" name="Google Shape;175;p19"/>
          <p:cNvPicPr preferRelativeResize="0"/>
          <p:nvPr/>
        </p:nvPicPr>
        <p:blipFill rotWithShape="1">
          <a:blip r:embed="rId3">
            <a:alphaModFix/>
          </a:blip>
          <a:srcRect b="0" l="0" r="0" t="0"/>
          <a:stretch/>
        </p:blipFill>
        <p:spPr>
          <a:xfrm>
            <a:off x="262777" y="3119397"/>
            <a:ext cx="4758103" cy="26840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181" name="Google Shape;181;p20"/>
          <p:cNvSpPr txBox="1"/>
          <p:nvPr>
            <p:ph idx="1" type="body"/>
          </p:nvPr>
        </p:nvSpPr>
        <p:spPr>
          <a:xfrm>
            <a:off x="838200" y="1825625"/>
            <a:ext cx="6840894"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So essentially a decision tree asks a question and </a:t>
            </a:r>
            <a:r>
              <a:rPr b="1" lang="en-CA"/>
              <a:t>classifies</a:t>
            </a:r>
            <a:r>
              <a:rPr lang="en-CA"/>
              <a:t> the person.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This decision tree is based on a yes / no question.</a:t>
            </a:r>
            <a:endParaRPr/>
          </a:p>
        </p:txBody>
      </p:sp>
      <p:grpSp>
        <p:nvGrpSpPr>
          <p:cNvPr id="182" name="Google Shape;182;p20"/>
          <p:cNvGrpSpPr/>
          <p:nvPr/>
        </p:nvGrpSpPr>
        <p:grpSpPr>
          <a:xfrm>
            <a:off x="5617027" y="1957825"/>
            <a:ext cx="6494108" cy="4114278"/>
            <a:chOff x="5617027" y="2508331"/>
            <a:chExt cx="6494108" cy="4114278"/>
          </a:xfrm>
        </p:grpSpPr>
        <p:sp>
          <p:nvSpPr>
            <p:cNvPr id="183" name="Google Shape;183;p20"/>
            <p:cNvSpPr txBox="1"/>
            <p:nvPr/>
          </p:nvSpPr>
          <p:spPr>
            <a:xfrm>
              <a:off x="8323716" y="2508331"/>
              <a:ext cx="223312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Does the person like BTS songs?</a:t>
              </a:r>
              <a:endParaRPr b="0" i="0" sz="1400" u="none" cap="none" strike="noStrike">
                <a:solidFill>
                  <a:srgbClr val="000000"/>
                </a:solidFill>
                <a:latin typeface="Arial"/>
                <a:ea typeface="Arial"/>
                <a:cs typeface="Arial"/>
                <a:sym typeface="Arial"/>
              </a:endParaRPr>
            </a:p>
          </p:txBody>
        </p:sp>
        <p:cxnSp>
          <p:nvCxnSpPr>
            <p:cNvPr id="184" name="Google Shape;184;p20"/>
            <p:cNvCxnSpPr/>
            <p:nvPr/>
          </p:nvCxnSpPr>
          <p:spPr>
            <a:xfrm flipH="1">
              <a:off x="7932381" y="3144639"/>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185" name="Google Shape;185;p20"/>
            <p:cNvSpPr txBox="1"/>
            <p:nvPr/>
          </p:nvSpPr>
          <p:spPr>
            <a:xfrm>
              <a:off x="7589280" y="4252006"/>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Yes</a:t>
              </a:r>
              <a:endParaRPr b="0" i="0" sz="1400" u="none" cap="none" strike="noStrike">
                <a:solidFill>
                  <a:srgbClr val="000000"/>
                </a:solidFill>
                <a:latin typeface="Arial"/>
                <a:ea typeface="Arial"/>
                <a:cs typeface="Arial"/>
                <a:sym typeface="Arial"/>
              </a:endParaRPr>
            </a:p>
          </p:txBody>
        </p:sp>
        <p:sp>
          <p:nvSpPr>
            <p:cNvPr id="186" name="Google Shape;186;p20"/>
            <p:cNvSpPr txBox="1"/>
            <p:nvPr/>
          </p:nvSpPr>
          <p:spPr>
            <a:xfrm>
              <a:off x="9831133" y="4252006"/>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a:t>
              </a:r>
              <a:endParaRPr b="0" i="0" sz="1400" u="none" cap="none" strike="noStrike">
                <a:solidFill>
                  <a:srgbClr val="000000"/>
                </a:solidFill>
                <a:latin typeface="Arial"/>
                <a:ea typeface="Arial"/>
                <a:cs typeface="Arial"/>
                <a:sym typeface="Arial"/>
              </a:endParaRPr>
            </a:p>
          </p:txBody>
        </p:sp>
        <p:cxnSp>
          <p:nvCxnSpPr>
            <p:cNvPr id="187" name="Google Shape;187;p20"/>
            <p:cNvCxnSpPr/>
            <p:nvPr/>
          </p:nvCxnSpPr>
          <p:spPr>
            <a:xfrm>
              <a:off x="9237306" y="3144638"/>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188" name="Google Shape;188;p20"/>
            <p:cNvCxnSpPr/>
            <p:nvPr/>
          </p:nvCxnSpPr>
          <p:spPr>
            <a:xfrm flipH="1">
              <a:off x="6488502" y="4621338"/>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189" name="Google Shape;189;p20"/>
            <p:cNvCxnSpPr/>
            <p:nvPr/>
          </p:nvCxnSpPr>
          <p:spPr>
            <a:xfrm>
              <a:off x="10109713" y="4614157"/>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190" name="Google Shape;190;p20"/>
            <p:cNvSpPr txBox="1"/>
            <p:nvPr/>
          </p:nvSpPr>
          <p:spPr>
            <a:xfrm>
              <a:off x="10515594" y="5699279"/>
              <a:ext cx="159554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The person is a little less awesome ;)</a:t>
              </a:r>
              <a:endParaRPr b="0" i="0" sz="1400" u="none" cap="none" strike="noStrike">
                <a:solidFill>
                  <a:srgbClr val="000000"/>
                </a:solidFill>
                <a:latin typeface="Arial"/>
                <a:ea typeface="Arial"/>
                <a:cs typeface="Arial"/>
                <a:sym typeface="Arial"/>
              </a:endParaRPr>
            </a:p>
          </p:txBody>
        </p:sp>
        <p:sp>
          <p:nvSpPr>
            <p:cNvPr id="191" name="Google Shape;191;p20"/>
            <p:cNvSpPr txBox="1"/>
            <p:nvPr/>
          </p:nvSpPr>
          <p:spPr>
            <a:xfrm>
              <a:off x="5617027" y="5699279"/>
              <a:ext cx="3209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The person is Awesome!</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5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5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Effect filter="fade" transition="in">
                                      <p:cBhvr>
                                        <p:cTn dur="500"/>
                                        <p:tgtEl>
                                          <p:spTgt spid="18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97" name="Google Shape;197;p21"/>
          <p:cNvSpPr/>
          <p:nvPr/>
        </p:nvSpPr>
        <p:spPr>
          <a:xfrm>
            <a:off x="6295924" y="1656147"/>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98" name="Google Shape;198;p21"/>
          <p:cNvSpPr/>
          <p:nvPr/>
        </p:nvSpPr>
        <p:spPr>
          <a:xfrm>
            <a:off x="7787212" y="587516"/>
            <a:ext cx="2987899" cy="2987899"/>
          </a:xfrm>
          <a:prstGeom prst="arc">
            <a:avLst>
              <a:gd fmla="val 15817365" name="adj1"/>
              <a:gd fmla="val 178138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99" name="Google Shape;19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200" name="Google Shape;200;p21"/>
          <p:cNvSpPr txBox="1"/>
          <p:nvPr>
            <p:ph idx="1" type="body"/>
          </p:nvPr>
        </p:nvSpPr>
        <p:spPr>
          <a:xfrm>
            <a:off x="838200" y="1825625"/>
            <a:ext cx="539336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CA" sz="2400"/>
              <a:t>It can be a bit longer too ☺</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CA" sz="2400"/>
              <a:t>Remember trees come in all shapes and sizes.</a:t>
            </a:r>
            <a:endParaRPr sz="2400"/>
          </a:p>
        </p:txBody>
      </p:sp>
      <p:sp>
        <p:nvSpPr>
          <p:cNvPr id="201" name="Google Shape;201;p21"/>
          <p:cNvSpPr txBox="1"/>
          <p:nvPr/>
        </p:nvSpPr>
        <p:spPr>
          <a:xfrm>
            <a:off x="7949683" y="1761801"/>
            <a:ext cx="166793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Am I hungry?</a:t>
            </a:r>
            <a:endParaRPr b="0" i="0" sz="1400" u="none" cap="none" strike="noStrike">
              <a:solidFill>
                <a:srgbClr val="000000"/>
              </a:solidFill>
              <a:latin typeface="Arial"/>
              <a:ea typeface="Arial"/>
              <a:cs typeface="Arial"/>
              <a:sym typeface="Arial"/>
            </a:endParaRPr>
          </a:p>
        </p:txBody>
      </p:sp>
      <p:cxnSp>
        <p:nvCxnSpPr>
          <p:cNvPr id="202" name="Google Shape;202;p21"/>
          <p:cNvCxnSpPr/>
          <p:nvPr/>
        </p:nvCxnSpPr>
        <p:spPr>
          <a:xfrm flipH="1">
            <a:off x="7381875" y="2202247"/>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203" name="Google Shape;203;p21"/>
          <p:cNvSpPr txBox="1"/>
          <p:nvPr/>
        </p:nvSpPr>
        <p:spPr>
          <a:xfrm>
            <a:off x="7038774" y="3309614"/>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Yes</a:t>
            </a:r>
            <a:endParaRPr b="0" i="0" sz="1400" u="none" cap="none" strike="noStrike">
              <a:solidFill>
                <a:srgbClr val="000000"/>
              </a:solidFill>
              <a:latin typeface="Arial"/>
              <a:ea typeface="Arial"/>
              <a:cs typeface="Arial"/>
              <a:sym typeface="Arial"/>
            </a:endParaRPr>
          </a:p>
        </p:txBody>
      </p:sp>
      <p:sp>
        <p:nvSpPr>
          <p:cNvPr id="204" name="Google Shape;204;p21"/>
          <p:cNvSpPr txBox="1"/>
          <p:nvPr/>
        </p:nvSpPr>
        <p:spPr>
          <a:xfrm>
            <a:off x="9280627" y="3309614"/>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a:t>
            </a:r>
            <a:endParaRPr b="0" i="0" sz="1400" u="none" cap="none" strike="noStrike">
              <a:solidFill>
                <a:srgbClr val="000000"/>
              </a:solidFill>
              <a:latin typeface="Arial"/>
              <a:ea typeface="Arial"/>
              <a:cs typeface="Arial"/>
              <a:sym typeface="Arial"/>
            </a:endParaRPr>
          </a:p>
        </p:txBody>
      </p:sp>
      <p:cxnSp>
        <p:nvCxnSpPr>
          <p:cNvPr id="205" name="Google Shape;205;p21"/>
          <p:cNvCxnSpPr/>
          <p:nvPr/>
        </p:nvCxnSpPr>
        <p:spPr>
          <a:xfrm>
            <a:off x="8686800" y="2202246"/>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206" name="Google Shape;206;p21"/>
          <p:cNvCxnSpPr/>
          <p:nvPr/>
        </p:nvCxnSpPr>
        <p:spPr>
          <a:xfrm flipH="1">
            <a:off x="5937996" y="3678946"/>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207" name="Google Shape;207;p21"/>
          <p:cNvCxnSpPr/>
          <p:nvPr/>
        </p:nvCxnSpPr>
        <p:spPr>
          <a:xfrm>
            <a:off x="9559207" y="3671765"/>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208" name="Google Shape;208;p21"/>
          <p:cNvSpPr txBox="1"/>
          <p:nvPr/>
        </p:nvSpPr>
        <p:spPr>
          <a:xfrm>
            <a:off x="9965088" y="4756887"/>
            <a:ext cx="15955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Sleep / Work</a:t>
            </a:r>
            <a:endParaRPr b="0" i="0" sz="1400" u="none" cap="none" strike="noStrike">
              <a:solidFill>
                <a:srgbClr val="000000"/>
              </a:solidFill>
              <a:latin typeface="Arial"/>
              <a:ea typeface="Arial"/>
              <a:cs typeface="Arial"/>
              <a:sym typeface="Arial"/>
            </a:endParaRPr>
          </a:p>
        </p:txBody>
      </p:sp>
      <p:sp>
        <p:nvSpPr>
          <p:cNvPr id="209" name="Google Shape;209;p21"/>
          <p:cNvSpPr txBox="1"/>
          <p:nvPr/>
        </p:nvSpPr>
        <p:spPr>
          <a:xfrm>
            <a:off x="5066522" y="4756887"/>
            <a:ext cx="11376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Desert?</a:t>
            </a:r>
            <a:endParaRPr b="0" i="0" sz="1400" u="none" cap="none" strike="noStrike">
              <a:solidFill>
                <a:srgbClr val="000000"/>
              </a:solidFill>
              <a:latin typeface="Arial"/>
              <a:ea typeface="Arial"/>
              <a:cs typeface="Arial"/>
              <a:sym typeface="Arial"/>
            </a:endParaRPr>
          </a:p>
        </p:txBody>
      </p:sp>
      <p:sp>
        <p:nvSpPr>
          <p:cNvPr id="210" name="Google Shape;210;p21"/>
          <p:cNvSpPr txBox="1"/>
          <p:nvPr/>
        </p:nvSpPr>
        <p:spPr>
          <a:xfrm>
            <a:off x="6862165" y="4758502"/>
            <a:ext cx="185009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Main Course?</a:t>
            </a:r>
            <a:endParaRPr b="0" i="0" sz="1400" u="none" cap="none" strike="noStrike">
              <a:solidFill>
                <a:srgbClr val="000000"/>
              </a:solidFill>
              <a:latin typeface="Arial"/>
              <a:ea typeface="Arial"/>
              <a:cs typeface="Arial"/>
              <a:sym typeface="Arial"/>
            </a:endParaRPr>
          </a:p>
        </p:txBody>
      </p:sp>
      <p:cxnSp>
        <p:nvCxnSpPr>
          <p:cNvPr id="211" name="Google Shape;211;p21"/>
          <p:cNvCxnSpPr/>
          <p:nvPr/>
        </p:nvCxnSpPr>
        <p:spPr>
          <a:xfrm>
            <a:off x="7242921" y="3689301"/>
            <a:ext cx="544290" cy="970542"/>
          </a:xfrm>
          <a:prstGeom prst="straightConnector1">
            <a:avLst/>
          </a:prstGeom>
          <a:noFill/>
          <a:ln cap="flat" cmpd="sng" w="9525">
            <a:solidFill>
              <a:schemeClr val="accent1"/>
            </a:solidFill>
            <a:prstDash val="solid"/>
            <a:miter lim="80"/>
            <a:headEnd len="sm" w="sm" type="none"/>
            <a:tailEnd len="med" w="med" type="triangle"/>
          </a:ln>
        </p:spPr>
      </p:cxnSp>
      <p:sp>
        <p:nvSpPr>
          <p:cNvPr id="212" name="Google Shape;212;p21"/>
          <p:cNvSpPr txBox="1"/>
          <p:nvPr/>
        </p:nvSpPr>
        <p:spPr>
          <a:xfrm>
            <a:off x="2492874" y="5662891"/>
            <a:ext cx="227542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Mango Pudding</a:t>
            </a:r>
            <a:endParaRPr b="0" i="0" sz="1400" u="none" cap="none" strike="noStrike">
              <a:solidFill>
                <a:srgbClr val="000000"/>
              </a:solidFill>
              <a:latin typeface="Arial"/>
              <a:ea typeface="Arial"/>
              <a:cs typeface="Arial"/>
              <a:sym typeface="Arial"/>
            </a:endParaRPr>
          </a:p>
        </p:txBody>
      </p:sp>
      <p:sp>
        <p:nvSpPr>
          <p:cNvPr id="213" name="Google Shape;213;p21"/>
          <p:cNvSpPr txBox="1"/>
          <p:nvPr/>
        </p:nvSpPr>
        <p:spPr>
          <a:xfrm>
            <a:off x="4855090" y="5662891"/>
            <a:ext cx="156787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Ice cream</a:t>
            </a:r>
            <a:endParaRPr b="0" i="0" sz="1400" u="none" cap="none" strike="noStrike">
              <a:solidFill>
                <a:srgbClr val="000000"/>
              </a:solidFill>
              <a:latin typeface="Arial"/>
              <a:ea typeface="Arial"/>
              <a:cs typeface="Arial"/>
              <a:sym typeface="Arial"/>
            </a:endParaRPr>
          </a:p>
        </p:txBody>
      </p:sp>
      <p:sp>
        <p:nvSpPr>
          <p:cNvPr id="214" name="Google Shape;214;p21"/>
          <p:cNvSpPr txBox="1"/>
          <p:nvPr/>
        </p:nvSpPr>
        <p:spPr>
          <a:xfrm>
            <a:off x="6657490" y="5662891"/>
            <a:ext cx="15161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Steak</a:t>
            </a:r>
            <a:endParaRPr b="0" i="0" sz="1400" u="none" cap="none" strike="noStrike">
              <a:solidFill>
                <a:srgbClr val="000000"/>
              </a:solidFill>
              <a:latin typeface="Arial"/>
              <a:ea typeface="Arial"/>
              <a:cs typeface="Arial"/>
              <a:sym typeface="Arial"/>
            </a:endParaRPr>
          </a:p>
        </p:txBody>
      </p:sp>
      <p:sp>
        <p:nvSpPr>
          <p:cNvPr id="215" name="Google Shape;215;p21"/>
          <p:cNvSpPr txBox="1"/>
          <p:nvPr/>
        </p:nvSpPr>
        <p:spPr>
          <a:xfrm>
            <a:off x="8666682" y="5662891"/>
            <a:ext cx="15161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Salad</a:t>
            </a:r>
            <a:endParaRPr b="0" i="0" sz="1400" u="none" cap="none" strike="noStrike">
              <a:solidFill>
                <a:srgbClr val="000000"/>
              </a:solidFill>
              <a:latin typeface="Arial"/>
              <a:ea typeface="Arial"/>
              <a:cs typeface="Arial"/>
              <a:sym typeface="Arial"/>
            </a:endParaRPr>
          </a:p>
        </p:txBody>
      </p:sp>
      <p:cxnSp>
        <p:nvCxnSpPr>
          <p:cNvPr id="216" name="Google Shape;216;p21"/>
          <p:cNvCxnSpPr>
            <a:stCxn id="209" idx="2"/>
          </p:cNvCxnSpPr>
          <p:nvPr/>
        </p:nvCxnSpPr>
        <p:spPr>
          <a:xfrm flipH="1">
            <a:off x="3850934" y="5126219"/>
            <a:ext cx="1784400" cy="530100"/>
          </a:xfrm>
          <a:prstGeom prst="straightConnector1">
            <a:avLst/>
          </a:prstGeom>
          <a:noFill/>
          <a:ln cap="flat" cmpd="sng" w="9525">
            <a:solidFill>
              <a:schemeClr val="accent1"/>
            </a:solidFill>
            <a:prstDash val="solid"/>
            <a:miter lim="80"/>
            <a:headEnd len="sm" w="sm" type="none"/>
            <a:tailEnd len="med" w="med" type="triangle"/>
          </a:ln>
        </p:spPr>
      </p:cxnSp>
      <p:cxnSp>
        <p:nvCxnSpPr>
          <p:cNvPr id="217" name="Google Shape;217;p21"/>
          <p:cNvCxnSpPr>
            <a:stCxn id="209" idx="2"/>
            <a:endCxn id="213" idx="0"/>
          </p:cNvCxnSpPr>
          <p:nvPr/>
        </p:nvCxnSpPr>
        <p:spPr>
          <a:xfrm>
            <a:off x="5635334" y="5126219"/>
            <a:ext cx="3600" cy="536700"/>
          </a:xfrm>
          <a:prstGeom prst="straightConnector1">
            <a:avLst/>
          </a:prstGeom>
          <a:noFill/>
          <a:ln cap="flat" cmpd="sng" w="9525">
            <a:solidFill>
              <a:schemeClr val="accent1"/>
            </a:solidFill>
            <a:prstDash val="solid"/>
            <a:miter lim="80"/>
            <a:headEnd len="sm" w="sm" type="none"/>
            <a:tailEnd len="med" w="med" type="triangle"/>
          </a:ln>
        </p:spPr>
      </p:cxnSp>
      <p:cxnSp>
        <p:nvCxnSpPr>
          <p:cNvPr id="218" name="Google Shape;218;p21"/>
          <p:cNvCxnSpPr>
            <a:stCxn id="210" idx="2"/>
            <a:endCxn id="214" idx="0"/>
          </p:cNvCxnSpPr>
          <p:nvPr/>
        </p:nvCxnSpPr>
        <p:spPr>
          <a:xfrm flipH="1">
            <a:off x="7415512" y="5127834"/>
            <a:ext cx="371700" cy="535200"/>
          </a:xfrm>
          <a:prstGeom prst="straightConnector1">
            <a:avLst/>
          </a:prstGeom>
          <a:noFill/>
          <a:ln cap="flat" cmpd="sng" w="9525">
            <a:solidFill>
              <a:schemeClr val="accent1"/>
            </a:solidFill>
            <a:prstDash val="solid"/>
            <a:miter lim="80"/>
            <a:headEnd len="sm" w="sm" type="none"/>
            <a:tailEnd len="med" w="med" type="triangle"/>
          </a:ln>
        </p:spPr>
      </p:cxnSp>
      <p:cxnSp>
        <p:nvCxnSpPr>
          <p:cNvPr id="219" name="Google Shape;219;p21"/>
          <p:cNvCxnSpPr>
            <a:stCxn id="210" idx="2"/>
          </p:cNvCxnSpPr>
          <p:nvPr/>
        </p:nvCxnSpPr>
        <p:spPr>
          <a:xfrm>
            <a:off x="7787212" y="5127834"/>
            <a:ext cx="1144500" cy="535200"/>
          </a:xfrm>
          <a:prstGeom prst="straightConnector1">
            <a:avLst/>
          </a:prstGeom>
          <a:noFill/>
          <a:ln cap="flat" cmpd="sng" w="9525">
            <a:solidFill>
              <a:schemeClr val="accent1"/>
            </a:solidFill>
            <a:prstDash val="solid"/>
            <a:miter lim="8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225" name="Google Shape;225;p2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But wait, you can do this for numeric data too?</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26" name="Google Shape;226;p22"/>
          <p:cNvSpPr txBox="1"/>
          <p:nvPr/>
        </p:nvSpPr>
        <p:spPr>
          <a:xfrm>
            <a:off x="5878690" y="2719322"/>
            <a:ext cx="50190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Is the resting heart rate more than 100 bpm?</a:t>
            </a:r>
            <a:endParaRPr b="0" i="0" sz="1400" u="none" cap="none" strike="noStrike">
              <a:solidFill>
                <a:srgbClr val="000000"/>
              </a:solidFill>
              <a:latin typeface="Arial"/>
              <a:ea typeface="Arial"/>
              <a:cs typeface="Arial"/>
              <a:sym typeface="Arial"/>
            </a:endParaRPr>
          </a:p>
        </p:txBody>
      </p:sp>
      <p:cxnSp>
        <p:nvCxnSpPr>
          <p:cNvPr id="227" name="Google Shape;227;p22"/>
          <p:cNvCxnSpPr/>
          <p:nvPr/>
        </p:nvCxnSpPr>
        <p:spPr>
          <a:xfrm flipH="1">
            <a:off x="7083295" y="3088655"/>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228" name="Google Shape;228;p22"/>
          <p:cNvSpPr txBox="1"/>
          <p:nvPr/>
        </p:nvSpPr>
        <p:spPr>
          <a:xfrm>
            <a:off x="6740194" y="4196022"/>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Yes</a:t>
            </a:r>
            <a:endParaRPr b="0" i="0" sz="1400" u="none" cap="none" strike="noStrike">
              <a:solidFill>
                <a:srgbClr val="000000"/>
              </a:solidFill>
              <a:latin typeface="Arial"/>
              <a:ea typeface="Arial"/>
              <a:cs typeface="Arial"/>
              <a:sym typeface="Arial"/>
            </a:endParaRPr>
          </a:p>
        </p:txBody>
      </p:sp>
      <p:sp>
        <p:nvSpPr>
          <p:cNvPr id="229" name="Google Shape;229;p22"/>
          <p:cNvSpPr txBox="1"/>
          <p:nvPr/>
        </p:nvSpPr>
        <p:spPr>
          <a:xfrm>
            <a:off x="8982047" y="4196022"/>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a:t>
            </a:r>
            <a:endParaRPr b="0" i="0" sz="1400" u="none" cap="none" strike="noStrike">
              <a:solidFill>
                <a:srgbClr val="000000"/>
              </a:solidFill>
              <a:latin typeface="Arial"/>
              <a:ea typeface="Arial"/>
              <a:cs typeface="Arial"/>
              <a:sym typeface="Arial"/>
            </a:endParaRPr>
          </a:p>
        </p:txBody>
      </p:sp>
      <p:cxnSp>
        <p:nvCxnSpPr>
          <p:cNvPr id="230" name="Google Shape;230;p22"/>
          <p:cNvCxnSpPr/>
          <p:nvPr/>
        </p:nvCxnSpPr>
        <p:spPr>
          <a:xfrm>
            <a:off x="8388220" y="3088654"/>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231" name="Google Shape;231;p22"/>
          <p:cNvCxnSpPr/>
          <p:nvPr/>
        </p:nvCxnSpPr>
        <p:spPr>
          <a:xfrm flipH="1">
            <a:off x="5639416" y="4565354"/>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232" name="Google Shape;232;p22"/>
          <p:cNvCxnSpPr/>
          <p:nvPr/>
        </p:nvCxnSpPr>
        <p:spPr>
          <a:xfrm>
            <a:off x="9260627" y="4558173"/>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233" name="Google Shape;233;p22"/>
          <p:cNvSpPr txBox="1"/>
          <p:nvPr/>
        </p:nvSpPr>
        <p:spPr>
          <a:xfrm>
            <a:off x="9666508" y="5643295"/>
            <a:ext cx="15955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 worries ☺</a:t>
            </a:r>
            <a:endParaRPr b="0" i="0" sz="1800" u="none" cap="none" strike="noStrike">
              <a:solidFill>
                <a:schemeClr val="dk1"/>
              </a:solidFill>
              <a:latin typeface="Avenir"/>
              <a:ea typeface="Avenir"/>
              <a:cs typeface="Avenir"/>
              <a:sym typeface="Avenir"/>
            </a:endParaRPr>
          </a:p>
        </p:txBody>
      </p:sp>
      <p:sp>
        <p:nvSpPr>
          <p:cNvPr id="234" name="Google Shape;234;p22"/>
          <p:cNvSpPr txBox="1"/>
          <p:nvPr/>
        </p:nvSpPr>
        <p:spPr>
          <a:xfrm>
            <a:off x="4767941" y="5643295"/>
            <a:ext cx="3209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Go see a doctor, 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240" name="Google Shape;240;p23"/>
          <p:cNvSpPr txBox="1"/>
          <p:nvPr>
            <p:ph idx="1" type="body"/>
          </p:nvPr>
        </p:nvSpPr>
        <p:spPr>
          <a:xfrm>
            <a:off x="838200" y="1820124"/>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How about ranked data?</a:t>
            </a:r>
            <a:endParaRPr/>
          </a:p>
          <a:p>
            <a:pPr indent="-228600" lvl="0" marL="228600" rtl="0" algn="l">
              <a:lnSpc>
                <a:spcPct val="90000"/>
              </a:lnSpc>
              <a:spcBef>
                <a:spcPts val="1000"/>
              </a:spcBef>
              <a:spcAft>
                <a:spcPts val="0"/>
              </a:spcAft>
              <a:buClr>
                <a:schemeClr val="dk1"/>
              </a:buClr>
              <a:buSzPts val="2800"/>
              <a:buChar char="•"/>
            </a:pPr>
            <a:r>
              <a:rPr lang="en-CA"/>
              <a:t>How hungry are you?</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1 – Super Hungry</a:t>
            </a:r>
            <a:endParaRPr/>
          </a:p>
          <a:p>
            <a:pPr indent="-228600" lvl="0" marL="228600" rtl="0" algn="l">
              <a:lnSpc>
                <a:spcPct val="90000"/>
              </a:lnSpc>
              <a:spcBef>
                <a:spcPts val="1000"/>
              </a:spcBef>
              <a:spcAft>
                <a:spcPts val="0"/>
              </a:spcAft>
              <a:buClr>
                <a:schemeClr val="dk1"/>
              </a:buClr>
              <a:buSzPts val="2800"/>
              <a:buChar char="•"/>
            </a:pPr>
            <a:r>
              <a:rPr lang="en-CA"/>
              <a:t>2 – Moderate</a:t>
            </a:r>
            <a:endParaRPr/>
          </a:p>
          <a:p>
            <a:pPr indent="-228600" lvl="0" marL="228600" rtl="0" algn="l">
              <a:lnSpc>
                <a:spcPct val="90000"/>
              </a:lnSpc>
              <a:spcBef>
                <a:spcPts val="1000"/>
              </a:spcBef>
              <a:spcAft>
                <a:spcPts val="0"/>
              </a:spcAft>
              <a:buClr>
                <a:schemeClr val="dk1"/>
              </a:buClr>
              <a:buSzPts val="2800"/>
              <a:buChar char="•"/>
            </a:pPr>
            <a:r>
              <a:rPr lang="en-CA"/>
              <a:t>3 – Not hungry</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41" name="Google Shape;241;p23"/>
          <p:cNvSpPr txBox="1"/>
          <p:nvPr/>
        </p:nvSpPr>
        <p:spPr>
          <a:xfrm>
            <a:off x="7700866" y="1690688"/>
            <a:ext cx="22109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Appetite Rank = 1</a:t>
            </a:r>
            <a:endParaRPr b="0" i="0" sz="1400" u="none" cap="none" strike="noStrike">
              <a:solidFill>
                <a:srgbClr val="000000"/>
              </a:solidFill>
              <a:latin typeface="Arial"/>
              <a:ea typeface="Arial"/>
              <a:cs typeface="Arial"/>
              <a:sym typeface="Arial"/>
            </a:endParaRPr>
          </a:p>
        </p:txBody>
      </p:sp>
      <p:cxnSp>
        <p:nvCxnSpPr>
          <p:cNvPr id="242" name="Google Shape;242;p23"/>
          <p:cNvCxnSpPr/>
          <p:nvPr/>
        </p:nvCxnSpPr>
        <p:spPr>
          <a:xfrm flipH="1">
            <a:off x="7501416" y="2108889"/>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243" name="Google Shape;243;p23"/>
          <p:cNvSpPr txBox="1"/>
          <p:nvPr/>
        </p:nvSpPr>
        <p:spPr>
          <a:xfrm>
            <a:off x="7501416" y="2377916"/>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True</a:t>
            </a:r>
            <a:endParaRPr b="0" i="0" sz="1400" u="none" cap="none" strike="noStrike">
              <a:solidFill>
                <a:srgbClr val="000000"/>
              </a:solidFill>
              <a:latin typeface="Arial"/>
              <a:ea typeface="Arial"/>
              <a:cs typeface="Arial"/>
              <a:sym typeface="Arial"/>
            </a:endParaRPr>
          </a:p>
        </p:txBody>
      </p:sp>
      <p:sp>
        <p:nvSpPr>
          <p:cNvPr id="244" name="Google Shape;244;p23"/>
          <p:cNvSpPr txBox="1"/>
          <p:nvPr/>
        </p:nvSpPr>
        <p:spPr>
          <a:xfrm>
            <a:off x="9335646" y="2423851"/>
            <a:ext cx="77561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False</a:t>
            </a:r>
            <a:endParaRPr b="0" i="0" sz="1400" u="none" cap="none" strike="noStrike">
              <a:solidFill>
                <a:srgbClr val="000000"/>
              </a:solidFill>
              <a:latin typeface="Arial"/>
              <a:ea typeface="Arial"/>
              <a:cs typeface="Arial"/>
              <a:sym typeface="Arial"/>
            </a:endParaRPr>
          </a:p>
        </p:txBody>
      </p:sp>
      <p:cxnSp>
        <p:nvCxnSpPr>
          <p:cNvPr id="245" name="Google Shape;245;p23"/>
          <p:cNvCxnSpPr/>
          <p:nvPr/>
        </p:nvCxnSpPr>
        <p:spPr>
          <a:xfrm>
            <a:off x="8806341" y="2108888"/>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246" name="Google Shape;246;p23"/>
          <p:cNvCxnSpPr/>
          <p:nvPr/>
        </p:nvCxnSpPr>
        <p:spPr>
          <a:xfrm>
            <a:off x="9680680" y="3555007"/>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247" name="Google Shape;247;p23"/>
          <p:cNvSpPr txBox="1"/>
          <p:nvPr/>
        </p:nvSpPr>
        <p:spPr>
          <a:xfrm>
            <a:off x="8880977" y="3245195"/>
            <a:ext cx="22300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Appetite Rank = 2</a:t>
            </a:r>
            <a:endParaRPr b="0" i="0" sz="1400" u="none" cap="none" strike="noStrike">
              <a:solidFill>
                <a:srgbClr val="000000"/>
              </a:solidFill>
              <a:latin typeface="Arial"/>
              <a:ea typeface="Arial"/>
              <a:cs typeface="Arial"/>
              <a:sym typeface="Arial"/>
            </a:endParaRPr>
          </a:p>
        </p:txBody>
      </p:sp>
      <p:sp>
        <p:nvSpPr>
          <p:cNvPr id="248" name="Google Shape;248;p23"/>
          <p:cNvSpPr txBox="1"/>
          <p:nvPr/>
        </p:nvSpPr>
        <p:spPr>
          <a:xfrm>
            <a:off x="6096000" y="3257244"/>
            <a:ext cx="3209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You need to eat, now!</a:t>
            </a:r>
            <a:endParaRPr b="0" i="0" sz="1400" u="none" cap="none" strike="noStrike">
              <a:solidFill>
                <a:srgbClr val="000000"/>
              </a:solidFill>
              <a:latin typeface="Arial"/>
              <a:ea typeface="Arial"/>
              <a:cs typeface="Arial"/>
              <a:sym typeface="Arial"/>
            </a:endParaRPr>
          </a:p>
        </p:txBody>
      </p:sp>
      <p:sp>
        <p:nvSpPr>
          <p:cNvPr id="249" name="Google Shape;249;p23"/>
          <p:cNvSpPr txBox="1"/>
          <p:nvPr/>
        </p:nvSpPr>
        <p:spPr>
          <a:xfrm>
            <a:off x="9335646" y="4694148"/>
            <a:ext cx="22300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Appetite Rank = 3</a:t>
            </a:r>
            <a:endParaRPr b="0" i="0" sz="1400" u="none" cap="none" strike="noStrike">
              <a:solidFill>
                <a:srgbClr val="000000"/>
              </a:solidFill>
              <a:latin typeface="Arial"/>
              <a:ea typeface="Arial"/>
              <a:cs typeface="Arial"/>
              <a:sym typeface="Arial"/>
            </a:endParaRPr>
          </a:p>
        </p:txBody>
      </p:sp>
      <p:cxnSp>
        <p:nvCxnSpPr>
          <p:cNvPr id="250" name="Google Shape;250;p23"/>
          <p:cNvCxnSpPr>
            <a:endCxn id="251" idx="0"/>
          </p:cNvCxnSpPr>
          <p:nvPr/>
        </p:nvCxnSpPr>
        <p:spPr>
          <a:xfrm flipH="1">
            <a:off x="7955882" y="3564648"/>
            <a:ext cx="1724700" cy="1129500"/>
          </a:xfrm>
          <a:prstGeom prst="straightConnector1">
            <a:avLst/>
          </a:prstGeom>
          <a:noFill/>
          <a:ln cap="flat" cmpd="sng" w="9525">
            <a:solidFill>
              <a:schemeClr val="accent1"/>
            </a:solidFill>
            <a:prstDash val="solid"/>
            <a:miter lim="80"/>
            <a:headEnd len="sm" w="sm" type="none"/>
            <a:tailEnd len="med" w="med" type="triangle"/>
          </a:ln>
        </p:spPr>
      </p:cxnSp>
      <p:sp>
        <p:nvSpPr>
          <p:cNvPr id="251" name="Google Shape;251;p23"/>
          <p:cNvSpPr txBox="1"/>
          <p:nvPr/>
        </p:nvSpPr>
        <p:spPr>
          <a:xfrm>
            <a:off x="6840869" y="4694148"/>
            <a:ext cx="22300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Light snacks</a:t>
            </a:r>
            <a:endParaRPr b="0" i="0" sz="1400" u="none" cap="none" strike="noStrike">
              <a:solidFill>
                <a:srgbClr val="000000"/>
              </a:solidFill>
              <a:latin typeface="Arial"/>
              <a:ea typeface="Arial"/>
              <a:cs typeface="Arial"/>
              <a:sym typeface="Arial"/>
            </a:endParaRPr>
          </a:p>
        </p:txBody>
      </p:sp>
      <p:sp>
        <p:nvSpPr>
          <p:cNvPr id="252" name="Google Shape;252;p23"/>
          <p:cNvSpPr txBox="1"/>
          <p:nvPr/>
        </p:nvSpPr>
        <p:spPr>
          <a:xfrm>
            <a:off x="8153878" y="3845156"/>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True</a:t>
            </a:r>
            <a:endParaRPr b="0" i="0" sz="1400" u="none" cap="none" strike="noStrike">
              <a:solidFill>
                <a:srgbClr val="000000"/>
              </a:solidFill>
              <a:latin typeface="Arial"/>
              <a:ea typeface="Arial"/>
              <a:cs typeface="Arial"/>
              <a:sym typeface="Arial"/>
            </a:endParaRPr>
          </a:p>
        </p:txBody>
      </p:sp>
      <p:sp>
        <p:nvSpPr>
          <p:cNvPr id="253" name="Google Shape;253;p23"/>
          <p:cNvSpPr txBox="1"/>
          <p:nvPr/>
        </p:nvSpPr>
        <p:spPr>
          <a:xfrm>
            <a:off x="10149342" y="3845156"/>
            <a:ext cx="8117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False</a:t>
            </a:r>
            <a:endParaRPr b="0" i="0" sz="1400" u="none" cap="none" strike="noStrike">
              <a:solidFill>
                <a:srgbClr val="000000"/>
              </a:solidFill>
              <a:latin typeface="Arial"/>
              <a:ea typeface="Arial"/>
              <a:cs typeface="Arial"/>
              <a:sym typeface="Arial"/>
            </a:endParaRPr>
          </a:p>
        </p:txBody>
      </p:sp>
      <p:sp>
        <p:nvSpPr>
          <p:cNvPr id="254" name="Google Shape;254;p23"/>
          <p:cNvSpPr txBox="1"/>
          <p:nvPr/>
        </p:nvSpPr>
        <p:spPr>
          <a:xfrm>
            <a:off x="9723455" y="5679866"/>
            <a:ext cx="201815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 need to eat</a:t>
            </a:r>
            <a:endParaRPr b="0" i="0" sz="1400" u="none" cap="none" strike="noStrike">
              <a:solidFill>
                <a:srgbClr val="000000"/>
              </a:solidFill>
              <a:latin typeface="Arial"/>
              <a:ea typeface="Arial"/>
              <a:cs typeface="Arial"/>
              <a:sym typeface="Arial"/>
            </a:endParaRPr>
          </a:p>
        </p:txBody>
      </p:sp>
      <p:cxnSp>
        <p:nvCxnSpPr>
          <p:cNvPr id="255" name="Google Shape;255;p23"/>
          <p:cNvCxnSpPr/>
          <p:nvPr/>
        </p:nvCxnSpPr>
        <p:spPr>
          <a:xfrm>
            <a:off x="10234400" y="5052860"/>
            <a:ext cx="327853" cy="570964"/>
          </a:xfrm>
          <a:prstGeom prst="straightConnector1">
            <a:avLst/>
          </a:prstGeom>
          <a:noFill/>
          <a:ln cap="flat" cmpd="sng" w="9525">
            <a:solidFill>
              <a:schemeClr val="accent1"/>
            </a:solidFill>
            <a:prstDash val="solid"/>
            <a:miter lim="8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261" name="Google Shape;261;p2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The classification can be categories or numeric – both.</a:t>
            </a:r>
            <a:endParaRPr/>
          </a:p>
        </p:txBody>
      </p:sp>
      <p:grpSp>
        <p:nvGrpSpPr>
          <p:cNvPr id="262" name="Google Shape;262;p24"/>
          <p:cNvGrpSpPr/>
          <p:nvPr/>
        </p:nvGrpSpPr>
        <p:grpSpPr>
          <a:xfrm>
            <a:off x="119265" y="2611149"/>
            <a:ext cx="6494108" cy="3293305"/>
            <a:chOff x="4767941" y="2719322"/>
            <a:chExt cx="6494108" cy="3293305"/>
          </a:xfrm>
        </p:grpSpPr>
        <p:sp>
          <p:nvSpPr>
            <p:cNvPr id="263" name="Google Shape;263;p24"/>
            <p:cNvSpPr txBox="1"/>
            <p:nvPr/>
          </p:nvSpPr>
          <p:spPr>
            <a:xfrm>
              <a:off x="5878690" y="2719322"/>
              <a:ext cx="50190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Is the resting heart rate more than 100 bpm?</a:t>
              </a:r>
              <a:endParaRPr b="0" i="0" sz="1400" u="none" cap="none" strike="noStrike">
                <a:solidFill>
                  <a:srgbClr val="000000"/>
                </a:solidFill>
                <a:latin typeface="Arial"/>
                <a:ea typeface="Arial"/>
                <a:cs typeface="Arial"/>
                <a:sym typeface="Arial"/>
              </a:endParaRPr>
            </a:p>
          </p:txBody>
        </p:sp>
        <p:cxnSp>
          <p:nvCxnSpPr>
            <p:cNvPr id="264" name="Google Shape;264;p24"/>
            <p:cNvCxnSpPr/>
            <p:nvPr/>
          </p:nvCxnSpPr>
          <p:spPr>
            <a:xfrm flipH="1">
              <a:off x="7083295" y="3088655"/>
              <a:ext cx="1304925" cy="1036253"/>
            </a:xfrm>
            <a:prstGeom prst="straightConnector1">
              <a:avLst/>
            </a:prstGeom>
            <a:noFill/>
            <a:ln cap="flat" cmpd="sng" w="9525">
              <a:solidFill>
                <a:schemeClr val="accent1"/>
              </a:solidFill>
              <a:prstDash val="solid"/>
              <a:miter lim="80"/>
              <a:headEnd len="sm" w="sm" type="none"/>
              <a:tailEnd len="med" w="med" type="triangle"/>
            </a:ln>
          </p:spPr>
        </p:cxnSp>
        <p:sp>
          <p:nvSpPr>
            <p:cNvPr id="265" name="Google Shape;265;p24"/>
            <p:cNvSpPr txBox="1"/>
            <p:nvPr/>
          </p:nvSpPr>
          <p:spPr>
            <a:xfrm>
              <a:off x="6740194" y="4196022"/>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Yes</a:t>
              </a:r>
              <a:endParaRPr b="0" i="0" sz="1400" u="none" cap="none" strike="noStrike">
                <a:solidFill>
                  <a:srgbClr val="000000"/>
                </a:solidFill>
                <a:latin typeface="Arial"/>
                <a:ea typeface="Arial"/>
                <a:cs typeface="Arial"/>
                <a:sym typeface="Arial"/>
              </a:endParaRPr>
            </a:p>
          </p:txBody>
        </p:sp>
        <p:sp>
          <p:nvSpPr>
            <p:cNvPr id="266" name="Google Shape;266;p24"/>
            <p:cNvSpPr txBox="1"/>
            <p:nvPr/>
          </p:nvSpPr>
          <p:spPr>
            <a:xfrm>
              <a:off x="8982047" y="4196022"/>
              <a:ext cx="686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a:t>
              </a:r>
              <a:endParaRPr b="0" i="0" sz="1400" u="none" cap="none" strike="noStrike">
                <a:solidFill>
                  <a:srgbClr val="000000"/>
                </a:solidFill>
                <a:latin typeface="Arial"/>
                <a:ea typeface="Arial"/>
                <a:cs typeface="Arial"/>
                <a:sym typeface="Arial"/>
              </a:endParaRPr>
            </a:p>
          </p:txBody>
        </p:sp>
        <p:cxnSp>
          <p:nvCxnSpPr>
            <p:cNvPr id="267" name="Google Shape;267;p24"/>
            <p:cNvCxnSpPr/>
            <p:nvPr/>
          </p:nvCxnSpPr>
          <p:spPr>
            <a:xfrm>
              <a:off x="8388220" y="3088654"/>
              <a:ext cx="811763" cy="1036254"/>
            </a:xfrm>
            <a:prstGeom prst="straightConnector1">
              <a:avLst/>
            </a:prstGeom>
            <a:noFill/>
            <a:ln cap="flat" cmpd="sng" w="9525">
              <a:solidFill>
                <a:schemeClr val="accent1"/>
              </a:solidFill>
              <a:prstDash val="solid"/>
              <a:miter lim="80"/>
              <a:headEnd len="sm" w="sm" type="none"/>
              <a:tailEnd len="med" w="med" type="triangle"/>
            </a:ln>
          </p:spPr>
        </p:cxnSp>
        <p:cxnSp>
          <p:nvCxnSpPr>
            <p:cNvPr id="268" name="Google Shape;268;p24"/>
            <p:cNvCxnSpPr/>
            <p:nvPr/>
          </p:nvCxnSpPr>
          <p:spPr>
            <a:xfrm flipH="1">
              <a:off x="5639416" y="4565354"/>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269" name="Google Shape;269;p24"/>
            <p:cNvCxnSpPr/>
            <p:nvPr/>
          </p:nvCxnSpPr>
          <p:spPr>
            <a:xfrm>
              <a:off x="9260627" y="4558173"/>
              <a:ext cx="811763" cy="1036254"/>
            </a:xfrm>
            <a:prstGeom prst="straightConnector1">
              <a:avLst/>
            </a:prstGeom>
            <a:noFill/>
            <a:ln cap="flat" cmpd="sng" w="9525">
              <a:solidFill>
                <a:schemeClr val="accent1"/>
              </a:solidFill>
              <a:prstDash val="solid"/>
              <a:miter lim="80"/>
              <a:headEnd len="sm" w="sm" type="none"/>
              <a:tailEnd len="med" w="med" type="triangle"/>
            </a:ln>
          </p:spPr>
        </p:cxnSp>
        <p:sp>
          <p:nvSpPr>
            <p:cNvPr id="270" name="Google Shape;270;p24"/>
            <p:cNvSpPr txBox="1"/>
            <p:nvPr/>
          </p:nvSpPr>
          <p:spPr>
            <a:xfrm>
              <a:off x="9666508" y="5643295"/>
              <a:ext cx="15955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 worries ☺</a:t>
              </a:r>
              <a:endParaRPr b="0" i="0" sz="1800" u="none" cap="none" strike="noStrike">
                <a:solidFill>
                  <a:schemeClr val="dk1"/>
                </a:solidFill>
                <a:latin typeface="Avenir"/>
                <a:ea typeface="Avenir"/>
                <a:cs typeface="Avenir"/>
                <a:sym typeface="Avenir"/>
              </a:endParaRPr>
            </a:p>
          </p:txBody>
        </p:sp>
        <p:sp>
          <p:nvSpPr>
            <p:cNvPr id="271" name="Google Shape;271;p24"/>
            <p:cNvSpPr txBox="1"/>
            <p:nvPr/>
          </p:nvSpPr>
          <p:spPr>
            <a:xfrm>
              <a:off x="4767941" y="5643295"/>
              <a:ext cx="3209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Go see a doctor, now!</a:t>
              </a:r>
              <a:endParaRPr b="0" i="0" sz="1400" u="none" cap="none" strike="noStrike">
                <a:solidFill>
                  <a:srgbClr val="000000"/>
                </a:solidFill>
                <a:latin typeface="Arial"/>
                <a:ea typeface="Arial"/>
                <a:cs typeface="Arial"/>
                <a:sym typeface="Arial"/>
              </a:endParaRPr>
            </a:p>
          </p:txBody>
        </p:sp>
      </p:grpSp>
      <p:sp>
        <p:nvSpPr>
          <p:cNvPr id="272" name="Google Shape;272;p24"/>
          <p:cNvSpPr/>
          <p:nvPr/>
        </p:nvSpPr>
        <p:spPr>
          <a:xfrm>
            <a:off x="47234" y="5130257"/>
            <a:ext cx="6885991" cy="1225151"/>
          </a:xfrm>
          <a:prstGeom prst="roundRect">
            <a:avLst>
              <a:gd fmla="val 16667" name="adj"/>
            </a:avLst>
          </a:prstGeom>
          <a:noFill/>
          <a:ln cap="flat" cmpd="sng" w="38100">
            <a:solidFill>
              <a:srgbClr val="00B0F0"/>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grpSp>
        <p:nvGrpSpPr>
          <p:cNvPr id="273" name="Google Shape;273;p24"/>
          <p:cNvGrpSpPr/>
          <p:nvPr/>
        </p:nvGrpSpPr>
        <p:grpSpPr>
          <a:xfrm>
            <a:off x="7502392" y="2611149"/>
            <a:ext cx="4226075" cy="2776285"/>
            <a:chOff x="7464490" y="3194905"/>
            <a:chExt cx="4226075" cy="2776285"/>
          </a:xfrm>
        </p:grpSpPr>
        <p:sp>
          <p:nvSpPr>
            <p:cNvPr id="274" name="Google Shape;274;p24"/>
            <p:cNvSpPr txBox="1"/>
            <p:nvPr/>
          </p:nvSpPr>
          <p:spPr>
            <a:xfrm>
              <a:off x="7464490" y="3194905"/>
              <a:ext cx="42254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Mouse weighs between 15 – 20 grams</a:t>
              </a:r>
              <a:endParaRPr b="0" i="0" sz="1400" u="none" cap="none" strike="noStrike">
                <a:solidFill>
                  <a:srgbClr val="000000"/>
                </a:solidFill>
                <a:latin typeface="Arial"/>
                <a:ea typeface="Arial"/>
                <a:cs typeface="Arial"/>
                <a:sym typeface="Arial"/>
              </a:endParaRPr>
            </a:p>
          </p:txBody>
        </p:sp>
        <p:cxnSp>
          <p:nvCxnSpPr>
            <p:cNvPr id="275" name="Google Shape;275;p24"/>
            <p:cNvCxnSpPr/>
            <p:nvPr/>
          </p:nvCxnSpPr>
          <p:spPr>
            <a:xfrm flipH="1">
              <a:off x="8272934" y="3564237"/>
              <a:ext cx="1304925" cy="1036253"/>
            </a:xfrm>
            <a:prstGeom prst="straightConnector1">
              <a:avLst/>
            </a:prstGeom>
            <a:noFill/>
            <a:ln cap="flat" cmpd="sng" w="9525">
              <a:solidFill>
                <a:schemeClr val="accent1"/>
              </a:solidFill>
              <a:prstDash val="solid"/>
              <a:miter lim="80"/>
              <a:headEnd len="sm" w="sm" type="none"/>
              <a:tailEnd len="med" w="med" type="triangle"/>
            </a:ln>
          </p:spPr>
        </p:cxnSp>
        <p:cxnSp>
          <p:nvCxnSpPr>
            <p:cNvPr id="276" name="Google Shape;276;p24"/>
            <p:cNvCxnSpPr>
              <a:stCxn id="274" idx="2"/>
            </p:cNvCxnSpPr>
            <p:nvPr/>
          </p:nvCxnSpPr>
          <p:spPr>
            <a:xfrm>
              <a:off x="9577197" y="3564237"/>
              <a:ext cx="1305600" cy="1036200"/>
            </a:xfrm>
            <a:prstGeom prst="straightConnector1">
              <a:avLst/>
            </a:prstGeom>
            <a:noFill/>
            <a:ln cap="flat" cmpd="sng" w="9525">
              <a:solidFill>
                <a:schemeClr val="accent1"/>
              </a:solidFill>
              <a:prstDash val="solid"/>
              <a:miter lim="80"/>
              <a:headEnd len="sm" w="sm" type="none"/>
              <a:tailEnd len="med" w="med" type="triangle"/>
            </a:ln>
          </p:spPr>
        </p:cxnSp>
        <p:sp>
          <p:nvSpPr>
            <p:cNvPr id="277" name="Google Shape;277;p24"/>
            <p:cNvSpPr txBox="1"/>
            <p:nvPr/>
          </p:nvSpPr>
          <p:spPr>
            <a:xfrm>
              <a:off x="7465152" y="3194905"/>
              <a:ext cx="42254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Mouse weighs between 15 – 20 grams</a:t>
              </a:r>
              <a:endParaRPr b="0" i="0" sz="1400" u="none" cap="none" strike="noStrike">
                <a:solidFill>
                  <a:srgbClr val="000000"/>
                </a:solidFill>
                <a:latin typeface="Arial"/>
                <a:ea typeface="Arial"/>
                <a:cs typeface="Arial"/>
                <a:sym typeface="Arial"/>
              </a:endParaRPr>
            </a:p>
          </p:txBody>
        </p:sp>
        <p:sp>
          <p:nvSpPr>
            <p:cNvPr id="278" name="Google Shape;278;p24"/>
            <p:cNvSpPr txBox="1"/>
            <p:nvPr/>
          </p:nvSpPr>
          <p:spPr>
            <a:xfrm>
              <a:off x="7585789" y="4770861"/>
              <a:ext cx="139959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It is less than 180mm long</a:t>
              </a:r>
              <a:endParaRPr b="0" i="0" sz="1400" u="none" cap="none" strike="noStrike">
                <a:solidFill>
                  <a:srgbClr val="000000"/>
                </a:solidFill>
                <a:latin typeface="Arial"/>
                <a:ea typeface="Arial"/>
                <a:cs typeface="Arial"/>
                <a:sym typeface="Arial"/>
              </a:endParaRPr>
            </a:p>
          </p:txBody>
        </p:sp>
        <p:sp>
          <p:nvSpPr>
            <p:cNvPr id="279" name="Google Shape;279;p24"/>
            <p:cNvSpPr txBox="1"/>
            <p:nvPr/>
          </p:nvSpPr>
          <p:spPr>
            <a:xfrm>
              <a:off x="10273265" y="4770860"/>
              <a:ext cx="139959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It is more than 180mm long</a:t>
              </a:r>
              <a:endParaRPr b="0" i="0" sz="1400" u="none" cap="none" strike="noStrike">
                <a:solidFill>
                  <a:srgbClr val="000000"/>
                </a:solidFill>
                <a:latin typeface="Arial"/>
                <a:ea typeface="Arial"/>
                <a:cs typeface="Arial"/>
                <a:sym typeface="Arial"/>
              </a:endParaRPr>
            </a:p>
          </p:txBody>
        </p:sp>
      </p:grpSp>
      <p:sp>
        <p:nvSpPr>
          <p:cNvPr id="280" name="Google Shape;280;p24"/>
          <p:cNvSpPr/>
          <p:nvPr/>
        </p:nvSpPr>
        <p:spPr>
          <a:xfrm>
            <a:off x="7335859" y="4138235"/>
            <a:ext cx="4430623" cy="1298066"/>
          </a:xfrm>
          <a:prstGeom prst="roundRect">
            <a:avLst>
              <a:gd fmla="val 16667" name="adj"/>
            </a:avLst>
          </a:prstGeom>
          <a:noFill/>
          <a:ln cap="flat" cmpd="sng" w="38100">
            <a:solidFill>
              <a:srgbClr val="00B0F0"/>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5"/>
          <p:cNvSpPr txBox="1"/>
          <p:nvPr>
            <p:ph type="title"/>
          </p:nvPr>
        </p:nvSpPr>
        <p:spPr>
          <a:xfrm>
            <a:off x="838200" y="3175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is it?</a:t>
            </a:r>
            <a:endParaRPr/>
          </a:p>
        </p:txBody>
      </p:sp>
      <p:sp>
        <p:nvSpPr>
          <p:cNvPr id="286" name="Google Shape;286;p2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It can be a mix of all these too!</a:t>
            </a:r>
            <a:endParaRPr/>
          </a:p>
        </p:txBody>
      </p:sp>
      <p:pic>
        <p:nvPicPr>
          <p:cNvPr id="287" name="Google Shape;287;p25"/>
          <p:cNvPicPr preferRelativeResize="0"/>
          <p:nvPr/>
        </p:nvPicPr>
        <p:blipFill rotWithShape="1">
          <a:blip r:embed="rId3">
            <a:alphaModFix/>
          </a:blip>
          <a:srcRect b="0" l="0" r="0" t="0"/>
          <a:stretch/>
        </p:blipFill>
        <p:spPr>
          <a:xfrm>
            <a:off x="2597150" y="2434631"/>
            <a:ext cx="8204200" cy="41286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To summarize</a:t>
            </a:r>
            <a:endParaRPr/>
          </a:p>
        </p:txBody>
      </p:sp>
      <p:sp>
        <p:nvSpPr>
          <p:cNvPr id="293" name="Google Shape;293;p2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You start at the top</a:t>
            </a:r>
            <a:endParaRPr/>
          </a:p>
          <a:p>
            <a:pPr indent="-228600" lvl="0" marL="228600" rtl="0" algn="l">
              <a:lnSpc>
                <a:spcPct val="90000"/>
              </a:lnSpc>
              <a:spcBef>
                <a:spcPts val="1000"/>
              </a:spcBef>
              <a:spcAft>
                <a:spcPts val="0"/>
              </a:spcAft>
              <a:buClr>
                <a:schemeClr val="dk1"/>
              </a:buClr>
              <a:buSzPts val="2800"/>
              <a:buChar char="•"/>
            </a:pPr>
            <a:r>
              <a:rPr lang="en-CA"/>
              <a:t>Keep going down</a:t>
            </a:r>
            <a:endParaRPr/>
          </a:p>
          <a:p>
            <a:pPr indent="-228600" lvl="0" marL="228600" rtl="0" algn="l">
              <a:lnSpc>
                <a:spcPct val="90000"/>
              </a:lnSpc>
              <a:spcBef>
                <a:spcPts val="1000"/>
              </a:spcBef>
              <a:spcAft>
                <a:spcPts val="0"/>
              </a:spcAft>
              <a:buClr>
                <a:schemeClr val="dk1"/>
              </a:buClr>
              <a:buSzPts val="2800"/>
              <a:buChar char="•"/>
            </a:pPr>
            <a:r>
              <a:rPr lang="en-CA"/>
              <a:t>Until you can’t anymore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Why are we interested in it?</a:t>
            </a:r>
            <a:endParaRPr/>
          </a:p>
        </p:txBody>
      </p:sp>
      <p:sp>
        <p:nvSpPr>
          <p:cNvPr id="299" name="Google Shape;299;p2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It’s visual and therefore easy</a:t>
            </a:r>
            <a:endParaRPr/>
          </a:p>
          <a:p>
            <a:pPr indent="-228600" lvl="0" marL="228600" rtl="0" algn="l">
              <a:lnSpc>
                <a:spcPct val="90000"/>
              </a:lnSpc>
              <a:spcBef>
                <a:spcPts val="1000"/>
              </a:spcBef>
              <a:spcAft>
                <a:spcPts val="0"/>
              </a:spcAft>
              <a:buClr>
                <a:schemeClr val="dk1"/>
              </a:buClr>
              <a:buSzPts val="2800"/>
              <a:buChar char="•"/>
            </a:pPr>
            <a:r>
              <a:rPr lang="en-CA"/>
              <a:t>Helps businesses relate and validate the rules / conditions</a:t>
            </a:r>
            <a:endParaRPr/>
          </a:p>
          <a:p>
            <a:pPr indent="-228600" lvl="0" marL="228600" rtl="0" algn="l">
              <a:lnSpc>
                <a:spcPct val="90000"/>
              </a:lnSpc>
              <a:spcBef>
                <a:spcPts val="1000"/>
              </a:spcBef>
              <a:spcAft>
                <a:spcPts val="0"/>
              </a:spcAft>
              <a:buClr>
                <a:schemeClr val="dk1"/>
              </a:buClr>
              <a:buSzPts val="2800"/>
              <a:buChar char="•"/>
            </a:pPr>
            <a:r>
              <a:rPr lang="en-CA"/>
              <a:t>Intuitive</a:t>
            </a:r>
            <a:endParaRPr/>
          </a:p>
          <a:p>
            <a:pPr indent="-228600" lvl="0" marL="228600" rtl="0" algn="l">
              <a:lnSpc>
                <a:spcPct val="90000"/>
              </a:lnSpc>
              <a:spcBef>
                <a:spcPts val="1000"/>
              </a:spcBef>
              <a:spcAft>
                <a:spcPts val="0"/>
              </a:spcAft>
              <a:buClr>
                <a:schemeClr val="dk1"/>
              </a:buClr>
              <a:buSzPts val="2800"/>
              <a:buChar char="•"/>
            </a:pPr>
            <a:r>
              <a:rPr lang="en-CA"/>
              <a:t>Works well with numbers and categories both</a:t>
            </a:r>
            <a:endParaRPr/>
          </a:p>
          <a:p>
            <a:pPr indent="-228600" lvl="0" marL="228600" rtl="0" algn="l">
              <a:lnSpc>
                <a:spcPct val="90000"/>
              </a:lnSpc>
              <a:spcBef>
                <a:spcPts val="1000"/>
              </a:spcBef>
              <a:spcAft>
                <a:spcPts val="0"/>
              </a:spcAft>
              <a:buClr>
                <a:schemeClr val="dk1"/>
              </a:buClr>
              <a:buSzPts val="2800"/>
              <a:buChar char="•"/>
            </a:pPr>
            <a:r>
              <a:rPr lang="en-CA"/>
              <a:t>Less data cleaning required</a:t>
            </a:r>
            <a:endParaRPr/>
          </a:p>
          <a:p>
            <a:pPr indent="-228600" lvl="0" marL="228600" rtl="0" algn="l">
              <a:lnSpc>
                <a:spcPct val="90000"/>
              </a:lnSpc>
              <a:spcBef>
                <a:spcPts val="1000"/>
              </a:spcBef>
              <a:spcAft>
                <a:spcPts val="0"/>
              </a:spcAft>
              <a:buClr>
                <a:schemeClr val="dk1"/>
              </a:buClr>
              <a:buSzPts val="2800"/>
              <a:buChar char="•"/>
            </a:pPr>
            <a:r>
              <a:rPr lang="en-CA"/>
              <a:t>Non Parametric method. This means that decision trees have no assumptions about the space distribution and the classifier structure.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28"/>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5" name="Google Shape;305;p28"/>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306" name="Google Shape;306;p2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pic>
        <p:nvPicPr>
          <p:cNvPr descr="Decision Tree - My Chart Guide" id="307" name="Google Shape;307;p28"/>
          <p:cNvPicPr preferRelativeResize="0"/>
          <p:nvPr/>
        </p:nvPicPr>
        <p:blipFill rotWithShape="1">
          <a:blip r:embed="rId3">
            <a:alphaModFix/>
          </a:blip>
          <a:srcRect b="2148" l="0" r="-1" t="0"/>
          <a:stretch/>
        </p:blipFill>
        <p:spPr>
          <a:xfrm>
            <a:off x="20" y="-38090"/>
            <a:ext cx="12188932" cy="6857990"/>
          </a:xfrm>
          <a:prstGeom prst="rect">
            <a:avLst/>
          </a:prstGeom>
          <a:noFill/>
          <a:ln>
            <a:noFill/>
          </a:ln>
        </p:spPr>
      </p:pic>
      <p:sp>
        <p:nvSpPr>
          <p:cNvPr id="308" name="Google Shape;308;p28"/>
          <p:cNvSpPr/>
          <p:nvPr/>
        </p:nvSpPr>
        <p:spPr>
          <a:xfrm rot="10800000">
            <a:off x="-3" y="4530071"/>
            <a:ext cx="12191999" cy="2327926"/>
          </a:xfrm>
          <a:prstGeom prst="rect">
            <a:avLst/>
          </a:prstGeom>
          <a:gradFill>
            <a:gsLst>
              <a:gs pos="0">
                <a:srgbClr val="000000">
                  <a:alpha val="0"/>
                </a:srgbClr>
              </a:gs>
              <a:gs pos="44000">
                <a:srgbClr val="000000">
                  <a:alpha val="40000"/>
                </a:srgbClr>
              </a:gs>
              <a:gs pos="100000">
                <a:srgbClr val="000000">
                  <a:alpha val="70196"/>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309" name="Google Shape;309;p28"/>
          <p:cNvSpPr txBox="1"/>
          <p:nvPr>
            <p:ph type="title"/>
          </p:nvPr>
        </p:nvSpPr>
        <p:spPr>
          <a:xfrm>
            <a:off x="5153025" y="5493046"/>
            <a:ext cx="9144000" cy="115266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Font typeface="Twentieth Century"/>
              <a:buNone/>
            </a:pPr>
            <a:r>
              <a:rPr lang="en-CA" sz="4800">
                <a:solidFill>
                  <a:schemeClr val="lt1"/>
                </a:solidFill>
                <a:latin typeface="Twentieth Century"/>
                <a:ea typeface="Twentieth Century"/>
                <a:cs typeface="Twentieth Century"/>
                <a:sym typeface="Twentieth Century"/>
              </a:rPr>
              <a:t>Jargons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09"/>
                                        </p:tgtEl>
                                        <p:attrNameLst>
                                          <p:attrName>style.visibility</p:attrName>
                                        </p:attrNameLst>
                                      </p:cBhvr>
                                      <p:to>
                                        <p:strVal val="visible"/>
                                      </p:to>
                                    </p:set>
                                    <p:animEffect filter="fade" transition="in">
                                      <p:cBhvr>
                                        <p:cTn dur="4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9"/>
          <p:cNvSpPr txBox="1"/>
          <p:nvPr>
            <p:ph type="title"/>
          </p:nvPr>
        </p:nvSpPr>
        <p:spPr>
          <a:xfrm>
            <a:off x="838200" y="2794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15" name="Google Shape;315;p2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Let’s take this example (303 patients)</a:t>
            </a:r>
            <a:endParaRPr/>
          </a:p>
        </p:txBody>
      </p:sp>
      <p:pic>
        <p:nvPicPr>
          <p:cNvPr id="316" name="Google Shape;316;p29"/>
          <p:cNvPicPr preferRelativeResize="0"/>
          <p:nvPr/>
        </p:nvPicPr>
        <p:blipFill rotWithShape="1">
          <a:blip r:embed="rId3">
            <a:alphaModFix/>
          </a:blip>
          <a:srcRect b="23194" l="5234" r="70312" t="33750"/>
          <a:stretch/>
        </p:blipFill>
        <p:spPr>
          <a:xfrm>
            <a:off x="2200274" y="2362199"/>
            <a:ext cx="4314825" cy="4273467"/>
          </a:xfrm>
          <a:prstGeom prst="rect">
            <a:avLst/>
          </a:prstGeom>
          <a:noFill/>
          <a:ln>
            <a:noFill/>
          </a:ln>
        </p:spPr>
      </p:pic>
      <p:pic>
        <p:nvPicPr>
          <p:cNvPr descr="Decision tree Intuition. I am sure you are using Decision Trees… | by Biraj  Parikh | GreyAtom | Medium" id="317" name="Google Shape;317;p29"/>
          <p:cNvPicPr preferRelativeResize="0"/>
          <p:nvPr/>
        </p:nvPicPr>
        <p:blipFill rotWithShape="1">
          <a:blip r:embed="rId4">
            <a:alphaModFix/>
          </a:blip>
          <a:srcRect b="0" l="0" r="0" t="0"/>
          <a:stretch/>
        </p:blipFill>
        <p:spPr>
          <a:xfrm>
            <a:off x="7431880" y="3829769"/>
            <a:ext cx="4436270" cy="2805897"/>
          </a:xfrm>
          <a:prstGeom prst="rect">
            <a:avLst/>
          </a:prstGeom>
          <a:noFill/>
          <a:ln>
            <a:noFill/>
          </a:ln>
        </p:spPr>
      </p:pic>
      <p:sp>
        <p:nvSpPr>
          <p:cNvPr id="318" name="Google Shape;318;p29"/>
          <p:cNvSpPr txBox="1"/>
          <p:nvPr/>
        </p:nvSpPr>
        <p:spPr>
          <a:xfrm>
            <a:off x="7877173" y="2879470"/>
            <a:ext cx="399097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But the question is, which feature / variable should be at the top? (root)</a:t>
            </a:r>
            <a:endParaRPr b="0" i="0" sz="1400" u="none" cap="none" strike="noStrike">
              <a:solidFill>
                <a:srgbClr val="000000"/>
              </a:solidFill>
              <a:latin typeface="Arial"/>
              <a:ea typeface="Arial"/>
              <a:cs typeface="Arial"/>
              <a:sym typeface="Arial"/>
            </a:endParaRPr>
          </a:p>
        </p:txBody>
      </p:sp>
      <p:sp>
        <p:nvSpPr>
          <p:cNvPr id="319" name="Google Shape;319;p29"/>
          <p:cNvSpPr/>
          <p:nvPr/>
        </p:nvSpPr>
        <p:spPr>
          <a:xfrm>
            <a:off x="4352925" y="5162550"/>
            <a:ext cx="1095375" cy="743479"/>
          </a:xfrm>
          <a:prstGeom prst="roundRect">
            <a:avLst>
              <a:gd fmla="val 16667" name="adj"/>
            </a:avLst>
          </a:prstGeom>
          <a:noFill/>
          <a:ln cap="flat" cmpd="sng" w="38100">
            <a:solidFill>
              <a:srgbClr val="FF000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2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25" name="Google Shape;325;p3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Comparing features one by one</a:t>
            </a:r>
            <a:endParaRPr/>
          </a:p>
        </p:txBody>
      </p:sp>
      <p:pic>
        <p:nvPicPr>
          <p:cNvPr id="326" name="Google Shape;326;p30"/>
          <p:cNvPicPr preferRelativeResize="0"/>
          <p:nvPr/>
        </p:nvPicPr>
        <p:blipFill rotWithShape="1">
          <a:blip r:embed="rId3">
            <a:alphaModFix/>
          </a:blip>
          <a:srcRect b="21806" l="4219" r="68906" t="31944"/>
          <a:stretch/>
        </p:blipFill>
        <p:spPr>
          <a:xfrm>
            <a:off x="571500" y="2409825"/>
            <a:ext cx="3276600" cy="3171825"/>
          </a:xfrm>
          <a:prstGeom prst="rect">
            <a:avLst/>
          </a:prstGeom>
          <a:noFill/>
          <a:ln>
            <a:noFill/>
          </a:ln>
        </p:spPr>
      </p:pic>
      <p:pic>
        <p:nvPicPr>
          <p:cNvPr id="327" name="Google Shape;327;p30"/>
          <p:cNvPicPr preferRelativeResize="0"/>
          <p:nvPr/>
        </p:nvPicPr>
        <p:blipFill rotWithShape="1">
          <a:blip r:embed="rId4">
            <a:alphaModFix/>
          </a:blip>
          <a:srcRect b="34027" l="35156" r="37422" t="30139"/>
          <a:stretch/>
        </p:blipFill>
        <p:spPr>
          <a:xfrm>
            <a:off x="6196014" y="2409825"/>
            <a:ext cx="4295775" cy="315757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33" name="Google Shape;333;p3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Comparing features one by one</a:t>
            </a:r>
            <a:endParaRPr/>
          </a:p>
        </p:txBody>
      </p:sp>
      <p:pic>
        <p:nvPicPr>
          <p:cNvPr id="334" name="Google Shape;334;p31"/>
          <p:cNvPicPr preferRelativeResize="0"/>
          <p:nvPr/>
        </p:nvPicPr>
        <p:blipFill rotWithShape="1">
          <a:blip r:embed="rId3">
            <a:alphaModFix/>
          </a:blip>
          <a:srcRect b="21528" l="4843" r="68594" t="32361"/>
          <a:stretch/>
        </p:blipFill>
        <p:spPr>
          <a:xfrm>
            <a:off x="2124074" y="2345516"/>
            <a:ext cx="3857625" cy="3766859"/>
          </a:xfrm>
          <a:prstGeom prst="rect">
            <a:avLst/>
          </a:prstGeom>
          <a:noFill/>
          <a:ln>
            <a:noFill/>
          </a:ln>
        </p:spPr>
      </p:pic>
      <p:pic>
        <p:nvPicPr>
          <p:cNvPr id="335" name="Google Shape;335;p31"/>
          <p:cNvPicPr preferRelativeResize="0"/>
          <p:nvPr/>
        </p:nvPicPr>
        <p:blipFill rotWithShape="1">
          <a:blip r:embed="rId4">
            <a:alphaModFix/>
          </a:blip>
          <a:srcRect b="34583" l="34844" r="37109" t="31111"/>
          <a:stretch/>
        </p:blipFill>
        <p:spPr>
          <a:xfrm>
            <a:off x="6867525" y="2507441"/>
            <a:ext cx="4933950" cy="33946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41" name="Google Shape;341;p3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Comparing features one by one</a:t>
            </a:r>
            <a:endParaRPr/>
          </a:p>
        </p:txBody>
      </p:sp>
      <p:pic>
        <p:nvPicPr>
          <p:cNvPr id="342" name="Google Shape;342;p32"/>
          <p:cNvPicPr preferRelativeResize="0"/>
          <p:nvPr/>
        </p:nvPicPr>
        <p:blipFill rotWithShape="1">
          <a:blip r:embed="rId3">
            <a:alphaModFix/>
          </a:blip>
          <a:srcRect b="21945" l="4922" r="68984" t="32500"/>
          <a:stretch/>
        </p:blipFill>
        <p:spPr>
          <a:xfrm>
            <a:off x="2009775" y="2202921"/>
            <a:ext cx="4507451" cy="4426479"/>
          </a:xfrm>
          <a:prstGeom prst="rect">
            <a:avLst/>
          </a:prstGeom>
          <a:noFill/>
          <a:ln>
            <a:noFill/>
          </a:ln>
        </p:spPr>
      </p:pic>
      <p:pic>
        <p:nvPicPr>
          <p:cNvPr id="343" name="Google Shape;343;p32"/>
          <p:cNvPicPr preferRelativeResize="0"/>
          <p:nvPr/>
        </p:nvPicPr>
        <p:blipFill rotWithShape="1">
          <a:blip r:embed="rId4">
            <a:alphaModFix/>
          </a:blip>
          <a:srcRect b="33611" l="35234" r="37500" t="30417"/>
          <a:stretch/>
        </p:blipFill>
        <p:spPr>
          <a:xfrm>
            <a:off x="6915149" y="2450041"/>
            <a:ext cx="4992753" cy="3705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49" name="Google Shape;349;p33"/>
          <p:cNvSpPr txBox="1"/>
          <p:nvPr>
            <p:ph idx="1" type="body"/>
          </p:nvPr>
        </p:nvSpPr>
        <p:spPr>
          <a:xfrm>
            <a:off x="838200" y="1825625"/>
            <a:ext cx="5610225"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No feature is perfect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Total number of patients vary in each feature because of missing values</a:t>
            </a:r>
            <a:endParaRPr/>
          </a:p>
        </p:txBody>
      </p:sp>
      <p:pic>
        <p:nvPicPr>
          <p:cNvPr id="350" name="Google Shape;350;p33"/>
          <p:cNvPicPr preferRelativeResize="0"/>
          <p:nvPr/>
        </p:nvPicPr>
        <p:blipFill rotWithShape="1">
          <a:blip r:embed="rId3">
            <a:alphaModFix/>
          </a:blip>
          <a:srcRect b="22083" l="35391" r="37031" t="18195"/>
          <a:stretch/>
        </p:blipFill>
        <p:spPr>
          <a:xfrm>
            <a:off x="6858000" y="1064030"/>
            <a:ext cx="4495800" cy="547647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356" name="Google Shape;356;p34"/>
          <p:cNvSpPr txBox="1"/>
          <p:nvPr>
            <p:ph idx="1" type="body"/>
          </p:nvPr>
        </p:nvSpPr>
        <p:spPr>
          <a:xfrm>
            <a:off x="838200" y="1825625"/>
            <a:ext cx="5610225" cy="385974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CA"/>
              <a:t>Because none of the leaf nodes are 100% “Yes Heart Disease” or “No Heart Disease” they are “impure” (inaccurate)</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CA"/>
              <a:t>Now which feature’s classification is best here?</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CA"/>
              <a:t>To decide that we need a measure of impurity – Gini / entropy.</a:t>
            </a:r>
            <a:endParaRPr/>
          </a:p>
        </p:txBody>
      </p:sp>
      <p:pic>
        <p:nvPicPr>
          <p:cNvPr id="357" name="Google Shape;357;p34"/>
          <p:cNvPicPr preferRelativeResize="0"/>
          <p:nvPr/>
        </p:nvPicPr>
        <p:blipFill rotWithShape="1">
          <a:blip r:embed="rId3">
            <a:alphaModFix/>
          </a:blip>
          <a:srcRect b="22083" l="35391" r="37031" t="18195"/>
          <a:stretch/>
        </p:blipFill>
        <p:spPr>
          <a:xfrm>
            <a:off x="6858000" y="1064030"/>
            <a:ext cx="4495800" cy="54764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3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63" name="Google Shape;363;p35"/>
          <p:cNvSpPr txBox="1"/>
          <p:nvPr>
            <p:ph type="title"/>
          </p:nvPr>
        </p:nvSpPr>
        <p:spPr>
          <a:xfrm>
            <a:off x="838200" y="365125"/>
            <a:ext cx="538750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Fun fact</a:t>
            </a:r>
            <a:endParaRPr/>
          </a:p>
        </p:txBody>
      </p:sp>
      <p:sp>
        <p:nvSpPr>
          <p:cNvPr id="364" name="Google Shape;364;p35"/>
          <p:cNvSpPr txBox="1"/>
          <p:nvPr>
            <p:ph idx="1" type="body"/>
          </p:nvPr>
        </p:nvSpPr>
        <p:spPr>
          <a:xfrm>
            <a:off x="838200" y="1825625"/>
            <a:ext cx="538750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Corrado Gini, inventor of the Gini coefficient, which measured income inequality.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This got refined as anything that is unequal / explains unequally will be termed as impure.</a:t>
            </a:r>
            <a:endParaRPr/>
          </a:p>
        </p:txBody>
      </p:sp>
      <p:pic>
        <p:nvPicPr>
          <p:cNvPr descr="Corrado Gini - Wikipedia" id="365" name="Google Shape;365;p35"/>
          <p:cNvPicPr preferRelativeResize="0"/>
          <p:nvPr/>
        </p:nvPicPr>
        <p:blipFill rotWithShape="1">
          <a:blip r:embed="rId3">
            <a:alphaModFix/>
          </a:blip>
          <a:srcRect b="18538" l="0" r="0" t="5308"/>
          <a:stretch/>
        </p:blipFill>
        <p:spPr>
          <a:xfrm>
            <a:off x="6621294" y="1295416"/>
            <a:ext cx="5570706" cy="5562584"/>
          </a:xfrm>
          <a:custGeom>
            <a:rect b="b" l="l" r="r" t="t"/>
            <a:pathLst>
              <a:path extrusionOk="0" h="5562584" w="5570706">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a:noFill/>
          <a:ln>
            <a:noFill/>
          </a:ln>
        </p:spPr>
      </p:pic>
      <p:sp>
        <p:nvSpPr>
          <p:cNvPr id="366" name="Google Shape;366;p35"/>
          <p:cNvSpPr/>
          <p:nvPr/>
        </p:nvSpPr>
        <p:spPr>
          <a:xfrm>
            <a:off x="6643451" y="1656147"/>
            <a:ext cx="546100" cy="5461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67" name="Google Shape;367;p35"/>
          <p:cNvSpPr/>
          <p:nvPr/>
        </p:nvSpPr>
        <p:spPr>
          <a:xfrm>
            <a:off x="8134739" y="587516"/>
            <a:ext cx="2987899" cy="2987899"/>
          </a:xfrm>
          <a:prstGeom prst="arc">
            <a:avLst>
              <a:gd fmla="val 15817365" name="adj1"/>
              <a:gd fmla="val 1781380" name="adj2"/>
            </a:avLst>
          </a:prstGeom>
          <a:noFill/>
          <a:ln cap="rnd" cmpd="sng" w="127000">
            <a:solidFill>
              <a:schemeClr val="accent4"/>
            </a:solidFill>
            <a:prstDash val="dash"/>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Gini Vs. Entropy</a:t>
            </a:r>
            <a:endParaRPr/>
          </a:p>
        </p:txBody>
      </p:sp>
      <p:sp>
        <p:nvSpPr>
          <p:cNvPr id="373" name="Google Shape;373;p3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Gini measurement is the probability of a random sample being classified incorrectly if we randomly pick a label according to the distribution in a branch.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Entropy is a measurement of information (or rather lack thereof). You calculate the information gain by making a split.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379" name="Google Shape;379;p37"/>
          <p:cNvPicPr preferRelativeResize="0"/>
          <p:nvPr/>
        </p:nvPicPr>
        <p:blipFill rotWithShape="1">
          <a:blip r:embed="rId3">
            <a:alphaModFix/>
          </a:blip>
          <a:srcRect b="29444" l="5001" r="35077" t="17917"/>
          <a:stretch/>
        </p:blipFill>
        <p:spPr>
          <a:xfrm>
            <a:off x="952500" y="1381125"/>
            <a:ext cx="9563100" cy="47254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385" name="Google Shape;385;p38"/>
          <p:cNvPicPr preferRelativeResize="0"/>
          <p:nvPr/>
        </p:nvPicPr>
        <p:blipFill rotWithShape="1">
          <a:blip r:embed="rId3">
            <a:alphaModFix/>
          </a:blip>
          <a:srcRect b="58750" l="28828" r="37031" t="17917"/>
          <a:stretch/>
        </p:blipFill>
        <p:spPr>
          <a:xfrm>
            <a:off x="2775971" y="1895474"/>
            <a:ext cx="6640057" cy="2552701"/>
          </a:xfrm>
          <a:prstGeom prst="rect">
            <a:avLst/>
          </a:prstGeom>
          <a:noFill/>
          <a:ln>
            <a:noFill/>
          </a:ln>
        </p:spPr>
      </p:pic>
      <p:sp>
        <p:nvSpPr>
          <p:cNvPr id="386" name="Google Shape;386;p38"/>
          <p:cNvSpPr txBox="1"/>
          <p:nvPr/>
        </p:nvSpPr>
        <p:spPr>
          <a:xfrm>
            <a:off x="2438400" y="5252740"/>
            <a:ext cx="8734425"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Now that we have measured the Gini impurity for both leaf nodes, we can calculate the total Gini impurity for using Chest Pain to separate patients with and without heart disease</a:t>
            </a:r>
            <a:endParaRPr b="0" i="0" sz="1800" u="none" cap="none" strike="noStrike">
              <a:solidFill>
                <a:schemeClr val="dk1"/>
              </a:solidFill>
              <a:latin typeface="Avenir"/>
              <a:ea typeface="Avenir"/>
              <a:cs typeface="Avenir"/>
              <a:sym typeface="Aveni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392" name="Google Shape;392;p39"/>
          <p:cNvPicPr preferRelativeResize="0"/>
          <p:nvPr/>
        </p:nvPicPr>
        <p:blipFill rotWithShape="1">
          <a:blip r:embed="rId3">
            <a:alphaModFix/>
          </a:blip>
          <a:srcRect b="28195" l="27188" r="34453" t="17778"/>
          <a:stretch/>
        </p:blipFill>
        <p:spPr>
          <a:xfrm>
            <a:off x="3619500" y="1352550"/>
            <a:ext cx="6772275" cy="536540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398" name="Google Shape;398;p40"/>
          <p:cNvPicPr preferRelativeResize="0"/>
          <p:nvPr/>
        </p:nvPicPr>
        <p:blipFill rotWithShape="1">
          <a:blip r:embed="rId3">
            <a:alphaModFix/>
          </a:blip>
          <a:srcRect b="29305" l="6329" r="35937" t="18195"/>
          <a:stretch/>
        </p:blipFill>
        <p:spPr>
          <a:xfrm>
            <a:off x="1142999" y="1425934"/>
            <a:ext cx="9906001" cy="506694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04" name="Google Shape;404;p41"/>
          <p:cNvPicPr preferRelativeResize="0"/>
          <p:nvPr/>
        </p:nvPicPr>
        <p:blipFill rotWithShape="1">
          <a:blip r:embed="rId3">
            <a:alphaModFix/>
          </a:blip>
          <a:srcRect b="22083" l="6328" r="37266" t="17917"/>
          <a:stretch/>
        </p:blipFill>
        <p:spPr>
          <a:xfrm>
            <a:off x="1904999" y="1276349"/>
            <a:ext cx="9134475" cy="546550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grpSp>
        <p:nvGrpSpPr>
          <p:cNvPr id="410" name="Google Shape;410;p42"/>
          <p:cNvGrpSpPr/>
          <p:nvPr/>
        </p:nvGrpSpPr>
        <p:grpSpPr>
          <a:xfrm>
            <a:off x="1209675" y="1690687"/>
            <a:ext cx="10048875" cy="4910138"/>
            <a:chOff x="1209675" y="1690687"/>
            <a:chExt cx="10048875" cy="4910138"/>
          </a:xfrm>
        </p:grpSpPr>
        <p:pic>
          <p:nvPicPr>
            <p:cNvPr id="411" name="Google Shape;411;p42"/>
            <p:cNvPicPr preferRelativeResize="0"/>
            <p:nvPr/>
          </p:nvPicPr>
          <p:blipFill rotWithShape="1">
            <a:blip r:embed="rId3">
              <a:alphaModFix/>
            </a:blip>
            <a:srcRect b="24445" l="6016" r="36485" t="26111"/>
            <a:stretch/>
          </p:blipFill>
          <p:spPr>
            <a:xfrm>
              <a:off x="1209675" y="1690687"/>
              <a:ext cx="9810750" cy="4745417"/>
            </a:xfrm>
            <a:prstGeom prst="rect">
              <a:avLst/>
            </a:prstGeom>
            <a:noFill/>
            <a:ln>
              <a:noFill/>
            </a:ln>
          </p:spPr>
        </p:pic>
        <p:sp>
          <p:nvSpPr>
            <p:cNvPr id="412" name="Google Shape;412;p42"/>
            <p:cNvSpPr/>
            <p:nvPr/>
          </p:nvSpPr>
          <p:spPr>
            <a:xfrm>
              <a:off x="10382250" y="5810250"/>
              <a:ext cx="876300" cy="790575"/>
            </a:xfrm>
            <a:prstGeom prst="rect">
              <a:avLst/>
            </a:prstGeom>
            <a:solidFill>
              <a:schemeClr val="lt1"/>
            </a:solidFill>
            <a:ln cap="flat" cmpd="sng" w="127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18" name="Google Shape;418;p43"/>
          <p:cNvPicPr preferRelativeResize="0"/>
          <p:nvPr/>
        </p:nvPicPr>
        <p:blipFill rotWithShape="1">
          <a:blip r:embed="rId3">
            <a:alphaModFix/>
          </a:blip>
          <a:srcRect b="30139" l="8672" r="37031" t="21667"/>
          <a:stretch/>
        </p:blipFill>
        <p:spPr>
          <a:xfrm>
            <a:off x="2047874" y="1552575"/>
            <a:ext cx="9429751" cy="470809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24" name="Google Shape;424;p44"/>
          <p:cNvPicPr preferRelativeResize="0"/>
          <p:nvPr/>
        </p:nvPicPr>
        <p:blipFill rotWithShape="1">
          <a:blip r:embed="rId3">
            <a:alphaModFix/>
          </a:blip>
          <a:srcRect b="0" l="0" r="0" t="0"/>
          <a:stretch/>
        </p:blipFill>
        <p:spPr>
          <a:xfrm>
            <a:off x="1993900" y="1589087"/>
            <a:ext cx="8807450" cy="4689356"/>
          </a:xfrm>
          <a:prstGeom prst="rect">
            <a:avLst/>
          </a:prstGeom>
          <a:noFill/>
          <a:ln>
            <a:noFill/>
          </a:ln>
        </p:spPr>
      </p:pic>
      <p:cxnSp>
        <p:nvCxnSpPr>
          <p:cNvPr id="425" name="Google Shape;425;p44"/>
          <p:cNvCxnSpPr/>
          <p:nvPr/>
        </p:nvCxnSpPr>
        <p:spPr>
          <a:xfrm>
            <a:off x="3124200" y="3524250"/>
            <a:ext cx="3273425" cy="847725"/>
          </a:xfrm>
          <a:prstGeom prst="straightConnector1">
            <a:avLst/>
          </a:prstGeom>
          <a:noFill/>
          <a:ln cap="flat" cmpd="sng" w="38100">
            <a:solidFill>
              <a:schemeClr val="accent1"/>
            </a:solidFill>
            <a:prstDash val="solid"/>
            <a:miter lim="80"/>
            <a:headEnd len="sm" w="sm" type="none"/>
            <a:tailEnd len="med" w="med" type="triangle"/>
          </a:ln>
        </p:spPr>
      </p:cxnSp>
      <p:cxnSp>
        <p:nvCxnSpPr>
          <p:cNvPr id="426" name="Google Shape;426;p44"/>
          <p:cNvCxnSpPr/>
          <p:nvPr/>
        </p:nvCxnSpPr>
        <p:spPr>
          <a:xfrm>
            <a:off x="6715125" y="2933700"/>
            <a:ext cx="3362400" cy="1095300"/>
          </a:xfrm>
          <a:prstGeom prst="bentConnector3">
            <a:avLst>
              <a:gd fmla="val 100140" name="adj1"/>
            </a:avLst>
          </a:prstGeom>
          <a:noFill/>
          <a:ln cap="flat" cmpd="sng" w="38100">
            <a:solidFill>
              <a:schemeClr val="accent1"/>
            </a:solidFill>
            <a:prstDash val="solid"/>
            <a:miter lim="80"/>
            <a:headEnd len="sm" w="sm"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32" name="Google Shape;432;p45"/>
          <p:cNvPicPr preferRelativeResize="0"/>
          <p:nvPr/>
        </p:nvPicPr>
        <p:blipFill rotWithShape="1">
          <a:blip r:embed="rId3">
            <a:alphaModFix/>
          </a:blip>
          <a:srcRect b="27778" l="5078" r="34922" t="18333"/>
          <a:stretch/>
        </p:blipFill>
        <p:spPr>
          <a:xfrm>
            <a:off x="1685924" y="1376511"/>
            <a:ext cx="10334625" cy="522113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438" name="Google Shape;438;p46"/>
          <p:cNvSpPr txBox="1"/>
          <p:nvPr>
            <p:ph idx="1" type="body"/>
          </p:nvPr>
        </p:nvSpPr>
        <p:spPr>
          <a:xfrm>
            <a:off x="838200" y="1825624"/>
            <a:ext cx="10515600" cy="484187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CA"/>
              <a:t>Now the second internal node is “Blocked”</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Now we only have “Chest Pain” left</a:t>
            </a:r>
            <a:endParaRPr/>
          </a:p>
        </p:txBody>
      </p:sp>
      <p:pic>
        <p:nvPicPr>
          <p:cNvPr id="439" name="Google Shape;439;p46"/>
          <p:cNvPicPr preferRelativeResize="0"/>
          <p:nvPr/>
        </p:nvPicPr>
        <p:blipFill rotWithShape="1">
          <a:blip r:embed="rId3">
            <a:alphaModFix/>
          </a:blip>
          <a:srcRect b="34584" l="30547" r="38281" t="39722"/>
          <a:stretch/>
        </p:blipFill>
        <p:spPr>
          <a:xfrm>
            <a:off x="657224" y="2547937"/>
            <a:ext cx="5844515" cy="2709863"/>
          </a:xfrm>
          <a:prstGeom prst="rect">
            <a:avLst/>
          </a:prstGeom>
          <a:noFill/>
          <a:ln>
            <a:noFill/>
          </a:ln>
        </p:spPr>
      </p:pic>
      <p:pic>
        <p:nvPicPr>
          <p:cNvPr id="440" name="Google Shape;440;p46"/>
          <p:cNvPicPr preferRelativeResize="0"/>
          <p:nvPr/>
        </p:nvPicPr>
        <p:blipFill rotWithShape="1">
          <a:blip r:embed="rId4">
            <a:alphaModFix/>
          </a:blip>
          <a:srcRect b="28859" l="4193" r="66797" t="17252"/>
          <a:stretch/>
        </p:blipFill>
        <p:spPr>
          <a:xfrm>
            <a:off x="7720146" y="2278063"/>
            <a:ext cx="4033705" cy="4214812"/>
          </a:xfrm>
          <a:prstGeom prst="rect">
            <a:avLst/>
          </a:prstGeom>
          <a:noFill/>
          <a:ln>
            <a:noFill/>
          </a:ln>
        </p:spPr>
      </p:pic>
      <p:cxnSp>
        <p:nvCxnSpPr>
          <p:cNvPr id="441" name="Google Shape;441;p46"/>
          <p:cNvCxnSpPr/>
          <p:nvPr/>
        </p:nvCxnSpPr>
        <p:spPr>
          <a:xfrm rot="10800000">
            <a:off x="1552501" y="4762550"/>
            <a:ext cx="6410400" cy="692100"/>
          </a:xfrm>
          <a:prstGeom prst="bentConnector3">
            <a:avLst>
              <a:gd fmla="val 100073" name="adj1"/>
            </a:avLst>
          </a:prstGeom>
          <a:noFill/>
          <a:ln cap="flat" cmpd="sng" w="38100">
            <a:solidFill>
              <a:schemeClr val="accent1"/>
            </a:solidFill>
            <a:prstDash val="solid"/>
            <a:miter lim="80"/>
            <a:headEnd len="sm" w="sm" type="none"/>
            <a:tailEnd len="med" w="med" type="triangle"/>
          </a:ln>
        </p:spPr>
      </p:cxnSp>
      <p:cxnSp>
        <p:nvCxnSpPr>
          <p:cNvPr id="442" name="Google Shape;442;p46"/>
          <p:cNvCxnSpPr/>
          <p:nvPr/>
        </p:nvCxnSpPr>
        <p:spPr>
          <a:xfrm rot="10800000">
            <a:off x="2771100" y="4704967"/>
            <a:ext cx="7325400" cy="980400"/>
          </a:xfrm>
          <a:prstGeom prst="bentConnector3">
            <a:avLst>
              <a:gd fmla="val 99932" name="adj1"/>
            </a:avLst>
          </a:prstGeom>
          <a:noFill/>
          <a:ln cap="flat" cmpd="sng" w="38100">
            <a:solidFill>
              <a:schemeClr val="accent1"/>
            </a:solidFill>
            <a:prstDash val="solid"/>
            <a:miter lim="80"/>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48" name="Google Shape;448;p47"/>
          <p:cNvPicPr preferRelativeResize="0"/>
          <p:nvPr/>
        </p:nvPicPr>
        <p:blipFill rotWithShape="1">
          <a:blip r:embed="rId3">
            <a:alphaModFix/>
          </a:blip>
          <a:srcRect b="35556" l="11562" r="38437" t="29722"/>
          <a:stretch/>
        </p:blipFill>
        <p:spPr>
          <a:xfrm>
            <a:off x="904874" y="1690687"/>
            <a:ext cx="9936479" cy="388143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54" name="Google Shape;454;p48"/>
          <p:cNvPicPr preferRelativeResize="0"/>
          <p:nvPr/>
        </p:nvPicPr>
        <p:blipFill rotWithShape="1">
          <a:blip r:embed="rId3">
            <a:alphaModFix/>
          </a:blip>
          <a:srcRect b="24166" l="4845" r="38905" t="18195"/>
          <a:stretch/>
        </p:blipFill>
        <p:spPr>
          <a:xfrm>
            <a:off x="1743075" y="1474919"/>
            <a:ext cx="8705850" cy="501795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60" name="Google Shape;460;p49"/>
          <p:cNvPicPr preferRelativeResize="0"/>
          <p:nvPr/>
        </p:nvPicPr>
        <p:blipFill rotWithShape="1">
          <a:blip r:embed="rId3">
            <a:alphaModFix/>
          </a:blip>
          <a:srcRect b="30000" l="6329" r="38593" t="24652"/>
          <a:stretch/>
        </p:blipFill>
        <p:spPr>
          <a:xfrm>
            <a:off x="1419224" y="1500188"/>
            <a:ext cx="10417185" cy="48244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66" name="Google Shape;466;p50"/>
          <p:cNvPicPr preferRelativeResize="0"/>
          <p:nvPr/>
        </p:nvPicPr>
        <p:blipFill rotWithShape="1">
          <a:blip r:embed="rId3">
            <a:alphaModFix/>
          </a:blip>
          <a:srcRect b="21805" l="5391" r="38984" t="18472"/>
          <a:stretch/>
        </p:blipFill>
        <p:spPr>
          <a:xfrm>
            <a:off x="2447925" y="1581149"/>
            <a:ext cx="8629650" cy="521172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472" name="Google Shape;472;p5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The same rules to be followed on the right side of the tree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Calculate all the Gini impurity scores</a:t>
            </a:r>
            <a:endParaRPr/>
          </a:p>
          <a:p>
            <a:pPr indent="-228600" lvl="0" marL="228600" rtl="0" algn="l">
              <a:lnSpc>
                <a:spcPct val="90000"/>
              </a:lnSpc>
              <a:spcBef>
                <a:spcPts val="1000"/>
              </a:spcBef>
              <a:spcAft>
                <a:spcPts val="0"/>
              </a:spcAft>
              <a:buClr>
                <a:schemeClr val="dk1"/>
              </a:buClr>
              <a:buSzPts val="2800"/>
              <a:buChar char="•"/>
            </a:pPr>
            <a:r>
              <a:rPr lang="en-CA"/>
              <a:t>If the node itself has the lowest score, then there is no point in separating the patients any more and it becomes the leaf node</a:t>
            </a:r>
            <a:endParaRPr/>
          </a:p>
          <a:p>
            <a:pPr indent="-228600" lvl="0" marL="228600" rtl="0" algn="l">
              <a:lnSpc>
                <a:spcPct val="90000"/>
              </a:lnSpc>
              <a:spcBef>
                <a:spcPts val="1000"/>
              </a:spcBef>
              <a:spcAft>
                <a:spcPts val="0"/>
              </a:spcAft>
              <a:buClr>
                <a:schemeClr val="dk1"/>
              </a:buClr>
              <a:buSzPts val="2800"/>
              <a:buChar char="•"/>
            </a:pPr>
            <a:r>
              <a:rPr lang="en-CA"/>
              <a:t>If separating the data results in an improvement then pick the separation with the lowest impurity value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78" name="Google Shape;478;p52"/>
          <p:cNvPicPr preferRelativeResize="0"/>
          <p:nvPr/>
        </p:nvPicPr>
        <p:blipFill rotWithShape="1">
          <a:blip r:embed="rId3">
            <a:alphaModFix/>
          </a:blip>
          <a:srcRect b="30694" l="29453" r="33906" t="39445"/>
          <a:stretch/>
        </p:blipFill>
        <p:spPr>
          <a:xfrm>
            <a:off x="2076449" y="1938338"/>
            <a:ext cx="8734426" cy="400405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sp>
        <p:nvSpPr>
          <p:cNvPr id="484" name="Google Shape;484;p5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For numerical data?</a:t>
            </a:r>
            <a:endParaRPr/>
          </a:p>
        </p:txBody>
      </p:sp>
      <p:pic>
        <p:nvPicPr>
          <p:cNvPr id="485" name="Google Shape;485;p53"/>
          <p:cNvPicPr preferRelativeResize="0"/>
          <p:nvPr/>
        </p:nvPicPr>
        <p:blipFill rotWithShape="1">
          <a:blip r:embed="rId3">
            <a:alphaModFix/>
          </a:blip>
          <a:srcRect b="26250" l="5547" r="46953" t="29583"/>
          <a:stretch/>
        </p:blipFill>
        <p:spPr>
          <a:xfrm>
            <a:off x="2371724" y="2409824"/>
            <a:ext cx="7781925" cy="407015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91" name="Google Shape;491;p54"/>
          <p:cNvPicPr preferRelativeResize="0"/>
          <p:nvPr/>
        </p:nvPicPr>
        <p:blipFill rotWithShape="1">
          <a:blip r:embed="rId3">
            <a:alphaModFix/>
          </a:blip>
          <a:srcRect b="26805" l="8749" r="48048" t="29167"/>
          <a:stretch/>
        </p:blipFill>
        <p:spPr>
          <a:xfrm>
            <a:off x="2247900" y="1633403"/>
            <a:ext cx="8477250" cy="485947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497" name="Google Shape;497;p55"/>
          <p:cNvPicPr preferRelativeResize="0"/>
          <p:nvPr/>
        </p:nvPicPr>
        <p:blipFill rotWithShape="1">
          <a:blip r:embed="rId3">
            <a:alphaModFix/>
          </a:blip>
          <a:srcRect b="27361" l="8281" r="36953" t="17777"/>
          <a:stretch/>
        </p:blipFill>
        <p:spPr>
          <a:xfrm>
            <a:off x="1990725" y="1209675"/>
            <a:ext cx="9639300" cy="54315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How does it work?</a:t>
            </a:r>
            <a:endParaRPr/>
          </a:p>
        </p:txBody>
      </p:sp>
      <p:pic>
        <p:nvPicPr>
          <p:cNvPr id="503" name="Google Shape;503;p56"/>
          <p:cNvPicPr preferRelativeResize="0"/>
          <p:nvPr/>
        </p:nvPicPr>
        <p:blipFill rotWithShape="1">
          <a:blip r:embed="rId3">
            <a:alphaModFix/>
          </a:blip>
          <a:srcRect b="26805" l="8047" r="38125" t="28889"/>
          <a:stretch/>
        </p:blipFill>
        <p:spPr>
          <a:xfrm>
            <a:off x="2381249" y="1690688"/>
            <a:ext cx="9535494" cy="4414837"/>
          </a:xfrm>
          <a:prstGeom prst="rect">
            <a:avLst/>
          </a:prstGeom>
          <a:noFill/>
          <a:ln>
            <a:noFill/>
          </a:ln>
        </p:spPr>
      </p:pic>
      <p:sp>
        <p:nvSpPr>
          <p:cNvPr id="504" name="Google Shape;504;p56"/>
          <p:cNvSpPr txBox="1"/>
          <p:nvPr/>
        </p:nvSpPr>
        <p:spPr>
          <a:xfrm>
            <a:off x="8610600" y="6029325"/>
            <a:ext cx="338137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venir"/>
                <a:ea typeface="Avenir"/>
                <a:cs typeface="Avenir"/>
                <a:sym typeface="Avenir"/>
              </a:rPr>
              <a:t>And follow the same rules as previous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Many algorithms</a:t>
            </a:r>
            <a:endParaRPr/>
          </a:p>
        </p:txBody>
      </p:sp>
      <p:sp>
        <p:nvSpPr>
          <p:cNvPr id="510" name="Google Shape;510;p5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Decision Trees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CA"/>
              <a:t>Renamed as CART</a:t>
            </a:r>
            <a:endParaRPr/>
          </a:p>
          <a:p>
            <a:pPr indent="-228600" lvl="0" marL="228600" rtl="0" algn="l">
              <a:lnSpc>
                <a:spcPct val="90000"/>
              </a:lnSpc>
              <a:spcBef>
                <a:spcPts val="1000"/>
              </a:spcBef>
              <a:spcAft>
                <a:spcPts val="0"/>
              </a:spcAft>
              <a:buClr>
                <a:schemeClr val="dk1"/>
              </a:buClr>
              <a:buSzPts val="2800"/>
              <a:buChar char="•"/>
            </a:pPr>
            <a:r>
              <a:rPr lang="en-CA"/>
              <a:t>ID3</a:t>
            </a:r>
            <a:endParaRPr/>
          </a:p>
          <a:p>
            <a:pPr indent="-228600" lvl="0" marL="228600" rtl="0" algn="l">
              <a:lnSpc>
                <a:spcPct val="90000"/>
              </a:lnSpc>
              <a:spcBef>
                <a:spcPts val="1000"/>
              </a:spcBef>
              <a:spcAft>
                <a:spcPts val="0"/>
              </a:spcAft>
              <a:buClr>
                <a:schemeClr val="dk1"/>
              </a:buClr>
              <a:buSzPts val="2800"/>
              <a:buChar char="•"/>
            </a:pPr>
            <a:r>
              <a:rPr lang="en-CA"/>
              <a:t>ID4.5</a:t>
            </a:r>
            <a:endParaRPr/>
          </a:p>
          <a:p>
            <a:pPr indent="-228600" lvl="0" marL="228600" rtl="0" algn="l">
              <a:lnSpc>
                <a:spcPct val="90000"/>
              </a:lnSpc>
              <a:spcBef>
                <a:spcPts val="1000"/>
              </a:spcBef>
              <a:spcAft>
                <a:spcPts val="0"/>
              </a:spcAft>
              <a:buClr>
                <a:schemeClr val="dk1"/>
              </a:buClr>
              <a:buSzPts val="2800"/>
              <a:buChar char="•"/>
            </a:pPr>
            <a:r>
              <a:rPr lang="en-CA"/>
              <a:t>C5.0</a:t>
            </a:r>
            <a:endParaRPr/>
          </a:p>
          <a:p>
            <a:pPr indent="-228600" lvl="0" marL="228600" rtl="0" algn="l">
              <a:lnSpc>
                <a:spcPct val="90000"/>
              </a:lnSpc>
              <a:spcBef>
                <a:spcPts val="1000"/>
              </a:spcBef>
              <a:spcAft>
                <a:spcPts val="0"/>
              </a:spcAft>
              <a:buClr>
                <a:schemeClr val="dk1"/>
              </a:buClr>
              <a:buSzPts val="2800"/>
              <a:buChar char="•"/>
            </a:pPr>
            <a:r>
              <a:rPr lang="en-CA"/>
              <a:t>Etc.</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When to stop splitting?</a:t>
            </a:r>
            <a:endParaRPr/>
          </a:p>
        </p:txBody>
      </p:sp>
      <p:sp>
        <p:nvSpPr>
          <p:cNvPr id="516" name="Google Shape;516;p5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CA"/>
              <a:t>Many features usually mean many splits and a huge tree, which takes longer to build and can overfit: great accuracy on training data, poor accuracy on test data.</a:t>
            </a:r>
            <a:endParaRPr/>
          </a:p>
          <a:p>
            <a:pPr indent="-228600" lvl="0" marL="228600" rtl="0" algn="l">
              <a:lnSpc>
                <a:spcPct val="90000"/>
              </a:lnSpc>
              <a:spcBef>
                <a:spcPts val="0"/>
              </a:spcBef>
              <a:spcAft>
                <a:spcPts val="0"/>
              </a:spcAft>
              <a:buClr>
                <a:schemeClr val="dk1"/>
              </a:buClr>
              <a:buSzPct val="100000"/>
              <a:buChar char="•"/>
            </a:pPr>
            <a:r>
              <a:rPr lang="en-CA"/>
              <a:t>One fix: limit the max_depth parameter. A higher max_depth allows a more complex (and more overfit-prone) tree.</a:t>
            </a:r>
            <a:endParaRPr/>
          </a:p>
          <a:p>
            <a:pPr indent="-228600" lvl="0" marL="228600" rtl="0" algn="l">
              <a:lnSpc>
                <a:spcPct val="90000"/>
              </a:lnSpc>
              <a:spcBef>
                <a:spcPts val="0"/>
              </a:spcBef>
              <a:spcAft>
                <a:spcPts val="0"/>
              </a:spcAft>
              <a:buClr>
                <a:schemeClr val="dk1"/>
              </a:buClr>
              <a:buSzPct val="100000"/>
              <a:buChar char="•"/>
            </a:pPr>
            <a:r>
              <a:rPr lang="en-CA"/>
              <a:t>Training error keeps dropping as max_depth grows, but test accuracy gets worse past a point.</a:t>
            </a:r>
            <a:endParaRPr/>
          </a:p>
          <a:p>
            <a:pPr indent="-228600" lvl="0" marL="228600" rtl="0" algn="l">
              <a:lnSpc>
                <a:spcPct val="90000"/>
              </a:lnSpc>
              <a:spcBef>
                <a:spcPts val="0"/>
              </a:spcBef>
              <a:spcAft>
                <a:spcPts val="0"/>
              </a:spcAft>
              <a:buClr>
                <a:schemeClr val="dk1"/>
              </a:buClr>
              <a:buSzPct val="100000"/>
              <a:buChar char="•"/>
            </a:pPr>
            <a:r>
              <a:rPr lang="en-CA"/>
              <a:t>Use GridSearchCV to find the max_depth that avoids both overfitting and underfitting.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When to stop splitting?</a:t>
            </a:r>
            <a:endParaRPr/>
          </a:p>
        </p:txBody>
      </p:sp>
      <p:sp>
        <p:nvSpPr>
          <p:cNvPr id="522" name="Google Shape;522;p5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CA"/>
              <a:t>min_samples_split: the minimum number of samples a node must have before it's allowed to split. Example: with a minimum of 10, a node with fewer than 10 samples stops splitting and becomes a leaf.</a:t>
            </a:r>
            <a:endParaRPr/>
          </a:p>
          <a:p>
            <a:pPr indent="-228600" lvl="0" marL="228600" rtl="0" algn="l">
              <a:lnSpc>
                <a:spcPct val="90000"/>
              </a:lnSpc>
              <a:spcBef>
                <a:spcPts val="0"/>
              </a:spcBef>
              <a:spcAft>
                <a:spcPts val="0"/>
              </a:spcAft>
              <a:buClr>
                <a:schemeClr val="dk1"/>
              </a:buClr>
              <a:buSzPct val="100000"/>
              <a:buChar char="•"/>
            </a:pPr>
            <a:r>
              <a:rPr lang="en-CA"/>
              <a:t>min_samples_leaf: the minimum number of samples required in a leaf node.</a:t>
            </a:r>
            <a:endParaRPr/>
          </a:p>
          <a:p>
            <a:pPr indent="-228600" lvl="0" marL="228600" rtl="0" algn="l">
              <a:lnSpc>
                <a:spcPct val="90000"/>
              </a:lnSpc>
              <a:spcBef>
                <a:spcPts val="0"/>
              </a:spcBef>
              <a:spcAft>
                <a:spcPts val="0"/>
              </a:spcAft>
              <a:buClr>
                <a:schemeClr val="dk1"/>
              </a:buClr>
              <a:buSzPct val="100000"/>
              <a:buChar char="•"/>
            </a:pPr>
            <a:r>
              <a:rPr lang="en-CA"/>
              <a:t>max_features: the number of features to consider when looking for the best split.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Pruning?</a:t>
            </a:r>
            <a:endParaRPr/>
          </a:p>
        </p:txBody>
      </p:sp>
      <p:sp>
        <p:nvSpPr>
          <p:cNvPr id="528" name="Google Shape;528;p6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77500" lnSpcReduction="10000"/>
          </a:bodyPr>
          <a:lstStyle/>
          <a:p>
            <a:pPr indent="-228600" lvl="0" marL="228600" rtl="0" algn="l">
              <a:lnSpc>
                <a:spcPct val="90000"/>
              </a:lnSpc>
              <a:spcBef>
                <a:spcPts val="0"/>
              </a:spcBef>
              <a:spcAft>
                <a:spcPts val="0"/>
              </a:spcAft>
              <a:buClr>
                <a:schemeClr val="dk1"/>
              </a:buClr>
              <a:buSzPct val="100000"/>
              <a:buChar char="•"/>
            </a:pPr>
            <a:r>
              <a:rPr lang="en-CA"/>
              <a:t>Pruning helps avoid overfitting by cutting nodes or branches that add little value to the tree.</a:t>
            </a:r>
            <a:endParaRPr/>
          </a:p>
          <a:p>
            <a:pPr indent="-228600" lvl="0" marL="228600" rtl="0" algn="l">
              <a:lnSpc>
                <a:spcPct val="90000"/>
              </a:lnSpc>
              <a:spcBef>
                <a:spcPts val="0"/>
              </a:spcBef>
              <a:spcAft>
                <a:spcPts val="0"/>
              </a:spcAft>
              <a:buClr>
                <a:schemeClr val="dk1"/>
              </a:buClr>
              <a:buSzPct val="100000"/>
              <a:buChar char="•"/>
            </a:pPr>
            <a:r>
              <a:rPr lang="en-CA"/>
              <a:t>Pre-pruning: stop growing the tree early, removing a node during construction if it looks unimportant.</a:t>
            </a:r>
            <a:endParaRPr/>
          </a:p>
          <a:p>
            <a:pPr indent="-228600" lvl="0" marL="228600" rtl="0" algn="l">
              <a:lnSpc>
                <a:spcPct val="90000"/>
              </a:lnSpc>
              <a:spcBef>
                <a:spcPts val="0"/>
              </a:spcBef>
              <a:spcAft>
                <a:spcPts val="0"/>
              </a:spcAft>
              <a:buClr>
                <a:schemeClr val="dk1"/>
              </a:buClr>
              <a:buSzPct val="100000"/>
              <a:buChar char="•"/>
            </a:pPr>
            <a:r>
              <a:rPr lang="en-CA"/>
              <a:t>Post-pruning: grow the full tree first, then remove nodes afterward based on their significance.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What if?</a:t>
            </a:r>
            <a:endParaRPr/>
          </a:p>
        </p:txBody>
      </p:sp>
      <p:sp>
        <p:nvSpPr>
          <p:cNvPr id="534" name="Google Shape;534;p6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a:t>What if instead of 1 tree there was a way that multiple tress could work in parallel?</a:t>
            </a:r>
            <a:endParaRPr/>
          </a:p>
          <a:p>
            <a:pPr indent="-228600" lvl="0" marL="228600" rtl="0" algn="l">
              <a:lnSpc>
                <a:spcPct val="90000"/>
              </a:lnSpc>
              <a:spcBef>
                <a:spcPts val="1000"/>
              </a:spcBef>
              <a:spcAft>
                <a:spcPts val="0"/>
              </a:spcAft>
              <a:buClr>
                <a:schemeClr val="dk1"/>
              </a:buClr>
              <a:buSzPts val="2800"/>
              <a:buChar char="•"/>
            </a:pPr>
            <a:r>
              <a:rPr lang="en-CA"/>
              <a:t>Would that not be efficient? Especially with larger data size?</a:t>
            </a:r>
            <a:endParaRPr/>
          </a:p>
          <a:p>
            <a:pPr indent="-228600" lvl="0" marL="228600" rtl="0" algn="l">
              <a:lnSpc>
                <a:spcPct val="90000"/>
              </a:lnSpc>
              <a:spcBef>
                <a:spcPts val="1000"/>
              </a:spcBef>
              <a:spcAft>
                <a:spcPts val="0"/>
              </a:spcAft>
              <a:buClr>
                <a:schemeClr val="dk1"/>
              </a:buClr>
              <a:buSzPts val="2800"/>
              <a:buChar char="•"/>
            </a:pPr>
            <a:r>
              <a:rPr lang="en-CA"/>
              <a:t>Is there a way where imbalance does not impact my model?</a:t>
            </a:r>
            <a:endParaRPr/>
          </a:p>
          <a:p>
            <a:pPr indent="-228600" lvl="0" marL="228600" rtl="0" algn="l">
              <a:lnSpc>
                <a:spcPct val="90000"/>
              </a:lnSpc>
              <a:spcBef>
                <a:spcPts val="1000"/>
              </a:spcBef>
              <a:spcAft>
                <a:spcPts val="0"/>
              </a:spcAft>
              <a:buClr>
                <a:schemeClr val="dk1"/>
              </a:buClr>
              <a:buSzPts val="2800"/>
              <a:buChar char="•"/>
            </a:pPr>
            <a:r>
              <a:rPr lang="en-CA"/>
              <a:t>Faster computation perhaps?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Reading a Plotted Tree</a:t>
            </a:r>
            <a:endParaRPr/>
          </a:p>
        </p:txBody>
      </p:sp>
      <p:sp>
        <p:nvSpPr>
          <p:cNvPr id="540" name="Google Shape;540;p62"/>
          <p:cNvSpPr txBox="1"/>
          <p:nvPr>
            <p:ph idx="1" type="body"/>
          </p:nvPr>
        </p:nvSpPr>
        <p:spPr>
          <a:xfrm>
            <a:off x="838200" y="1750000"/>
            <a:ext cx="10515600" cy="14500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1800"/>
              <a:buChar char="•"/>
            </a:pPr>
            <a:r>
              <a:rPr b="1" lang="en-CA" sz="1800"/>
              <a:t>Split rule</a:t>
            </a:r>
            <a:r>
              <a:rPr lang="en-CA" sz="1800"/>
              <a:t>: the feature/threshold this node tests</a:t>
            </a:r>
            <a:endParaRPr/>
          </a:p>
          <a:p>
            <a:pPr indent="-228600" lvl="0" marL="228600" rtl="0" algn="l">
              <a:lnSpc>
                <a:spcPct val="90000"/>
              </a:lnSpc>
              <a:spcBef>
                <a:spcPts val="1000"/>
              </a:spcBef>
              <a:spcAft>
                <a:spcPts val="0"/>
              </a:spcAft>
              <a:buClr>
                <a:schemeClr val="dk1"/>
              </a:buClr>
              <a:buSzPts val="1800"/>
              <a:buChar char="•"/>
            </a:pPr>
            <a:r>
              <a:rPr b="1" lang="en-CA" sz="1800"/>
              <a:t>gini / samples</a:t>
            </a:r>
            <a:r>
              <a:rPr lang="en-CA" sz="1800"/>
              <a:t>: impurity, and how many rows reached this node</a:t>
            </a:r>
            <a:endParaRPr/>
          </a:p>
          <a:p>
            <a:pPr indent="-228600" lvl="0" marL="228600" rtl="0" algn="l">
              <a:lnSpc>
                <a:spcPct val="90000"/>
              </a:lnSpc>
              <a:spcBef>
                <a:spcPts val="1000"/>
              </a:spcBef>
              <a:spcAft>
                <a:spcPts val="0"/>
              </a:spcAft>
              <a:buClr>
                <a:schemeClr val="dk1"/>
              </a:buClr>
              <a:buSzPts val="1800"/>
              <a:buChar char="•"/>
            </a:pPr>
            <a:r>
              <a:rPr b="1" lang="en-CA" sz="1800"/>
              <a:t>value / class</a:t>
            </a:r>
            <a:r>
              <a:rPr lang="en-CA" sz="1800"/>
              <a:t>: label counts here, and the predicted class</a:t>
            </a:r>
            <a:endParaRPr/>
          </a:p>
          <a:p>
            <a:pPr indent="-228600" lvl="0" marL="228600" rtl="0" algn="l">
              <a:lnSpc>
                <a:spcPct val="90000"/>
              </a:lnSpc>
              <a:spcBef>
                <a:spcPts val="1000"/>
              </a:spcBef>
              <a:spcAft>
                <a:spcPts val="0"/>
              </a:spcAft>
              <a:buClr>
                <a:schemeClr val="dk1"/>
              </a:buClr>
              <a:buSzPts val="1800"/>
              <a:buChar char="•"/>
            </a:pPr>
            <a:r>
              <a:rPr b="1" lang="en-CA" sz="1800"/>
              <a:t>Color intensity</a:t>
            </a:r>
            <a:r>
              <a:rPr lang="en-CA" sz="1800"/>
              <a:t>: darker means purer (closer to one class)</a:t>
            </a:r>
            <a:endParaRPr/>
          </a:p>
        </p:txBody>
      </p:sp>
      <p:pic>
        <p:nvPicPr>
          <p:cNvPr id="541" name="Google Shape;541;p62"/>
          <p:cNvPicPr preferRelativeResize="0"/>
          <p:nvPr/>
        </p:nvPicPr>
        <p:blipFill rotWithShape="1">
          <a:blip r:embed="rId3">
            <a:alphaModFix/>
          </a:blip>
          <a:srcRect b="0" l="0" r="0" t="0"/>
          <a:stretch/>
        </p:blipFill>
        <p:spPr>
          <a:xfrm>
            <a:off x="2457200" y="3350000"/>
            <a:ext cx="7277600" cy="3308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wentieth Century"/>
              <a:buNone/>
            </a:pPr>
            <a:r>
              <a:rPr lang="en-CA"/>
              <a:t>Resources / References</a:t>
            </a:r>
            <a:endParaRPr/>
          </a:p>
        </p:txBody>
      </p:sp>
      <p:sp>
        <p:nvSpPr>
          <p:cNvPr id="547" name="Google Shape;547;p6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CA" u="sng">
                <a:solidFill>
                  <a:schemeClr val="hlink"/>
                </a:solidFill>
                <a:hlinkClick r:id="rId3"/>
              </a:rPr>
              <a:t>https://mychartguide.com/decision-tree/</a:t>
            </a:r>
            <a:endParaRPr/>
          </a:p>
          <a:p>
            <a:pPr indent="-228600" lvl="0" marL="228600" rtl="0" algn="l">
              <a:lnSpc>
                <a:spcPct val="90000"/>
              </a:lnSpc>
              <a:spcBef>
                <a:spcPts val="1000"/>
              </a:spcBef>
              <a:spcAft>
                <a:spcPts val="0"/>
              </a:spcAft>
              <a:buClr>
                <a:schemeClr val="dk1"/>
              </a:buClr>
              <a:buSzPts val="2800"/>
              <a:buChar char="•"/>
            </a:pPr>
            <a:r>
              <a:rPr lang="en-CA" u="sng">
                <a:solidFill>
                  <a:schemeClr val="hlink"/>
                </a:solidFill>
                <a:hlinkClick r:id="rId4"/>
              </a:rPr>
              <a:t>https://statquest.com</a:t>
            </a:r>
            <a:endParaRPr/>
          </a:p>
          <a:p>
            <a:pPr indent="-228600" lvl="0" marL="228600" rtl="0" algn="l">
              <a:lnSpc>
                <a:spcPct val="90000"/>
              </a:lnSpc>
              <a:spcBef>
                <a:spcPts val="1000"/>
              </a:spcBef>
              <a:spcAft>
                <a:spcPts val="0"/>
              </a:spcAft>
              <a:buClr>
                <a:schemeClr val="dk1"/>
              </a:buClr>
              <a:buSzPts val="2800"/>
              <a:buChar char="•"/>
            </a:pPr>
            <a:r>
              <a:rPr lang="en-CA" u="sng">
                <a:solidFill>
                  <a:schemeClr val="hlink"/>
                </a:solidFill>
                <a:hlinkClick r:id="rId5"/>
              </a:rPr>
              <a:t>https://aionlinecourse.com</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apesVTI">
  <a:themeElements>
    <a:clrScheme name="AnalogousFromDarkSeedLeftStep">
      <a:dk1>
        <a:srgbClr val="000000"/>
      </a:dk1>
      <a:lt1>
        <a:srgbClr val="FFFFFF"/>
      </a:lt1>
      <a:dk2>
        <a:srgbClr val="413024"/>
      </a:dk2>
      <a:lt2>
        <a:srgbClr val="E8E2E3"/>
      </a:lt2>
      <a:accent1>
        <a:srgbClr val="45B19C"/>
      </a:accent1>
      <a:accent2>
        <a:srgbClr val="3BB169"/>
      </a:accent2>
      <a:accent3>
        <a:srgbClr val="4AB547"/>
      </a:accent3>
      <a:accent4>
        <a:srgbClr val="6FB13B"/>
      </a:accent4>
      <a:accent5>
        <a:srgbClr val="9AA842"/>
      </a:accent5>
      <a:accent6>
        <a:srgbClr val="B1913B"/>
      </a:accent6>
      <a:hlink>
        <a:srgbClr val="6F8C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