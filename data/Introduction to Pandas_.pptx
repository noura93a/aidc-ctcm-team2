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Proxima Nova"/>
      <p:regular r:id="rId44"/>
      <p:bold r:id="rId45"/>
      <p:italic r:id="rId46"/>
      <p:boldItalic r:id="rId47"/>
    </p:embeddedFont>
    <p:embeddedFont>
      <p:font typeface="Proxima Nova Semibold"/>
      <p:regular r:id="rId48"/>
      <p:bold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641FAC-0224-44CC-B105-974FEF7EE8D4}">
  <a:tblStyle styleId="{B5641FAC-0224-44CC-B105-974FEF7EE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F8257DB-F36D-41A8-AA2A-998A9D94C72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ProximaNova-regular.fntdata"/><Relationship Id="rId43" Type="http://schemas.openxmlformats.org/officeDocument/2006/relationships/slide" Target="slides/slide37.xml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roximaNovaSemibold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ProximaNova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ProximaNova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aef4c37fc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eaef4c37fc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aef4c37fc_2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eaef4c37fc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5a8a656c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c5a8a656c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ef4c37fc_2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eaef4c37fc_2_3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eaef4c37fc_2_3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aef4c37fc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eaef4c37fc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eaef4c37fc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ef4c37f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eaef4c37f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eaef4c37fc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ef4c37fc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aef4c37fc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eaef4c37fc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aef4c37f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eaef4c37f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eaef4c37fc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aef4c37fc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aef4c37fc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c5a8a656c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c5a8a656c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ef4c37f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aef4c37f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aef4c37f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eaef4c37f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eaef4c37f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aef4c37f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eaef4c37f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eaef4c37fc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c5a8a656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c5a8a656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aef4c37fc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aef4c37fc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eaef4c37fc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c5a8a656c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c5a8a656c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c5a8a656c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c5a8a656c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c5a8a656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c5a8a656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aef4c37fc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eaef4c37fc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eaef4c37fc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aef4c37fc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eaef4c37fc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3eaef4c37fc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c5a8a656c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ec5a8a656c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c5a8a656c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c5a8a656c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c5a8a656c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c5a8a656c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aef4c37fc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eaef4c37fc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eaef4c37fc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5a8a656c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ec5a8a656c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c5a8a656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ec5a8a656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c5a8a656c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c5a8a656c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c5a8a656c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c5a8a656c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c5a8a656c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ec5a8a656c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c5a8a656c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ec5a8a656c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c5a8a656c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ec5a8a656c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c5a8a656c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ec5a8a656c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c5a8a656c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c5a8a656c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aef4c37fc_0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eaef4c37fc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g3eaef4c37fc_0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aef4c37fc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eaef4c37fc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g3eaef4c37fc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aef4c37fc_0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eaef4c37fc_0_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g3eaef4c37fc_0_3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ec5a8a656c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ec5a8a656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page" type="title">
  <p:cSld name="TITLE">
    <p:bg>
      <p:bgPr>
        <a:solidFill>
          <a:srgbClr val="120A59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571643" y="3226631"/>
            <a:ext cx="4815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○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■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○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■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●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○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Char char="■"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564516" y="2262975"/>
            <a:ext cx="4943400" cy="6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78870" y="731775"/>
            <a:ext cx="3556562" cy="558087"/>
          </a:xfrm>
          <a:custGeom>
            <a:rect b="b" l="l" r="r" t="t"/>
            <a:pathLst>
              <a:path extrusionOk="0" h="914896" w="5830429">
                <a:moveTo>
                  <a:pt x="0" y="0"/>
                </a:moveTo>
                <a:lnTo>
                  <a:pt x="5830429" y="0"/>
                </a:lnTo>
                <a:lnTo>
                  <a:pt x="5830429" y="914895"/>
                </a:lnTo>
                <a:lnTo>
                  <a:pt x="0" y="914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5668843" y="-225"/>
            <a:ext cx="3474038" cy="5143437"/>
          </a:xfrm>
          <a:custGeom>
            <a:rect b="b" l="l" r="r" t="t"/>
            <a:pathLst>
              <a:path extrusionOk="0" h="10286873" w="7018259">
                <a:moveTo>
                  <a:pt x="7018259" y="10251440"/>
                </a:moveTo>
                <a:cubicBezTo>
                  <a:pt x="7018259" y="10284587"/>
                  <a:pt x="7009556" y="10286873"/>
                  <a:pt x="6986868" y="10286873"/>
                </a:cubicBezTo>
                <a:cubicBezTo>
                  <a:pt x="4658307" y="10286238"/>
                  <a:pt x="2329850" y="10286238"/>
                  <a:pt x="1289" y="10286238"/>
                </a:cubicBezTo>
                <a:cubicBezTo>
                  <a:pt x="-2541" y="10272395"/>
                  <a:pt x="3154" y="10259822"/>
                  <a:pt x="5537" y="10246995"/>
                </a:cubicBezTo>
                <a:cubicBezTo>
                  <a:pt x="107891" y="9685401"/>
                  <a:pt x="210349" y="9123934"/>
                  <a:pt x="313014" y="8562467"/>
                </a:cubicBezTo>
                <a:cubicBezTo>
                  <a:pt x="459397" y="7761986"/>
                  <a:pt x="606091" y="6961632"/>
                  <a:pt x="752371" y="6161151"/>
                </a:cubicBezTo>
                <a:cubicBezTo>
                  <a:pt x="933045" y="5172583"/>
                  <a:pt x="1113305" y="4184015"/>
                  <a:pt x="1293875" y="3195574"/>
                </a:cubicBezTo>
                <a:cubicBezTo>
                  <a:pt x="1477346" y="2191385"/>
                  <a:pt x="1660921" y="1187323"/>
                  <a:pt x="1844910" y="183261"/>
                </a:cubicBezTo>
                <a:cubicBezTo>
                  <a:pt x="1856099" y="122174"/>
                  <a:pt x="1863247" y="59690"/>
                  <a:pt x="1881377" y="635"/>
                </a:cubicBezTo>
                <a:cubicBezTo>
                  <a:pt x="3583277" y="635"/>
                  <a:pt x="5285177" y="635"/>
                  <a:pt x="6987076" y="0"/>
                </a:cubicBezTo>
                <a:cubicBezTo>
                  <a:pt x="7010179" y="0"/>
                  <a:pt x="7018052" y="3429"/>
                  <a:pt x="7018052" y="35814"/>
                </a:cubicBezTo>
                <a:cubicBezTo>
                  <a:pt x="7017430" y="3441065"/>
                  <a:pt x="7017430" y="6846316"/>
                  <a:pt x="7018259" y="1025144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278" r="-80288" t="0"/>
            </a:stretch>
          </a:blip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5604413" y="-225"/>
            <a:ext cx="1041600" cy="5143500"/>
          </a:xfrm>
          <a:prstGeom prst="parallelogram">
            <a:avLst>
              <a:gd fmla="val 91817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page 1">
  <p:cSld name="TITLE_1">
    <p:bg>
      <p:bgPr>
        <a:solidFill>
          <a:srgbClr val="120A59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564516" y="2262975"/>
            <a:ext cx="4943400" cy="6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78870" y="731775"/>
            <a:ext cx="3556562" cy="558087"/>
          </a:xfrm>
          <a:custGeom>
            <a:rect b="b" l="l" r="r" t="t"/>
            <a:pathLst>
              <a:path extrusionOk="0" h="914896" w="5830429">
                <a:moveTo>
                  <a:pt x="0" y="0"/>
                </a:moveTo>
                <a:lnTo>
                  <a:pt x="5830429" y="0"/>
                </a:lnTo>
                <a:lnTo>
                  <a:pt x="5830429" y="914895"/>
                </a:lnTo>
                <a:lnTo>
                  <a:pt x="0" y="914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5668843" y="-225"/>
            <a:ext cx="3474038" cy="5143437"/>
          </a:xfrm>
          <a:custGeom>
            <a:rect b="b" l="l" r="r" t="t"/>
            <a:pathLst>
              <a:path extrusionOk="0" h="10286873" w="7018259">
                <a:moveTo>
                  <a:pt x="7018259" y="10251440"/>
                </a:moveTo>
                <a:cubicBezTo>
                  <a:pt x="7018259" y="10284587"/>
                  <a:pt x="7009556" y="10286873"/>
                  <a:pt x="6986868" y="10286873"/>
                </a:cubicBezTo>
                <a:cubicBezTo>
                  <a:pt x="4658307" y="10286238"/>
                  <a:pt x="2329850" y="10286238"/>
                  <a:pt x="1289" y="10286238"/>
                </a:cubicBezTo>
                <a:cubicBezTo>
                  <a:pt x="-2541" y="10272395"/>
                  <a:pt x="3154" y="10259822"/>
                  <a:pt x="5537" y="10246995"/>
                </a:cubicBezTo>
                <a:cubicBezTo>
                  <a:pt x="107891" y="9685401"/>
                  <a:pt x="210349" y="9123934"/>
                  <a:pt x="313014" y="8562467"/>
                </a:cubicBezTo>
                <a:cubicBezTo>
                  <a:pt x="459397" y="7761986"/>
                  <a:pt x="606091" y="6961632"/>
                  <a:pt x="752371" y="6161151"/>
                </a:cubicBezTo>
                <a:cubicBezTo>
                  <a:pt x="933045" y="5172583"/>
                  <a:pt x="1113305" y="4184015"/>
                  <a:pt x="1293875" y="3195574"/>
                </a:cubicBezTo>
                <a:cubicBezTo>
                  <a:pt x="1477346" y="2191385"/>
                  <a:pt x="1660921" y="1187323"/>
                  <a:pt x="1844910" y="183261"/>
                </a:cubicBezTo>
                <a:cubicBezTo>
                  <a:pt x="1856099" y="122174"/>
                  <a:pt x="1863247" y="59690"/>
                  <a:pt x="1881377" y="635"/>
                </a:cubicBezTo>
                <a:cubicBezTo>
                  <a:pt x="3583277" y="635"/>
                  <a:pt x="5285177" y="635"/>
                  <a:pt x="6987076" y="0"/>
                </a:cubicBezTo>
                <a:cubicBezTo>
                  <a:pt x="7010179" y="0"/>
                  <a:pt x="7018052" y="3429"/>
                  <a:pt x="7018052" y="35814"/>
                </a:cubicBezTo>
                <a:cubicBezTo>
                  <a:pt x="7017430" y="3441065"/>
                  <a:pt x="7017430" y="6846316"/>
                  <a:pt x="7018259" y="1025144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278" r="-80288" t="0"/>
            </a:stretch>
          </a:blip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604413" y="-225"/>
            <a:ext cx="1041600" cy="5143500"/>
          </a:xfrm>
          <a:prstGeom prst="parallelogram">
            <a:avLst>
              <a:gd fmla="val 91817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0" y="5062560"/>
            <a:ext cx="9146400" cy="124200"/>
          </a:xfrm>
          <a:prstGeom prst="roundRect">
            <a:avLst>
              <a:gd fmla="val 0" name="adj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1100"/>
              <a:buFont typeface="Proxima Nova"/>
              <a:buNone/>
              <a:defRPr sz="11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3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>
  <p:cSld name="SECTION_HEADER_1">
    <p:bg>
      <p:bgPr>
        <a:solidFill>
          <a:srgbClr val="120A5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23000"/>
            </a:blip>
            <a:stretch>
              <a:fillRect b="0" l="-23190" r="-26809" t="0"/>
            </a:stretch>
          </a:blipFill>
          <a:ln>
            <a:noFill/>
          </a:ln>
        </p:spPr>
      </p:sp>
      <p:sp>
        <p:nvSpPr>
          <p:cNvPr id="32" name="Google Shape;32;p5"/>
          <p:cNvSpPr/>
          <p:nvPr/>
        </p:nvSpPr>
        <p:spPr>
          <a:xfrm>
            <a:off x="514479" y="514350"/>
            <a:ext cx="2941501" cy="467941"/>
          </a:xfrm>
          <a:custGeom>
            <a:rect b="b" l="l" r="r" t="t"/>
            <a:pathLst>
              <a:path extrusionOk="0" h="1192206" w="7494271">
                <a:moveTo>
                  <a:pt x="0" y="0"/>
                </a:moveTo>
                <a:lnTo>
                  <a:pt x="7494271" y="0"/>
                </a:lnTo>
                <a:lnTo>
                  <a:pt x="7494271" y="1192206"/>
                </a:lnTo>
                <a:lnTo>
                  <a:pt x="0" y="1192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None/>
              <a:defRPr sz="11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598293" y="2263228"/>
            <a:ext cx="7961100" cy="62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roxima Nova"/>
              <a:buNone/>
              <a:defRPr b="1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slide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2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1100"/>
              <a:buFont typeface="Proxima Nova"/>
              <a:buNone/>
              <a:defRPr sz="11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2" name="Google Shape;42;p6"/>
          <p:cNvSpPr txBox="1"/>
          <p:nvPr>
            <p:ph idx="3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" name="Google Shape;43;p6"/>
          <p:cNvSpPr/>
          <p:nvPr/>
        </p:nvSpPr>
        <p:spPr>
          <a:xfrm rot="5400000">
            <a:off x="3631688" y="-1991755"/>
            <a:ext cx="1882800" cy="914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0A59"/>
          </a:solidFill>
          <a:ln>
            <a:noFill/>
          </a:ln>
        </p:spPr>
        <p:txBody>
          <a:bodyPr anchorCtr="0" anchor="ctr" bIns="45825" lIns="45825" spcFirstLastPara="1" rIns="45825" wrap="square" tIns="45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1090323" y="1729163"/>
            <a:ext cx="7200900" cy="17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●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238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○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indent="-3238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■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238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●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238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○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238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■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238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●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238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○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238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roxima Nova Semibold"/>
              <a:buChar char="■"/>
              <a:defRPr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dient bar">
  <p:cSld name="CUSTOM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slide">
  <p:cSld name="CUSTOM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" name="Google Shape;49;p8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" name="Google Shape;52;p9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2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1100"/>
              <a:buFont typeface="Proxima Nova"/>
              <a:buNone/>
              <a:defRPr sz="11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9"/>
          <p:cNvSpPr txBox="1"/>
          <p:nvPr>
            <p:ph idx="3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4" type="body"/>
          </p:nvPr>
        </p:nvSpPr>
        <p:spPr>
          <a:xfrm>
            <a:off x="1037566" y="1395469"/>
            <a:ext cx="7200900" cy="2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" name="Google Shape;60;p10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0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2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1100"/>
              <a:buFont typeface="Proxima Nova"/>
              <a:buNone/>
              <a:defRPr sz="11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4" name="Google Shape;64;p10"/>
          <p:cNvSpPr txBox="1"/>
          <p:nvPr>
            <p:ph idx="3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4" type="body"/>
          </p:nvPr>
        </p:nvSpPr>
        <p:spPr>
          <a:xfrm>
            <a:off x="1037566" y="1395469"/>
            <a:ext cx="3543600" cy="2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5" type="body"/>
          </p:nvPr>
        </p:nvSpPr>
        <p:spPr>
          <a:xfrm>
            <a:off x="4694993" y="1395469"/>
            <a:ext cx="3543600" cy="2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 body and diagram or image">
  <p:cSld name="TITLE_AND_BODY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11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2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1100"/>
              <a:buFont typeface="Proxima Nova"/>
              <a:buNone/>
              <a:defRPr sz="11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1"/>
          <p:cNvSpPr txBox="1"/>
          <p:nvPr>
            <p:ph idx="3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4" type="body"/>
          </p:nvPr>
        </p:nvSpPr>
        <p:spPr>
          <a:xfrm>
            <a:off x="1037566" y="1395469"/>
            <a:ext cx="3543600" cy="2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5" name="Google Shape;75;p11"/>
          <p:cNvSpPr/>
          <p:nvPr>
            <p:ph idx="5" type="pic"/>
          </p:nvPr>
        </p:nvSpPr>
        <p:spPr>
          <a:xfrm>
            <a:off x="4766955" y="1491375"/>
            <a:ext cx="3758700" cy="2996700"/>
          </a:xfrm>
          <a:prstGeom prst="roundRect">
            <a:avLst>
              <a:gd fmla="val 26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slide">
  <p:cSld name="TITLE_AND_BODY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512352" y="514355"/>
            <a:ext cx="1035043" cy="593462"/>
          </a:xfrm>
          <a:custGeom>
            <a:rect b="b" l="l" r="r" t="t"/>
            <a:pathLst>
              <a:path extrusionOk="0" h="1582565" w="2760114">
                <a:moveTo>
                  <a:pt x="0" y="0"/>
                </a:moveTo>
                <a:lnTo>
                  <a:pt x="2760114" y="0"/>
                </a:lnTo>
                <a:lnTo>
                  <a:pt x="2760114" y="1582565"/>
                </a:lnTo>
                <a:lnTo>
                  <a:pt x="0" y="158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12"/>
          <p:cNvSpPr/>
          <p:nvPr/>
        </p:nvSpPr>
        <p:spPr>
          <a:xfrm>
            <a:off x="0" y="6"/>
            <a:ext cx="9146400" cy="1242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B3063"/>
              </a:gs>
              <a:gs pos="34000">
                <a:srgbClr val="AB46A5"/>
              </a:gs>
              <a:gs pos="66000">
                <a:srgbClr val="5FB8E4"/>
              </a:gs>
              <a:gs pos="100000">
                <a:srgbClr val="120A59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Proxima Nova"/>
              <a:buNone/>
              <a:defRPr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2" type="subTitle"/>
          </p:nvPr>
        </p:nvSpPr>
        <p:spPr>
          <a:xfrm>
            <a:off x="5988166" y="4642875"/>
            <a:ext cx="22503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1100"/>
              <a:buFont typeface="Proxima Nova"/>
              <a:buNone/>
              <a:defRPr sz="11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2" name="Google Shape;82;p12"/>
          <p:cNvSpPr txBox="1"/>
          <p:nvPr>
            <p:ph idx="3" type="subTitle"/>
          </p:nvPr>
        </p:nvSpPr>
        <p:spPr>
          <a:xfrm>
            <a:off x="8295875" y="4600181"/>
            <a:ext cx="336300" cy="23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Proxima Nova"/>
              <a:buNone/>
              <a:defRPr b="1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aphicFrame>
        <p:nvGraphicFramePr>
          <p:cNvPr id="83" name="Google Shape;83;p12"/>
          <p:cNvGraphicFramePr/>
          <p:nvPr/>
        </p:nvGraphicFramePr>
        <p:xfrm>
          <a:off x="1057146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{B5641FAC-0224-44CC-B105-974FEF7EE8D4}</a:tableStyleId>
              </a:tblPr>
              <a:tblGrid>
                <a:gridCol w="1809675"/>
                <a:gridCol w="1809675"/>
                <a:gridCol w="1809675"/>
                <a:gridCol w="1809675"/>
              </a:tblGrid>
              <a:tr h="45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DFF"/>
                    </a:solidFill>
                  </a:tcPr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68575" marL="68575">
                    <a:lnL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type="twoColTx">
  <p:cSld name="TITLE_AND_TWO_COLUMNS">
    <p:bg>
      <p:bgPr>
        <a:solidFill>
          <a:schemeClr val="accent6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title="Introduction to Data Lake.jpg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60" y="57"/>
            <a:ext cx="9143755" cy="51433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74011" y="3699955"/>
            <a:ext cx="819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We’d love to hear from you. If you have any questions, </a:t>
            </a:r>
            <a:endParaRPr sz="15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feel free to reach out to our team anytime!</a:t>
            </a:r>
            <a:endParaRPr sz="1500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16585" y="2393090"/>
            <a:ext cx="4913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500"/>
          </a:p>
        </p:txBody>
      </p:sp>
      <p:cxnSp>
        <p:nvCxnSpPr>
          <p:cNvPr id="88" name="Google Shape;88;p13"/>
          <p:cNvCxnSpPr/>
          <p:nvPr/>
        </p:nvCxnSpPr>
        <p:spPr>
          <a:xfrm>
            <a:off x="2088565" y="3277841"/>
            <a:ext cx="4969200" cy="0"/>
          </a:xfrm>
          <a:prstGeom prst="straightConnector1">
            <a:avLst/>
          </a:prstGeom>
          <a:solidFill>
            <a:srgbClr val="EEECE1"/>
          </a:solidFill>
          <a:ln cap="flat" cmpd="sng" w="19050">
            <a:solidFill>
              <a:srgbClr val="5BB5E3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descr="A picture containing drawing&#10;&#10;Description automatically generated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875" y="617624"/>
            <a:ext cx="2425941" cy="101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>
            <p:ph type="ctrTitle"/>
          </p:nvPr>
        </p:nvSpPr>
        <p:spPr>
          <a:xfrm>
            <a:off x="628650" y="2250490"/>
            <a:ext cx="40971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628650" y="3354038"/>
            <a:ext cx="40971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descr="A picture containing drawing&#10;&#10;Description automatically generated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088625"/>
            <a:ext cx="1075863" cy="44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 Layout 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6294" y="-144169"/>
            <a:ext cx="9656587" cy="543183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603956" y="4218056"/>
            <a:ext cx="1276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Agenda.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and Content">
  <p:cSld name="10_Title and Content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A close up of a logo&#10;&#10;Description automatically generated" id="100" name="Google Shape;10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905" y="4776295"/>
            <a:ext cx="1062546" cy="176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wire fence&#10;&#10;Description automatically generated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2107" y="0"/>
            <a:ext cx="17518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470916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924411" y="229753"/>
            <a:ext cx="2868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924411" y="566971"/>
            <a:ext cx="2296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 2">
  <p:cSld name="7_Title and Content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106" name="Google Shape;10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905" y="4776296"/>
            <a:ext cx="1062546" cy="17613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629841" y="1367077"/>
            <a:ext cx="7884300" cy="3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1307794" y="522188"/>
            <a:ext cx="4041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72" y="522187"/>
            <a:ext cx="553023" cy="32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>
            <p:ph idx="2" type="body"/>
          </p:nvPr>
        </p:nvSpPr>
        <p:spPr>
          <a:xfrm>
            <a:off x="1307792" y="859405"/>
            <a:ext cx="2296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397">
          <p15:clr>
            <a:srgbClr val="FBAE40"/>
          </p15:clr>
        </p15:guide>
        <p15:guide id="4" pos="5363">
          <p15:clr>
            <a:srgbClr val="FBAE40"/>
          </p15:clr>
        </p15:guide>
        <p15:guide id="5" orient="horz" pos="327">
          <p15:clr>
            <a:srgbClr val="FBAE40"/>
          </p15:clr>
        </p15:guide>
        <p15:guide id="6" orient="horz" pos="291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0A59"/>
              </a:buClr>
              <a:buSzPts val="2500"/>
              <a:buFont typeface="Proxima Nova"/>
              <a:buNone/>
              <a:defRPr b="1" sz="2500">
                <a:solidFill>
                  <a:srgbClr val="120A5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037566" y="1395469"/>
            <a:ext cx="7200900" cy="29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●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○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757"/>
              </a:buClr>
              <a:buSzPts val="1400"/>
              <a:buFont typeface="Proxima Nova"/>
              <a:buChar char="■"/>
              <a:defRPr sz="1400">
                <a:solidFill>
                  <a:srgbClr val="0F0757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hyperlink" Target="https://share.google/ThUsu1BkTSqWdE4yI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hare.google/rTmH37d6idAIvjvGS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Relationship Id="rId4" Type="http://schemas.openxmlformats.org/officeDocument/2006/relationships/hyperlink" Target="https://share.google/SjyzXFWjI8dHsZdNn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564516" y="2262975"/>
            <a:ext cx="4943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Pandas</a:t>
            </a:r>
            <a:endParaRPr sz="2200">
              <a:solidFill>
                <a:schemeClr val="accent3"/>
              </a:solidFill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571643" y="3226631"/>
            <a:ext cx="4815600" cy="218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626381" y="1603438"/>
            <a:ext cx="3990900" cy="24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9845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n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</a:t>
            </a:r>
            <a:br>
              <a:rPr lang="en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n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Pandas Series</a:t>
            </a:r>
            <a:br>
              <a:rPr lang="en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n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DataFrame</a:t>
            </a:r>
            <a:endParaRPr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731" y="1890712"/>
            <a:ext cx="336232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598293" y="2263228"/>
            <a:ext cx="7961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200">
                <a:solidFill>
                  <a:schemeClr val="accent1"/>
                </a:solidFill>
              </a:rPr>
              <a:t>Pandas </a:t>
            </a:r>
            <a:endParaRPr sz="32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000">
                <a:solidFill>
                  <a:schemeClr val="accent3"/>
                </a:solidFill>
              </a:rPr>
              <a:t>Introduction</a:t>
            </a:r>
            <a:endParaRPr sz="3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935925" y="1302150"/>
            <a:ext cx="37365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Pandas</a:t>
            </a:r>
            <a:r>
              <a:rPr lang="en" sz="1700">
                <a:solidFill>
                  <a:srgbClr val="000000"/>
                </a:solidFill>
              </a:rPr>
              <a:t> is an open-source Python library used for: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Organizing data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Cleaning data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Exploring data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Analyzing data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Preparing data for machine learning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What is Pandas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550" y="1302149"/>
            <a:ext cx="3924477" cy="303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5940025" y="4508825"/>
            <a:ext cx="2736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Pandas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935925" y="1302150"/>
            <a:ext cx="34302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Pandas is used by: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Data Analysts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Data Scientists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Business Analysts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Researchers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Machine Learning Engineers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Who Use Pandas</a:t>
            </a:r>
            <a:endParaRPr/>
          </a:p>
        </p:txBody>
      </p:sp>
      <p:sp>
        <p:nvSpPr>
          <p:cNvPr id="147" name="Google Shape;147;p22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6281417" y="4339469"/>
            <a:ext cx="2736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Source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4">
            <a:alphaModFix/>
          </a:blip>
          <a:srcRect b="0" l="0" r="0" t="24431"/>
          <a:stretch/>
        </p:blipFill>
        <p:spPr>
          <a:xfrm>
            <a:off x="4366125" y="1400488"/>
            <a:ext cx="4651300" cy="234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Imagine</a:t>
            </a:r>
            <a:r>
              <a:rPr lang="en" sz="1400">
                <a:solidFill>
                  <a:srgbClr val="000000"/>
                </a:solidFill>
              </a:rPr>
              <a:t> you are managing data for </a:t>
            </a:r>
            <a:r>
              <a:rPr b="1" lang="en" sz="1400">
                <a:solidFill>
                  <a:srgbClr val="000000"/>
                </a:solidFill>
              </a:rPr>
              <a:t>10,000 students</a:t>
            </a:r>
            <a:r>
              <a:rPr lang="en" sz="1400">
                <a:solidFill>
                  <a:srgbClr val="000000"/>
                </a:solidFill>
              </a:rPr>
              <a:t>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You now have:</a:t>
            </a:r>
            <a:endParaRPr sz="14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400">
                <a:solidFill>
                  <a:srgbClr val="000000"/>
                </a:solidFill>
              </a:rPr>
              <a:t>10,000 names</a:t>
            </a:r>
            <a:endParaRPr sz="14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400">
                <a:solidFill>
                  <a:srgbClr val="000000"/>
                </a:solidFill>
              </a:rPr>
              <a:t>10,000 ages</a:t>
            </a:r>
            <a:endParaRPr sz="14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400">
                <a:solidFill>
                  <a:srgbClr val="000000"/>
                </a:solidFill>
              </a:rPr>
              <a:t>10,000 cities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All stored separately.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accent1"/>
                </a:solidFill>
              </a:rPr>
            </a:br>
            <a:r>
              <a:rPr lang="en" sz="1400">
                <a:solidFill>
                  <a:schemeClr val="accent1"/>
                </a:solidFill>
              </a:rPr>
              <a:t>As datasets grow, managing separate lists becomes difficult and error-prone. </a:t>
            </a:r>
            <a:endParaRPr sz="1400">
              <a:solidFill>
                <a:schemeClr val="accent1"/>
              </a:solidFill>
            </a:endParaRPr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1708076" y="478975"/>
            <a:ext cx="4765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Why not just use Python lists?</a:t>
            </a:r>
            <a:endParaRPr/>
          </a:p>
        </p:txBody>
      </p:sp>
      <p:sp>
        <p:nvSpPr>
          <p:cNvPr id="157" name="Google Shape;157;p23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Why Use Pandas?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6024188" y="1361717"/>
            <a:ext cx="1754100" cy="90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 = [...]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ages = [...]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cities = [...]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178849" y="1620700"/>
            <a:ext cx="32205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Problem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happens if: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student is removed?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value is inserted incorrectly?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 list becomes shorter?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Everything becomes misaligned.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00"/>
              <a:t>Imagine receiving student data: 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1708075" y="478975"/>
            <a:ext cx="613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The Pandas solution: one structured table</a:t>
            </a:r>
            <a:endParaRPr/>
          </a:p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Why Use Pandas?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24"/>
          <p:cNvGraphicFramePr/>
          <p:nvPr/>
        </p:nvGraphicFramePr>
        <p:xfrm>
          <a:off x="952500" y="196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{B5641FAC-0224-44CC-B105-974FEF7EE8D4}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Name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Age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City</a:t>
                      </a:r>
                      <a:endParaRPr b="1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r>
                        <a:rPr lang="en"/>
                        <a:t>bdullah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Riyadh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Jeddah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Ahmed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Dammam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With Pandas: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Everything</a:t>
            </a:r>
            <a:r>
              <a:rPr lang="en" sz="1400">
                <a:solidFill>
                  <a:srgbClr val="000000"/>
                </a:solidFill>
              </a:rPr>
              <a:t> stays together: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1708075" y="478975"/>
            <a:ext cx="62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The Pandas solution: one structured table</a:t>
            </a:r>
            <a:endParaRPr/>
          </a:p>
        </p:txBody>
      </p:sp>
      <p:sp>
        <p:nvSpPr>
          <p:cNvPr id="176" name="Google Shape;176;p25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Why Use Pandas?</a:t>
            </a:r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138" y="1402650"/>
            <a:ext cx="26670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2825" y="3360473"/>
            <a:ext cx="2513550" cy="14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3250" y="1558853"/>
            <a:ext cx="2296200" cy="306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idx="4" type="body"/>
          </p:nvPr>
        </p:nvSpPr>
        <p:spPr>
          <a:xfrm>
            <a:off x="1037566" y="1395469"/>
            <a:ext cx="7200900" cy="299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provides two fundamental structures: </a:t>
            </a:r>
            <a:endParaRPr/>
          </a:p>
        </p:txBody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core structures</a:t>
            </a:r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868675" y="2011675"/>
            <a:ext cx="3238500" cy="1992900"/>
          </a:xfrm>
          <a:prstGeom prst="roundRect">
            <a:avLst>
              <a:gd fmla="val 2500" name="adj"/>
            </a:avLst>
          </a:prstGeom>
          <a:solidFill>
            <a:srgbClr val="F8FAFC"/>
          </a:solidFill>
          <a:ln cap="flat" cmpd="sng" w="86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1055499" y="2186045"/>
            <a:ext cx="28023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771"/>
              <a:buFont typeface="Arial"/>
              <a:buNone/>
            </a:pPr>
            <a:r>
              <a:rPr b="1" i="0" lang="en" sz="1771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i="0" sz="1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1055499" y="2603288"/>
            <a:ext cx="716100" cy="241500"/>
          </a:xfrm>
          <a:prstGeom prst="rect">
            <a:avLst/>
          </a:prstGeom>
          <a:solidFill>
            <a:srgbClr val="F9FAFB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1074182" y="2640653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771659" y="2603288"/>
            <a:ext cx="716100" cy="241500"/>
          </a:xfrm>
          <a:prstGeom prst="rect">
            <a:avLst/>
          </a:prstGeom>
          <a:solidFill>
            <a:srgbClr val="F9FAFB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1790342" y="2640653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2487819" y="2603288"/>
            <a:ext cx="716100" cy="241500"/>
          </a:xfrm>
          <a:prstGeom prst="rect">
            <a:avLst/>
          </a:prstGeom>
          <a:solidFill>
            <a:srgbClr val="F9FAFB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2506501" y="2640653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3203979" y="2603288"/>
            <a:ext cx="716100" cy="241500"/>
          </a:xfrm>
          <a:prstGeom prst="rect">
            <a:avLst/>
          </a:prstGeom>
          <a:solidFill>
            <a:srgbClr val="F9FAFB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6"/>
          <p:cNvSpPr/>
          <p:nvPr/>
        </p:nvSpPr>
        <p:spPr>
          <a:xfrm>
            <a:off x="3222661" y="2640653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1055499" y="2844604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1074182" y="2881969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1771659" y="2844604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/>
          <p:nvPr/>
        </p:nvSpPr>
        <p:spPr>
          <a:xfrm>
            <a:off x="1790342" y="2881969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Abdullah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2487819" y="2844604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2506501" y="2881969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3203979" y="2844604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/>
          <p:nvPr/>
        </p:nvSpPr>
        <p:spPr>
          <a:xfrm>
            <a:off x="3222661" y="2881969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Riyadh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1055499" y="3085919"/>
            <a:ext cx="716100" cy="241500"/>
          </a:xfrm>
          <a:prstGeom prst="rect">
            <a:avLst/>
          </a:prstGeom>
          <a:solidFill>
            <a:srgbClr val="F8FAFC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1074182" y="3123284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1771659" y="3085919"/>
            <a:ext cx="716100" cy="241500"/>
          </a:xfrm>
          <a:prstGeom prst="rect">
            <a:avLst/>
          </a:prstGeom>
          <a:solidFill>
            <a:srgbClr val="F8FAFC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1790342" y="3123284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Sara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2487819" y="3085919"/>
            <a:ext cx="716100" cy="241500"/>
          </a:xfrm>
          <a:prstGeom prst="rect">
            <a:avLst/>
          </a:prstGeom>
          <a:solidFill>
            <a:srgbClr val="F8FAFC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2506501" y="3123284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3203979" y="3085919"/>
            <a:ext cx="716100" cy="241500"/>
          </a:xfrm>
          <a:prstGeom prst="rect">
            <a:avLst/>
          </a:prstGeom>
          <a:solidFill>
            <a:srgbClr val="F8FAFC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3222661" y="3123284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Jeddah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055499" y="3327235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1074182" y="3364600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1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1771659" y="3327235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1790342" y="3364600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Ahmed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2487819" y="3327235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2506501" y="3364600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3203979" y="3327235"/>
            <a:ext cx="7161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3222661" y="3364600"/>
            <a:ext cx="6789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2"/>
              <a:buFont typeface="Arial"/>
              <a:buNone/>
            </a:pPr>
            <a:r>
              <a:rPr b="0" i="0" lang="en" sz="102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Dammam</a:t>
            </a:r>
            <a:endParaRPr b="0" i="0" sz="10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1055499" y="3724238"/>
            <a:ext cx="28647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Full table: multiple related columns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4698573" y="2011675"/>
            <a:ext cx="3238500" cy="1992900"/>
          </a:xfrm>
          <a:prstGeom prst="roundRect">
            <a:avLst>
              <a:gd fmla="val 2500" name="adj"/>
            </a:avLst>
          </a:prstGeom>
          <a:solidFill>
            <a:srgbClr val="F8FAFC"/>
          </a:solidFill>
          <a:ln cap="flat" cmpd="sng" w="86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4885397" y="2186045"/>
            <a:ext cx="28023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DB4E7"/>
              </a:buClr>
              <a:buSzPts val="1771"/>
              <a:buFont typeface="Arial"/>
              <a:buNone/>
            </a:pPr>
            <a:r>
              <a:rPr b="1" i="0" lang="en" sz="1771" u="none" cap="none" strike="noStrike">
                <a:solidFill>
                  <a:srgbClr val="4DB4E7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b="0" i="0" sz="1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5508145" y="2603288"/>
            <a:ext cx="871800" cy="241500"/>
          </a:xfrm>
          <a:prstGeom prst="rect">
            <a:avLst/>
          </a:prstGeom>
          <a:solidFill>
            <a:srgbClr val="F9FAFB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5526827" y="2640653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379991" y="2603288"/>
            <a:ext cx="871800" cy="241500"/>
          </a:xfrm>
          <a:prstGeom prst="rect">
            <a:avLst/>
          </a:prstGeom>
          <a:solidFill>
            <a:srgbClr val="F9FAFB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6398674" y="2640653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3A8C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D63A8C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5508145" y="2844604"/>
            <a:ext cx="8718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5526827" y="2881969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6379991" y="2844604"/>
            <a:ext cx="8718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6398674" y="2881969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5508145" y="3085919"/>
            <a:ext cx="871800" cy="241500"/>
          </a:xfrm>
          <a:prstGeom prst="rect">
            <a:avLst/>
          </a:prstGeom>
          <a:solidFill>
            <a:srgbClr val="F8FAFC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5526827" y="3123284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6379991" y="3085919"/>
            <a:ext cx="871800" cy="241500"/>
          </a:xfrm>
          <a:prstGeom prst="rect">
            <a:avLst/>
          </a:prstGeom>
          <a:solidFill>
            <a:srgbClr val="F8FAFC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6398674" y="3123284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508145" y="3327235"/>
            <a:ext cx="8718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5526827" y="3364600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1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6379991" y="3327235"/>
            <a:ext cx="871800" cy="241500"/>
          </a:xfrm>
          <a:prstGeom prst="rect">
            <a:avLst/>
          </a:prstGeom>
          <a:solidFill>
            <a:srgbClr val="FFFFFF"/>
          </a:solidFill>
          <a:ln cap="flat" cmpd="sng" w="6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75" lIns="62275" spcFirstLastPara="1" rIns="62275" wrap="square" tIns="6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6398674" y="3364600"/>
            <a:ext cx="8343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4885397" y="3724238"/>
            <a:ext cx="28647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90"/>
              <a:buFont typeface="Arial"/>
              <a:buNone/>
            </a:pPr>
            <a:r>
              <a:rPr b="0" i="0" lang="en" sz="109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One labeled column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5988166" y="4642875"/>
            <a:ext cx="22503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"/>
          <p:cNvSpPr txBox="1"/>
          <p:nvPr>
            <p:ph idx="3" type="subTitle"/>
          </p:nvPr>
        </p:nvSpPr>
        <p:spPr>
          <a:xfrm>
            <a:off x="8295875" y="4600181"/>
            <a:ext cx="336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598293" y="2263228"/>
            <a:ext cx="7961100" cy="62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1708081" y="478975"/>
            <a:ext cx="69240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 between Series and Dataframe</a:t>
            </a:r>
            <a:endParaRPr/>
          </a:p>
        </p:txBody>
      </p:sp>
      <p:sp>
        <p:nvSpPr>
          <p:cNvPr id="253" name="Google Shape;253;p28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Series Intro</a:t>
            </a:r>
            <a:endParaRPr/>
          </a:p>
        </p:txBody>
      </p:sp>
      <p:pic>
        <p:nvPicPr>
          <p:cNvPr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23353" r="20912" t="0"/>
          <a:stretch/>
        </p:blipFill>
        <p:spPr>
          <a:xfrm>
            <a:off x="2615937" y="1301275"/>
            <a:ext cx="3132024" cy="31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/>
        </p:nvSpPr>
        <p:spPr>
          <a:xfrm>
            <a:off x="1770700" y="4522925"/>
            <a:ext cx="4928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</a:rPr>
              <a:t>A DataFrame is essentially a collection of Series. 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 series is: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62" name="Google Shape;262;p29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What is Series</a:t>
            </a:r>
            <a:endParaRPr/>
          </a:p>
        </p:txBody>
      </p:sp>
      <p:sp>
        <p:nvSpPr>
          <p:cNvPr id="263" name="Google Shape;263;p29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 Seri</a:t>
            </a:r>
            <a:r>
              <a:rPr lang="en"/>
              <a:t>es</a:t>
            </a:r>
            <a:r>
              <a:rPr lang="en"/>
              <a:t>: What</a:t>
            </a:r>
            <a:endParaRPr/>
          </a:p>
        </p:txBody>
      </p:sp>
      <p:grpSp>
        <p:nvGrpSpPr>
          <p:cNvPr id="264" name="Google Shape;264;p29"/>
          <p:cNvGrpSpPr/>
          <p:nvPr/>
        </p:nvGrpSpPr>
        <p:grpSpPr>
          <a:xfrm>
            <a:off x="1521710" y="1636325"/>
            <a:ext cx="5987870" cy="935400"/>
            <a:chOff x="1521675" y="1636325"/>
            <a:chExt cx="6253650" cy="935400"/>
          </a:xfrm>
        </p:grpSpPr>
        <p:sp>
          <p:nvSpPr>
            <p:cNvPr id="265" name="Google Shape;265;p29"/>
            <p:cNvSpPr/>
            <p:nvPr/>
          </p:nvSpPr>
          <p:spPr>
            <a:xfrm>
              <a:off x="1521675" y="1636325"/>
              <a:ext cx="5878200" cy="935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9"/>
            <p:cNvSpPr txBox="1"/>
            <p:nvPr/>
          </p:nvSpPr>
          <p:spPr>
            <a:xfrm>
              <a:off x="1584225" y="1683225"/>
              <a:ext cx="61911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</a:rPr>
                <a:t>A one-dimensional labeled array capable of holding any data type. </a:t>
              </a:r>
              <a:endParaRPr sz="1700">
                <a:solidFill>
                  <a:schemeClr val="accent1"/>
                </a:solidFill>
              </a:endParaRPr>
            </a:p>
          </p:txBody>
        </p:sp>
      </p:grpSp>
      <p:pic>
        <p:nvPicPr>
          <p:cNvPr id="267" name="Google Shape;267;p29"/>
          <p:cNvPicPr preferRelativeResize="0"/>
          <p:nvPr/>
        </p:nvPicPr>
        <p:blipFill rotWithShape="1">
          <a:blip r:embed="rId3">
            <a:alphaModFix/>
          </a:blip>
          <a:srcRect b="5096" l="11472" r="14514" t="5507"/>
          <a:stretch/>
        </p:blipFill>
        <p:spPr>
          <a:xfrm>
            <a:off x="2417979" y="2728075"/>
            <a:ext cx="3465498" cy="22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type="title"/>
          </p:nvPr>
        </p:nvSpPr>
        <p:spPr>
          <a:xfrm>
            <a:off x="1708078" y="478975"/>
            <a:ext cx="556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Every Series Has an Index and Values</a:t>
            </a:r>
            <a:endParaRPr/>
          </a:p>
        </p:txBody>
      </p:sp>
      <p:sp>
        <p:nvSpPr>
          <p:cNvPr id="274" name="Google Shape;274;p30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 Series: What</a:t>
            </a:r>
            <a:endParaRPr/>
          </a:p>
        </p:txBody>
      </p:sp>
      <p:sp>
        <p:nvSpPr>
          <p:cNvPr id="275" name="Google Shape;275;p30"/>
          <p:cNvSpPr/>
          <p:nvPr/>
        </p:nvSpPr>
        <p:spPr>
          <a:xfrm>
            <a:off x="771776" y="2856025"/>
            <a:ext cx="3599700" cy="687000"/>
          </a:xfrm>
          <a:prstGeom prst="roundRect">
            <a:avLst>
              <a:gd fmla="val 3810" name="adj"/>
            </a:avLst>
          </a:prstGeom>
          <a:solidFill>
            <a:srgbClr val="F4F6F8"/>
          </a:solidFill>
          <a:ln cap="flat" cmpd="sng" w="91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425" lIns="65425" spcFirstLastPara="1" rIns="65425" wrap="square" tIns="6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0"/>
          <p:cNvSpPr/>
          <p:nvPr/>
        </p:nvSpPr>
        <p:spPr>
          <a:xfrm>
            <a:off x="889582" y="2973831"/>
            <a:ext cx="3364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17"/>
              <a:buFont typeface="Arial"/>
              <a:buNone/>
            </a:pPr>
            <a:r>
              <a:rPr b="0" i="0" lang="en" sz="1217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ages.index</a:t>
            </a:r>
            <a:endParaRPr b="0" i="0" sz="1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17"/>
              <a:buFont typeface="Arial"/>
              <a:buNone/>
            </a:pPr>
            <a:r>
              <a:rPr b="0" i="0" lang="en" sz="1217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RangeIndex(start=0, stop=3, step=1)</a:t>
            </a:r>
            <a:endParaRPr b="0" i="0" sz="1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0"/>
          <p:cNvSpPr/>
          <p:nvPr/>
        </p:nvSpPr>
        <p:spPr>
          <a:xfrm>
            <a:off x="4698633" y="2856025"/>
            <a:ext cx="3599700" cy="687000"/>
          </a:xfrm>
          <a:prstGeom prst="roundRect">
            <a:avLst>
              <a:gd fmla="val 3810" name="adj"/>
            </a:avLst>
          </a:prstGeom>
          <a:solidFill>
            <a:srgbClr val="F4F6F8"/>
          </a:solidFill>
          <a:ln cap="flat" cmpd="sng" w="91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425" lIns="65425" spcFirstLastPara="1" rIns="65425" wrap="square" tIns="6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4816439" y="2973831"/>
            <a:ext cx="3364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17"/>
              <a:buFont typeface="Arial"/>
              <a:buNone/>
            </a:pPr>
            <a:r>
              <a:rPr b="0" i="0" lang="en" sz="1217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ages.values</a:t>
            </a:r>
            <a:endParaRPr b="0" i="0" sz="1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17"/>
              <a:buFont typeface="Arial"/>
              <a:buNone/>
            </a:pPr>
            <a:r>
              <a:rPr b="0" i="0" lang="en" sz="1217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array([22, 24, 21])</a:t>
            </a:r>
            <a:endParaRPr b="0" i="0" sz="1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771776" y="3805016"/>
            <a:ext cx="35997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3587"/>
              </a:buClr>
              <a:buSzPts val="1503"/>
              <a:buFont typeface="Arial"/>
              <a:buNone/>
            </a:pPr>
            <a:r>
              <a:rPr b="1" i="0" lang="en" sz="1503" u="none" cap="none" strike="noStrike">
                <a:solidFill>
                  <a:srgbClr val="D73587"/>
                </a:solidFill>
                <a:latin typeface="Arial"/>
                <a:ea typeface="Arial"/>
                <a:cs typeface="Arial"/>
                <a:sym typeface="Arial"/>
              </a:rPr>
              <a:t>Default index</a:t>
            </a:r>
            <a:endParaRPr b="0" i="0" sz="15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4698633" y="3805016"/>
            <a:ext cx="35997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D92"/>
              </a:buClr>
              <a:buSzPts val="1503"/>
              <a:buFont typeface="Arial"/>
              <a:buNone/>
            </a:pPr>
            <a:r>
              <a:rPr b="1" i="0" lang="en" sz="1503" u="none" cap="none" strike="noStrike">
                <a:solidFill>
                  <a:srgbClr val="007D92"/>
                </a:solidFill>
                <a:latin typeface="Arial"/>
                <a:ea typeface="Arial"/>
                <a:cs typeface="Arial"/>
                <a:sym typeface="Arial"/>
              </a:rPr>
              <a:t>Stored data values</a:t>
            </a:r>
            <a:endParaRPr b="0" i="0" sz="15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1071550" y="1278475"/>
            <a:ext cx="42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Define a series:</a:t>
            </a:r>
            <a:endParaRPr/>
          </a:p>
        </p:txBody>
      </p:sp>
      <p:sp>
        <p:nvSpPr>
          <p:cNvPr id="282" name="Google Shape;282;p30"/>
          <p:cNvSpPr/>
          <p:nvPr/>
        </p:nvSpPr>
        <p:spPr>
          <a:xfrm>
            <a:off x="2619553" y="2015349"/>
            <a:ext cx="3831000" cy="504000"/>
          </a:xfrm>
          <a:prstGeom prst="roundRect">
            <a:avLst>
              <a:gd fmla="val 5333" name="adj"/>
            </a:avLst>
          </a:prstGeom>
          <a:solidFill>
            <a:srgbClr val="F4F6F8"/>
          </a:solidFill>
          <a:ln cap="flat" cmpd="sng" w="9325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200" lIns="67200" spcFirstLastPara="1" rIns="67200" wrap="square" tIns="6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2740608" y="2136252"/>
            <a:ext cx="3588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 = pd.Series([22, 24, 21])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with Custom Labels</a:t>
            </a:r>
            <a:endParaRPr/>
          </a:p>
        </p:txBody>
      </p:sp>
      <p:sp>
        <p:nvSpPr>
          <p:cNvPr id="289" name="Google Shape;289;p31"/>
          <p:cNvSpPr txBox="1"/>
          <p:nvPr>
            <p:ph idx="1" type="subTitle"/>
          </p:nvPr>
        </p:nvSpPr>
        <p:spPr>
          <a:xfrm>
            <a:off x="1711441" y="884681"/>
            <a:ext cx="50466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Series: Custom Labels</a:t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814212" y="1179725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</a:rPr>
              <a:t>Custom labels make values easier to identify.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777246" y="1600200"/>
            <a:ext cx="3243000" cy="1025700"/>
          </a:xfrm>
          <a:prstGeom prst="roundRect">
            <a:avLst>
              <a:gd fmla="val 2162" name="adj"/>
            </a:avLst>
          </a:prstGeom>
          <a:solidFill>
            <a:srgbClr val="F4F6F8"/>
          </a:solidFill>
          <a:ln cap="flat" cmpd="sng" w="77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25" lIns="55425" spcFirstLastPara="1" rIns="55425" wrap="square" tIns="5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"/>
          <p:cNvSpPr/>
          <p:nvPr/>
        </p:nvSpPr>
        <p:spPr>
          <a:xfrm>
            <a:off x="877028" y="1699982"/>
            <a:ext cx="30435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970"/>
              <a:buFont typeface="Arial"/>
              <a:buNone/>
            </a:pPr>
            <a:r>
              <a:rPr b="0" i="0" lang="en" sz="117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 = pd.Series(</a:t>
            </a:r>
            <a:endParaRPr b="0" i="0" sz="11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970"/>
              <a:buFont typeface="Arial"/>
              <a:buNone/>
            </a:pPr>
            <a:r>
              <a:rPr b="0" i="0" lang="en" sz="117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    [22, 24, 21],</a:t>
            </a:r>
            <a:endParaRPr b="0" i="0" sz="11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970"/>
              <a:buFont typeface="Arial"/>
              <a:buNone/>
            </a:pPr>
            <a:r>
              <a:rPr b="0" i="0" lang="en" sz="117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    index=["Abdullah", "Sara", "Ahmed"]</a:t>
            </a:r>
            <a:endParaRPr b="0" i="0" sz="11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970"/>
              <a:buFont typeface="Arial"/>
              <a:buNone/>
            </a:pPr>
            <a:r>
              <a:rPr b="0" i="0" lang="en" sz="117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3" name="Google Shape;293;p31"/>
          <p:cNvGraphicFramePr/>
          <p:nvPr/>
        </p:nvGraphicFramePr>
        <p:xfrm>
          <a:off x="518095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1460500"/>
                <a:gridCol w="775875"/>
              </a:tblGrid>
              <a:tr h="41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610"/>
                        <a:buFont typeface="Arial"/>
                        <a:buNone/>
                      </a:pPr>
                      <a:r>
                        <a:rPr b="1" lang="en" sz="1610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610"/>
                        <a:buFont typeface="Arial"/>
                        <a:buNone/>
                      </a:pPr>
                      <a:r>
                        <a:rPr b="1" lang="en" sz="1610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10"/>
                        <a:buFont typeface="Arial"/>
                        <a:buNone/>
                      </a:pPr>
                      <a:r>
                        <a:rPr lang="en" sz="161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10"/>
                        <a:buFont typeface="Arial"/>
                        <a:buNone/>
                      </a:pPr>
                      <a:r>
                        <a:rPr lang="en" sz="161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10"/>
                        <a:buFont typeface="Arial"/>
                        <a:buNone/>
                      </a:pPr>
                      <a:r>
                        <a:rPr lang="en" sz="161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10"/>
                        <a:buFont typeface="Arial"/>
                        <a:buNone/>
                      </a:pPr>
                      <a:r>
                        <a:rPr lang="en" sz="161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10"/>
                        <a:buFont typeface="Arial"/>
                        <a:buNone/>
                      </a:pPr>
                      <a:r>
                        <a:rPr lang="en" sz="161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10"/>
                        <a:buFont typeface="Arial"/>
                        <a:buNone/>
                      </a:pPr>
                      <a:r>
                        <a:rPr lang="en" sz="161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61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31"/>
          <p:cNvSpPr/>
          <p:nvPr/>
        </p:nvSpPr>
        <p:spPr>
          <a:xfrm>
            <a:off x="777240" y="2812507"/>
            <a:ext cx="2926200" cy="777300"/>
          </a:xfrm>
          <a:prstGeom prst="roundRect">
            <a:avLst>
              <a:gd fmla="val 4706" name="adj"/>
            </a:avLst>
          </a:prstGeom>
          <a:solidFill>
            <a:srgbClr val="F4F6F8"/>
          </a:solidFill>
          <a:ln cap="flat" cmpd="sng" w="127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941832" y="2977099"/>
            <a:ext cx="259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800"/>
              <a:buFont typeface="Arial"/>
              <a:buNone/>
            </a:pPr>
            <a:r>
              <a:rPr b="0" i="0" lang="en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ages["Sara"]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800"/>
              <a:buFont typeface="Arial"/>
              <a:buNone/>
            </a:pPr>
            <a:r>
              <a:rPr b="0" i="0" lang="en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retu</a:t>
            </a:r>
            <a:r>
              <a:rPr lang="en">
                <a:solidFill>
                  <a:srgbClr val="1B2A38"/>
                </a:solidFill>
              </a:rPr>
              <a:t>rn </a:t>
            </a:r>
            <a:r>
              <a:rPr b="0" i="0" lang="en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1708075" y="478975"/>
            <a:ext cx="501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When Should You Use a Series?</a:t>
            </a:r>
            <a:endParaRPr/>
          </a:p>
        </p:txBody>
      </p:sp>
      <p:sp>
        <p:nvSpPr>
          <p:cNvPr id="302" name="Google Shape;302;p32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 Series: When</a:t>
            </a:r>
            <a:endParaRPr/>
          </a:p>
        </p:txBody>
      </p:sp>
      <p:sp>
        <p:nvSpPr>
          <p:cNvPr id="303" name="Google Shape;303;p32"/>
          <p:cNvSpPr/>
          <p:nvPr/>
        </p:nvSpPr>
        <p:spPr>
          <a:xfrm>
            <a:off x="730198" y="1538848"/>
            <a:ext cx="76836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41"/>
              <a:buFont typeface="Arial"/>
              <a:buNone/>
            </a:pPr>
            <a:r>
              <a:rPr i="0" lang="en" sz="1241" u="none" cap="none" strike="noStrike">
                <a:solidFill>
                  <a:srgbClr val="111827"/>
                </a:solidFill>
              </a:rPr>
              <a:t>Use a Series when you are focusing on one column, feature, or measurement.</a:t>
            </a:r>
            <a:endParaRPr i="0" sz="1241" u="none" cap="none" strike="noStrike">
              <a:solidFill>
                <a:srgbClr val="000000"/>
              </a:solidFill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528999" y="2126117"/>
            <a:ext cx="3841800" cy="731700"/>
          </a:xfrm>
          <a:prstGeom prst="roundRect">
            <a:avLst>
              <a:gd fmla="val 8000" name="adj"/>
            </a:avLst>
          </a:prstGeom>
          <a:solidFill>
            <a:srgbClr val="E0F2FE"/>
          </a:solidFill>
          <a:ln cap="flat" cmpd="sng" w="101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2"/>
          <p:cNvSpPr/>
          <p:nvPr/>
        </p:nvSpPr>
        <p:spPr>
          <a:xfrm>
            <a:off x="689986" y="2257833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0"/>
              <a:buFont typeface="Arial"/>
              <a:buNone/>
            </a:pPr>
            <a:r>
              <a:rPr b="1" i="0" lang="en" sz="14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Analyze one column</a:t>
            </a:r>
            <a:endParaRPr b="0" i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689986" y="2528583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Age, score, salary, price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4773208" y="2126117"/>
            <a:ext cx="3841800" cy="731700"/>
          </a:xfrm>
          <a:prstGeom prst="roundRect">
            <a:avLst>
              <a:gd fmla="val 8000" name="adj"/>
            </a:avLst>
          </a:prstGeom>
          <a:solidFill>
            <a:srgbClr val="FCE7F3"/>
          </a:solidFill>
          <a:ln cap="flat" cmpd="sng" w="101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2"/>
          <p:cNvSpPr/>
          <p:nvPr/>
        </p:nvSpPr>
        <p:spPr>
          <a:xfrm>
            <a:off x="4934195" y="2257833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0"/>
              <a:buFont typeface="Arial"/>
              <a:buNone/>
            </a:pPr>
            <a:r>
              <a:rPr b="1" i="0" lang="en" sz="14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Calculate statistics</a:t>
            </a:r>
            <a:endParaRPr b="0" i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4934195" y="2528583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mean(), max(), min()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528999" y="3113990"/>
            <a:ext cx="3841800" cy="731700"/>
          </a:xfrm>
          <a:prstGeom prst="roundRect">
            <a:avLst>
              <a:gd fmla="val 8000" name="adj"/>
            </a:avLst>
          </a:prstGeom>
          <a:solidFill>
            <a:srgbClr val="E0F2FE"/>
          </a:solidFill>
          <a:ln cap="flat" cmpd="sng" w="101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2"/>
          <p:cNvSpPr/>
          <p:nvPr/>
        </p:nvSpPr>
        <p:spPr>
          <a:xfrm>
            <a:off x="689986" y="3245706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0"/>
              <a:buFont typeface="Arial"/>
              <a:buNone/>
            </a:pPr>
            <a:r>
              <a:rPr b="1" i="0" lang="en" sz="14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Create filters</a:t>
            </a:r>
            <a:endParaRPr b="0" i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2"/>
          <p:cNvSpPr/>
          <p:nvPr/>
        </p:nvSpPr>
        <p:spPr>
          <a:xfrm>
            <a:off x="689986" y="3516457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df["Age"] &gt; 21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4773208" y="3113990"/>
            <a:ext cx="3841800" cy="731700"/>
          </a:xfrm>
          <a:prstGeom prst="roundRect">
            <a:avLst>
              <a:gd fmla="val 8000" name="adj"/>
            </a:avLst>
          </a:prstGeom>
          <a:solidFill>
            <a:srgbClr val="FCE7F3"/>
          </a:solidFill>
          <a:ln cap="flat" cmpd="sng" w="101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75" lIns="73175" spcFirstLastPara="1" rIns="73175" wrap="square" tIns="7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2"/>
          <p:cNvSpPr/>
          <p:nvPr/>
        </p:nvSpPr>
        <p:spPr>
          <a:xfrm>
            <a:off x="4934195" y="3245706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40"/>
              <a:buFont typeface="Arial"/>
              <a:buNone/>
            </a:pPr>
            <a:r>
              <a:rPr b="1" i="0" lang="en" sz="144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row labels</a:t>
            </a:r>
            <a:endParaRPr b="0" i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4934195" y="3516457"/>
            <a:ext cx="3512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values stay connected to their index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Series Operations</a:t>
            </a:r>
            <a:endParaRPr/>
          </a:p>
        </p:txBody>
      </p:sp>
      <p:sp>
        <p:nvSpPr>
          <p:cNvPr id="321" name="Google Shape;321;p33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Series: Example</a:t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822953" y="1691647"/>
            <a:ext cx="2239800" cy="639900"/>
          </a:xfrm>
          <a:prstGeom prst="roundRect">
            <a:avLst>
              <a:gd fmla="val 4000" name="adj"/>
            </a:avLst>
          </a:prstGeom>
          <a:solidFill>
            <a:srgbClr val="F4F6F8"/>
          </a:solidFill>
          <a:ln cap="flat" cmpd="sng" w="89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75" lIns="63975" spcFirstLastPara="1" rIns="63975" wrap="square" tIns="63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"/>
          <p:cNvSpPr/>
          <p:nvPr/>
        </p:nvSpPr>
        <p:spPr>
          <a:xfrm>
            <a:off x="938147" y="1806840"/>
            <a:ext cx="2009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330"/>
              <a:buFont typeface="Arial"/>
              <a:buNone/>
            </a:pPr>
            <a:r>
              <a:rPr b="0" i="0" lang="en" sz="133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ages.mean()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330"/>
              <a:buFont typeface="Arial"/>
              <a:buNone/>
            </a:pPr>
            <a:r>
              <a:rPr b="0" i="0" lang="en" sz="133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22.33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3350822" y="1691647"/>
            <a:ext cx="2239800" cy="639900"/>
          </a:xfrm>
          <a:prstGeom prst="roundRect">
            <a:avLst>
              <a:gd fmla="val 4000" name="adj"/>
            </a:avLst>
          </a:prstGeom>
          <a:solidFill>
            <a:srgbClr val="F4F6F8"/>
          </a:solidFill>
          <a:ln cap="flat" cmpd="sng" w="89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75" lIns="63975" spcFirstLastPara="1" rIns="63975" wrap="square" tIns="63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3466016" y="1806840"/>
            <a:ext cx="2009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330"/>
              <a:buFont typeface="Arial"/>
              <a:buNone/>
            </a:pPr>
            <a:r>
              <a:rPr b="0" i="0" lang="en" sz="133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ages.max()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330"/>
              <a:buFont typeface="Arial"/>
              <a:buNone/>
            </a:pPr>
            <a:r>
              <a:rPr b="0" i="0" lang="en" sz="133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24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5846692" y="1691647"/>
            <a:ext cx="2367900" cy="991800"/>
          </a:xfrm>
          <a:prstGeom prst="roundRect">
            <a:avLst>
              <a:gd fmla="val 2581" name="adj"/>
            </a:avLst>
          </a:prstGeom>
          <a:solidFill>
            <a:srgbClr val="F4F6F8"/>
          </a:solidFill>
          <a:ln cap="flat" cmpd="sng" w="890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75" lIns="63975" spcFirstLastPara="1" rIns="63975" wrap="square" tIns="63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"/>
          <p:cNvSpPr/>
          <p:nvPr/>
        </p:nvSpPr>
        <p:spPr>
          <a:xfrm>
            <a:off x="5961886" y="1806840"/>
            <a:ext cx="21375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 &gt; 21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Abdullah   True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Sara       True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Ahmed      False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1686908" y="3419548"/>
            <a:ext cx="5663700" cy="608100"/>
          </a:xfrm>
          <a:prstGeom prst="roundRect">
            <a:avLst>
              <a:gd fmla="val 8421" name="adj"/>
            </a:avLst>
          </a:prstGeom>
          <a:solidFill>
            <a:srgbClr val="DDEFF3"/>
          </a:solidFill>
          <a:ln cap="flat" cmpd="sng" w="8900">
            <a:solidFill>
              <a:srgbClr val="BFD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75" lIns="63975" spcFirstLastPara="1" rIns="63975" wrap="square" tIns="63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3"/>
          <p:cNvSpPr/>
          <p:nvPr/>
        </p:nvSpPr>
        <p:spPr>
          <a:xfrm>
            <a:off x="1814901" y="3528342"/>
            <a:ext cx="54078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90"/>
              <a:buFont typeface="Arial"/>
              <a:buNone/>
            </a:pPr>
            <a:r>
              <a:rPr b="0" i="0" lang="en" sz="119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These same ideas will appear again when we filter DataFrames.</a:t>
            </a:r>
            <a:endParaRPr b="0" i="0" sz="11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>
            <p:ph type="title"/>
          </p:nvPr>
        </p:nvSpPr>
        <p:spPr>
          <a:xfrm>
            <a:off x="598293" y="2263228"/>
            <a:ext cx="7961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200">
                <a:solidFill>
                  <a:schemeClr val="accent1"/>
                </a:solidFill>
              </a:rPr>
              <a:t>Pandas</a:t>
            </a:r>
            <a:endParaRPr sz="32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000">
                <a:solidFill>
                  <a:schemeClr val="accent3"/>
                </a:solidFill>
              </a:rPr>
              <a:t>DataFrame</a:t>
            </a:r>
            <a:endParaRPr sz="3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Series to DataFrame</a:t>
            </a:r>
            <a:endParaRPr/>
          </a:p>
        </p:txBody>
      </p:sp>
      <p:sp>
        <p:nvSpPr>
          <p:cNvPr id="340" name="Google Shape;340;p35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Series to DataFrame</a:t>
            </a:r>
            <a:endParaRPr/>
          </a:p>
        </p:txBody>
      </p:sp>
      <p:sp>
        <p:nvSpPr>
          <p:cNvPr id="341" name="Google Shape;341;p35"/>
          <p:cNvSpPr/>
          <p:nvPr/>
        </p:nvSpPr>
        <p:spPr>
          <a:xfrm>
            <a:off x="777262" y="1286788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Series is useful. Real datasets usually have multiple related Series.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777247" y="1856222"/>
            <a:ext cx="3874200" cy="1124700"/>
          </a:xfrm>
          <a:prstGeom prst="roundRect">
            <a:avLst>
              <a:gd fmla="val 2222" name="adj"/>
            </a:avLst>
          </a:prstGeom>
          <a:solidFill>
            <a:srgbClr val="F4F6F8"/>
          </a:solidFill>
          <a:ln cap="flat" cmpd="sng" w="8675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475" lIns="62475" spcFirstLastPara="1" rIns="62475" wrap="square" tIns="6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889725" y="1968700"/>
            <a:ext cx="36492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9"/>
              <a:buFont typeface="Arial"/>
              <a:buNone/>
            </a:pPr>
            <a:r>
              <a:rPr b="0" i="0" lang="en" sz="1059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names  = pd.Series(["Abdullah", "Sara", "Ahmed"])</a:t>
            </a:r>
            <a:endParaRPr b="0" i="0" sz="10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9"/>
              <a:buFont typeface="Arial"/>
              <a:buNone/>
            </a:pPr>
            <a:r>
              <a:rPr b="0" i="0" lang="en" sz="1059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ages   = pd.Series([22, 24, 21])</a:t>
            </a:r>
            <a:endParaRPr b="0" i="0" sz="10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59"/>
              <a:buFont typeface="Arial"/>
              <a:buNone/>
            </a:pPr>
            <a:r>
              <a:rPr b="0" i="0" lang="en" sz="1059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cities = pd.Series(["Riyadh", "Jeddah", "Dammam"])</a:t>
            </a:r>
            <a:endParaRPr b="0" i="0" sz="10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5275150" y="1856225"/>
            <a:ext cx="3567300" cy="751200"/>
          </a:xfrm>
          <a:prstGeom prst="roundRect">
            <a:avLst>
              <a:gd fmla="val 8000" name="adj"/>
            </a:avLst>
          </a:prstGeom>
          <a:solidFill>
            <a:srgbClr val="DDEFF3"/>
          </a:solidFill>
          <a:ln cap="flat" cmpd="sng" w="10450">
            <a:solidFill>
              <a:srgbClr val="BFD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75" lIns="75075" spcFirstLastPara="1" rIns="75075" wrap="square" tIns="7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5425352" y="1983897"/>
            <a:ext cx="32670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396"/>
              <a:buFont typeface="Arial"/>
              <a:buNone/>
            </a:pPr>
            <a:r>
              <a:rPr b="0" i="0" lang="en" sz="1396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A DataFrame brings related Series together into one table.</a:t>
            </a:r>
            <a:endParaRPr b="0" i="0" sz="139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6" name="Google Shape;346;p35"/>
          <p:cNvGraphicFramePr/>
          <p:nvPr/>
        </p:nvGraphicFramePr>
        <p:xfrm>
          <a:off x="5275155" y="2868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365600"/>
                <a:gridCol w="1030300"/>
                <a:gridCol w="498550"/>
                <a:gridCol w="963850"/>
              </a:tblGrid>
              <a:tr h="28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48"/>
                        <a:buFont typeface="Arial"/>
                        <a:buNone/>
                      </a:pPr>
                      <a:r>
                        <a:t/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248"/>
                        <a:buFont typeface="Arial"/>
                        <a:buNone/>
                      </a:pPr>
                      <a:r>
                        <a:rPr b="1" lang="en" sz="1248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248"/>
                        <a:buFont typeface="Arial"/>
                        <a:buNone/>
                      </a:pPr>
                      <a:r>
                        <a:rPr b="1" lang="en" sz="1248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248"/>
                        <a:buFont typeface="Arial"/>
                        <a:buNone/>
                      </a:pPr>
                      <a:r>
                        <a:rPr b="1" lang="en" sz="1248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Riyadh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Jeddah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1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248"/>
                        <a:buFont typeface="Arial"/>
                        <a:buNone/>
                      </a:pPr>
                      <a:r>
                        <a:rPr lang="en" sz="1248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Dammam</a:t>
                      </a:r>
                      <a:endParaRPr sz="1248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 dataframe is: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Think Of It As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Excel Spreadsheet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SQL Table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Student Records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353" name="Google Shape;353;p36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DataFrame</a:t>
            </a:r>
            <a:endParaRPr/>
          </a:p>
        </p:txBody>
      </p:sp>
      <p:sp>
        <p:nvSpPr>
          <p:cNvPr id="354" name="Google Shape;354;p36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 </a:t>
            </a:r>
            <a:r>
              <a:rPr lang="en"/>
              <a:t>DataFrame: What</a:t>
            </a:r>
            <a:endParaRPr/>
          </a:p>
        </p:txBody>
      </p:sp>
      <p:grpSp>
        <p:nvGrpSpPr>
          <p:cNvPr id="355" name="Google Shape;355;p36"/>
          <p:cNvGrpSpPr/>
          <p:nvPr/>
        </p:nvGrpSpPr>
        <p:grpSpPr>
          <a:xfrm>
            <a:off x="1521675" y="1636325"/>
            <a:ext cx="5878200" cy="935400"/>
            <a:chOff x="1521675" y="1636325"/>
            <a:chExt cx="5878200" cy="935400"/>
          </a:xfrm>
        </p:grpSpPr>
        <p:sp>
          <p:nvSpPr>
            <p:cNvPr id="356" name="Google Shape;356;p36"/>
            <p:cNvSpPr/>
            <p:nvPr/>
          </p:nvSpPr>
          <p:spPr>
            <a:xfrm>
              <a:off x="1521675" y="1636325"/>
              <a:ext cx="5878200" cy="935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1584225" y="1683225"/>
              <a:ext cx="57219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</a:rPr>
                <a:t>A two-dimensional tabular structure consisting of rows and columns. </a:t>
              </a:r>
              <a:endParaRPr sz="1700">
                <a:solidFill>
                  <a:schemeClr val="accent1"/>
                </a:solidFill>
              </a:endParaRPr>
            </a:p>
          </p:txBody>
        </p:sp>
      </p:grpSp>
      <p:graphicFrame>
        <p:nvGraphicFramePr>
          <p:cNvPr id="358" name="Google Shape;358;p36"/>
          <p:cNvGraphicFramePr/>
          <p:nvPr/>
        </p:nvGraphicFramePr>
        <p:xfrm>
          <a:off x="4321225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410750"/>
                <a:gridCol w="1157575"/>
                <a:gridCol w="560125"/>
                <a:gridCol w="1082900"/>
              </a:tblGrid>
              <a:tr h="33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25"/>
                        <a:buFont typeface="Arial"/>
                        <a:buNone/>
                      </a:pPr>
                      <a:r>
                        <a:t/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625"/>
                        <a:buFont typeface="Arial"/>
                        <a:buNone/>
                      </a:pPr>
                      <a:r>
                        <a:rPr b="1" lang="en" sz="1625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625"/>
                        <a:buFont typeface="Arial"/>
                        <a:buNone/>
                      </a:pPr>
                      <a:r>
                        <a:rPr b="1" lang="en" sz="1625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625"/>
                        <a:buFont typeface="Arial"/>
                        <a:buNone/>
                      </a:pPr>
                      <a:r>
                        <a:rPr b="1" lang="en" sz="1625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Riyadh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Jeddah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625"/>
                        <a:buFont typeface="Arial"/>
                        <a:buNone/>
                      </a:pPr>
                      <a:r>
                        <a:rPr lang="en" sz="1625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Dammam</a:t>
                      </a:r>
                      <a:endParaRPr sz="1625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36"/>
          <p:cNvSpPr/>
          <p:nvPr/>
        </p:nvSpPr>
        <p:spPr>
          <a:xfrm>
            <a:off x="4731975" y="2755025"/>
            <a:ext cx="1157700" cy="329100"/>
          </a:xfrm>
          <a:prstGeom prst="roundRect">
            <a:avLst>
              <a:gd fmla="val 13889" name="adj"/>
            </a:avLst>
          </a:prstGeom>
          <a:solidFill>
            <a:srgbClr val="385F9D"/>
          </a:solidFill>
          <a:ln cap="flat" cmpd="sng" w="12700">
            <a:solidFill>
              <a:srgbClr val="385F9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4831200" y="2828177"/>
            <a:ext cx="959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3315330" y="3533320"/>
            <a:ext cx="1005900" cy="329100"/>
          </a:xfrm>
          <a:prstGeom prst="roundRect">
            <a:avLst>
              <a:gd fmla="val 13889" name="adj"/>
            </a:avLst>
          </a:prstGeom>
          <a:solidFill>
            <a:schemeClr val="accent2"/>
          </a:solidFill>
          <a:ln cap="flat" cmpd="sng" w="12700">
            <a:solidFill>
              <a:schemeClr val="accent2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3425058" y="3606472"/>
            <a:ext cx="786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4321225" y="2755025"/>
            <a:ext cx="410700" cy="329100"/>
          </a:xfrm>
          <a:prstGeom prst="roundRect">
            <a:avLst>
              <a:gd fmla="val 13889" name="adj"/>
            </a:avLst>
          </a:prstGeom>
          <a:solidFill>
            <a:srgbClr val="D73587"/>
          </a:solidFill>
          <a:ln cap="flat" cmpd="sng" w="12700">
            <a:solidFill>
              <a:srgbClr val="D7358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4366031" y="2828177"/>
            <a:ext cx="321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7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Result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 structured table ready for analysis.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371" name="Google Shape;371;p37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Creating a DataFrame</a:t>
            </a:r>
            <a:endParaRPr/>
          </a:p>
        </p:txBody>
      </p:sp>
      <p:sp>
        <p:nvSpPr>
          <p:cNvPr id="372" name="Google Shape;372;p37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Pandas DataFrame: Create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373" name="Google Shape;3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393" y="1359784"/>
            <a:ext cx="47815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8525" y="2879863"/>
            <a:ext cx="31813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 DataFrame?</a:t>
            </a:r>
            <a:endParaRPr/>
          </a:p>
        </p:txBody>
      </p:sp>
      <p:sp>
        <p:nvSpPr>
          <p:cNvPr id="380" name="Google Shape;380;p38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DataFrame: Why</a:t>
            </a:r>
            <a:endParaRPr/>
          </a:p>
        </p:txBody>
      </p:sp>
      <p:sp>
        <p:nvSpPr>
          <p:cNvPr id="381" name="Google Shape;381;p38"/>
          <p:cNvSpPr/>
          <p:nvPr/>
        </p:nvSpPr>
        <p:spPr>
          <a:xfrm>
            <a:off x="667504" y="1281950"/>
            <a:ext cx="7081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45"/>
              <a:buFont typeface="Arial"/>
              <a:buNone/>
            </a:pPr>
            <a:r>
              <a:rPr b="0" i="0" lang="en" sz="124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keeps related data together and makes analysis easier.</a:t>
            </a:r>
            <a:endParaRPr b="0" i="0" sz="12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8"/>
          <p:cNvSpPr/>
          <p:nvPr/>
        </p:nvSpPr>
        <p:spPr>
          <a:xfrm>
            <a:off x="976649" y="1845150"/>
            <a:ext cx="2406900" cy="1453200"/>
          </a:xfrm>
          <a:prstGeom prst="roundRect">
            <a:avLst>
              <a:gd fmla="val 2188" name="adj"/>
            </a:avLst>
          </a:prstGeom>
          <a:solidFill>
            <a:srgbClr val="FFF3E6"/>
          </a:solidFill>
          <a:ln cap="flat" cmpd="sng" w="6300">
            <a:solidFill>
              <a:srgbClr val="F5D3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400" lIns="45400" spcFirstLastPara="1" rIns="45400" wrap="square" tIns="4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7"/>
          </a:p>
        </p:txBody>
      </p:sp>
      <p:sp>
        <p:nvSpPr>
          <p:cNvPr id="383" name="Google Shape;383;p38"/>
          <p:cNvSpPr/>
          <p:nvPr/>
        </p:nvSpPr>
        <p:spPr>
          <a:xfrm>
            <a:off x="667345" y="1954361"/>
            <a:ext cx="302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ts val="1549"/>
              <a:buFont typeface="Arial"/>
              <a:buNone/>
            </a:pPr>
            <a:r>
              <a:rPr b="1" i="0" lang="en" sz="1149" u="none" cap="none" strike="noStrike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Separate lists</a:t>
            </a:r>
            <a:endParaRPr b="0" i="0" sz="11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8"/>
          <p:cNvSpPr/>
          <p:nvPr/>
        </p:nvSpPr>
        <p:spPr>
          <a:xfrm>
            <a:off x="1158288" y="2253825"/>
            <a:ext cx="20433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Easy to misalign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Harder to filter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Harder to summarize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Harder to inspect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8"/>
          <p:cNvSpPr/>
          <p:nvPr/>
        </p:nvSpPr>
        <p:spPr>
          <a:xfrm>
            <a:off x="976798" y="3312422"/>
            <a:ext cx="2406900" cy="1453200"/>
          </a:xfrm>
          <a:prstGeom prst="roundRect">
            <a:avLst>
              <a:gd fmla="val 2188" name="adj"/>
            </a:avLst>
          </a:prstGeom>
          <a:solidFill>
            <a:srgbClr val="DDEFF3"/>
          </a:solidFill>
          <a:ln cap="flat" cmpd="sng" w="6325">
            <a:solidFill>
              <a:srgbClr val="BFD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8"/>
          <p:cNvSpPr/>
          <p:nvPr/>
        </p:nvSpPr>
        <p:spPr>
          <a:xfrm>
            <a:off x="667354" y="3468961"/>
            <a:ext cx="302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D92"/>
              </a:buClr>
              <a:buSzPts val="1549"/>
              <a:buFont typeface="Arial"/>
              <a:buNone/>
            </a:pPr>
            <a:r>
              <a:rPr b="1" i="0" lang="en" sz="1149" u="none" cap="none" strike="noStrike">
                <a:solidFill>
                  <a:srgbClr val="007D92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i="0" sz="11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8"/>
          <p:cNvSpPr/>
          <p:nvPr/>
        </p:nvSpPr>
        <p:spPr>
          <a:xfrm>
            <a:off x="1158459" y="3721158"/>
            <a:ext cx="20436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One structured table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Rows stay together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Columns have names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3"/>
              <a:buFont typeface="Arial"/>
              <a:buNone/>
            </a:pPr>
            <a:r>
              <a:rPr b="0" i="0" lang="en" sz="104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Built-in analysis tools</a:t>
            </a:r>
            <a:endParaRPr b="0" i="0" sz="10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425" y="2057800"/>
            <a:ext cx="4502349" cy="2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>
            <p:ph type="title"/>
          </p:nvPr>
        </p:nvSpPr>
        <p:spPr>
          <a:xfrm>
            <a:off x="1708079" y="478975"/>
            <a:ext cx="61551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Should You Use a DataFrame?</a:t>
            </a:r>
            <a:endParaRPr/>
          </a:p>
        </p:txBody>
      </p:sp>
      <p:sp>
        <p:nvSpPr>
          <p:cNvPr id="394" name="Google Shape;394;p39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DataFrame: When</a:t>
            </a:r>
            <a:endParaRPr/>
          </a:p>
        </p:txBody>
      </p:sp>
      <p:sp>
        <p:nvSpPr>
          <p:cNvPr id="395" name="Google Shape;395;p39"/>
          <p:cNvSpPr/>
          <p:nvPr/>
        </p:nvSpPr>
        <p:spPr>
          <a:xfrm>
            <a:off x="847079" y="1308088"/>
            <a:ext cx="70146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37"/>
              <a:buFont typeface="Arial"/>
              <a:buNone/>
            </a:pPr>
            <a:r>
              <a:rPr b="0" i="0" lang="en" sz="1237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 DataFrame when your data has multiple related columns.</a:t>
            </a:r>
            <a:endParaRPr b="0" i="0" sz="1237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9"/>
          <p:cNvSpPr/>
          <p:nvPr/>
        </p:nvSpPr>
        <p:spPr>
          <a:xfrm>
            <a:off x="847077" y="1828607"/>
            <a:ext cx="3347700" cy="752400"/>
          </a:xfrm>
          <a:prstGeom prst="roundRect">
            <a:avLst>
              <a:gd fmla="val 5085" name="adj"/>
            </a:avLst>
          </a:prstGeom>
          <a:solidFill>
            <a:srgbClr val="DDEFF3"/>
          </a:solidFill>
          <a:ln cap="flat" cmpd="sng" w="88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50" lIns="63750" spcFirstLastPara="1" rIns="63750" wrap="square" tIns="6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9"/>
          <p:cNvSpPr/>
          <p:nvPr/>
        </p:nvSpPr>
        <p:spPr>
          <a:xfrm>
            <a:off x="1006497" y="1943389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D92"/>
              </a:buClr>
              <a:buSzPts val="1325"/>
              <a:buFont typeface="Arial"/>
              <a:buNone/>
            </a:pPr>
            <a:r>
              <a:rPr b="1" i="0" lang="en" sz="1325" u="none" cap="none" strike="noStrike">
                <a:solidFill>
                  <a:srgbClr val="007D92"/>
                </a:solidFill>
                <a:latin typeface="Arial"/>
                <a:ea typeface="Arial"/>
                <a:cs typeface="Arial"/>
                <a:sym typeface="Arial"/>
              </a:rPr>
              <a:t>CSV / Excel files</a:t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9"/>
          <p:cNvSpPr/>
          <p:nvPr/>
        </p:nvSpPr>
        <p:spPr>
          <a:xfrm>
            <a:off x="1006497" y="2211214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6"/>
              <a:buFont typeface="Arial"/>
              <a:buNone/>
            </a:pPr>
            <a:r>
              <a:rPr b="0" i="0" lang="en" sz="1046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Rows and columns of records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9"/>
          <p:cNvSpPr/>
          <p:nvPr/>
        </p:nvSpPr>
        <p:spPr>
          <a:xfrm>
            <a:off x="4609386" y="1828607"/>
            <a:ext cx="3347700" cy="752400"/>
          </a:xfrm>
          <a:prstGeom prst="roundRect">
            <a:avLst>
              <a:gd fmla="val 5085" name="adj"/>
            </a:avLst>
          </a:prstGeom>
          <a:solidFill>
            <a:srgbClr val="F5EAF3"/>
          </a:solidFill>
          <a:ln cap="flat" cmpd="sng" w="88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50" lIns="63750" spcFirstLastPara="1" rIns="63750" wrap="square" tIns="6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9"/>
          <p:cNvSpPr/>
          <p:nvPr/>
        </p:nvSpPr>
        <p:spPr>
          <a:xfrm>
            <a:off x="4768806" y="1943389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3587"/>
              </a:buClr>
              <a:buSzPts val="1325"/>
              <a:buFont typeface="Arial"/>
              <a:buNone/>
            </a:pPr>
            <a:r>
              <a:rPr b="1" i="0" lang="en" sz="1325" u="none" cap="none" strike="noStrike">
                <a:solidFill>
                  <a:srgbClr val="D73587"/>
                </a:solidFill>
                <a:latin typeface="Arial"/>
                <a:ea typeface="Arial"/>
                <a:cs typeface="Arial"/>
                <a:sym typeface="Arial"/>
              </a:rPr>
              <a:t>Student or customer data</a:t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4768806" y="2211214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6"/>
              <a:buFont typeface="Arial"/>
              <a:buNone/>
            </a:pPr>
            <a:r>
              <a:rPr b="0" i="0" lang="en" sz="1046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Multiple attributes per person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9"/>
          <p:cNvSpPr/>
          <p:nvPr/>
        </p:nvSpPr>
        <p:spPr>
          <a:xfrm>
            <a:off x="847077" y="2861647"/>
            <a:ext cx="3347700" cy="752400"/>
          </a:xfrm>
          <a:prstGeom prst="roundRect">
            <a:avLst>
              <a:gd fmla="val 5085" name="adj"/>
            </a:avLst>
          </a:prstGeom>
          <a:solidFill>
            <a:srgbClr val="DDEFF3"/>
          </a:solidFill>
          <a:ln cap="flat" cmpd="sng" w="88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50" lIns="63750" spcFirstLastPara="1" rIns="63750" wrap="square" tIns="6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9"/>
          <p:cNvSpPr/>
          <p:nvPr/>
        </p:nvSpPr>
        <p:spPr>
          <a:xfrm>
            <a:off x="1006497" y="2976429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D92"/>
              </a:buClr>
              <a:buSzPts val="1325"/>
              <a:buFont typeface="Arial"/>
              <a:buNone/>
            </a:pPr>
            <a:r>
              <a:rPr b="1" i="0" lang="en" sz="1325" u="none" cap="none" strike="noStrike">
                <a:solidFill>
                  <a:srgbClr val="007D92"/>
                </a:solidFill>
                <a:latin typeface="Arial"/>
                <a:ea typeface="Arial"/>
                <a:cs typeface="Arial"/>
                <a:sym typeface="Arial"/>
              </a:rPr>
              <a:t>Filtering rows</a:t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9"/>
          <p:cNvSpPr/>
          <p:nvPr/>
        </p:nvSpPr>
        <p:spPr>
          <a:xfrm>
            <a:off x="1006497" y="3244254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6"/>
              <a:buFont typeface="Arial"/>
              <a:buNone/>
            </a:pPr>
            <a:r>
              <a:rPr b="0" i="0" lang="en" sz="1046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Find records that match a condition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9"/>
          <p:cNvSpPr/>
          <p:nvPr/>
        </p:nvSpPr>
        <p:spPr>
          <a:xfrm>
            <a:off x="4609386" y="2861647"/>
            <a:ext cx="3347700" cy="752400"/>
          </a:xfrm>
          <a:prstGeom prst="roundRect">
            <a:avLst>
              <a:gd fmla="val 5085" name="adj"/>
            </a:avLst>
          </a:prstGeom>
          <a:solidFill>
            <a:srgbClr val="F5EAF3"/>
          </a:solidFill>
          <a:ln cap="flat" cmpd="sng" w="88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50" lIns="63750" spcFirstLastPara="1" rIns="63750" wrap="square" tIns="63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9"/>
          <p:cNvSpPr/>
          <p:nvPr/>
        </p:nvSpPr>
        <p:spPr>
          <a:xfrm>
            <a:off x="4768806" y="2976429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3587"/>
              </a:buClr>
              <a:buSzPts val="1325"/>
              <a:buFont typeface="Arial"/>
              <a:buNone/>
            </a:pPr>
            <a:r>
              <a:rPr b="1" i="0" lang="en" sz="1325" u="none" cap="none" strike="noStrike">
                <a:solidFill>
                  <a:srgbClr val="D73587"/>
                </a:solidFill>
                <a:latin typeface="Arial"/>
                <a:ea typeface="Arial"/>
                <a:cs typeface="Arial"/>
                <a:sym typeface="Arial"/>
              </a:rPr>
              <a:t>Summarizing tables</a:t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9"/>
          <p:cNvSpPr/>
          <p:nvPr/>
        </p:nvSpPr>
        <p:spPr>
          <a:xfrm>
            <a:off x="4768806" y="3244254"/>
            <a:ext cx="3029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046"/>
              <a:buFont typeface="Arial"/>
              <a:buNone/>
            </a:pPr>
            <a:r>
              <a:rPr b="0" i="0" lang="en" sz="1046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Calculate averages, counts, and totals</a:t>
            </a:r>
            <a:endParaRPr b="0" i="0" sz="10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9"/>
          <p:cNvSpPr/>
          <p:nvPr/>
        </p:nvSpPr>
        <p:spPr>
          <a:xfrm>
            <a:off x="910845" y="4105120"/>
            <a:ext cx="70146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534"/>
              <a:buFont typeface="Arial"/>
              <a:buNone/>
            </a:pPr>
            <a:r>
              <a:rPr b="1" i="0" lang="en" sz="1534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Most Pandas workflows start by loading data into a DataFrame.</a:t>
            </a:r>
            <a:endParaRPr b="0" i="0" sz="15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DataFrame Statistics</a:t>
            </a:r>
            <a:endParaRPr/>
          </a:p>
        </p:txBody>
      </p:sp>
      <p:sp>
        <p:nvSpPr>
          <p:cNvPr id="414" name="Google Shape;414;p40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DataFrame: Example</a:t>
            </a:r>
            <a:endParaRPr/>
          </a:p>
        </p:txBody>
      </p:sp>
      <p:sp>
        <p:nvSpPr>
          <p:cNvPr id="415" name="Google Shape;415;p40"/>
          <p:cNvSpPr/>
          <p:nvPr/>
        </p:nvSpPr>
        <p:spPr>
          <a:xfrm>
            <a:off x="667507" y="1431225"/>
            <a:ext cx="42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 can answer table questions with short commands.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6" name="Google Shape;416;p40"/>
          <p:cNvGraphicFramePr/>
          <p:nvPr/>
        </p:nvGraphicFramePr>
        <p:xfrm>
          <a:off x="667505" y="2005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502925"/>
                <a:gridCol w="1417325"/>
                <a:gridCol w="685800"/>
                <a:gridCol w="1325875"/>
              </a:tblGrid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Riyadh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Jeddah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Dammam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7" name="Google Shape;417;p40"/>
          <p:cNvSpPr/>
          <p:nvPr/>
        </p:nvSpPr>
        <p:spPr>
          <a:xfrm>
            <a:off x="4982002" y="1989441"/>
            <a:ext cx="1742400" cy="591300"/>
          </a:xfrm>
          <a:prstGeom prst="roundRect">
            <a:avLst>
              <a:gd fmla="val 4211" name="adj"/>
            </a:avLst>
          </a:prstGeom>
          <a:solidFill>
            <a:srgbClr val="F4F6F8"/>
          </a:solidFill>
          <a:ln cap="flat" cmpd="sng" w="86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25" lIns="62225" spcFirstLastPara="1" rIns="62225" wrap="square" tIns="6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3"/>
          </a:p>
        </p:txBody>
      </p:sp>
      <p:sp>
        <p:nvSpPr>
          <p:cNvPr id="418" name="Google Shape;418;p40"/>
          <p:cNvSpPr/>
          <p:nvPr/>
        </p:nvSpPr>
        <p:spPr>
          <a:xfrm>
            <a:off x="5094013" y="2101453"/>
            <a:ext cx="15183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df["Age"].mean()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22.33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0"/>
          <p:cNvSpPr/>
          <p:nvPr/>
        </p:nvSpPr>
        <p:spPr>
          <a:xfrm>
            <a:off x="7066658" y="1989441"/>
            <a:ext cx="1742400" cy="591300"/>
          </a:xfrm>
          <a:prstGeom prst="roundRect">
            <a:avLst>
              <a:gd fmla="val 4211" name="adj"/>
            </a:avLst>
          </a:prstGeom>
          <a:solidFill>
            <a:srgbClr val="F4F6F8"/>
          </a:solidFill>
          <a:ln cap="flat" cmpd="sng" w="86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25" lIns="62225" spcFirstLastPara="1" rIns="62225" wrap="square" tIns="6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0"/>
          <p:cNvSpPr/>
          <p:nvPr/>
        </p:nvSpPr>
        <p:spPr>
          <a:xfrm>
            <a:off x="7178670" y="2101453"/>
            <a:ext cx="15183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df["Age"].max()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24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4982002" y="2985107"/>
            <a:ext cx="1742400" cy="591300"/>
          </a:xfrm>
          <a:prstGeom prst="roundRect">
            <a:avLst>
              <a:gd fmla="val 4211" name="adj"/>
            </a:avLst>
          </a:prstGeom>
          <a:solidFill>
            <a:srgbClr val="F4F6F8"/>
          </a:solidFill>
          <a:ln cap="flat" cmpd="sng" w="86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25" lIns="62225" spcFirstLastPara="1" rIns="62225" wrap="square" tIns="6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0"/>
          <p:cNvSpPr/>
          <p:nvPr/>
        </p:nvSpPr>
        <p:spPr>
          <a:xfrm>
            <a:off x="5094013" y="3097120"/>
            <a:ext cx="15183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df["City"].count()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3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0"/>
          <p:cNvSpPr/>
          <p:nvPr/>
        </p:nvSpPr>
        <p:spPr>
          <a:xfrm>
            <a:off x="7066658" y="2985107"/>
            <a:ext cx="1742400" cy="591300"/>
          </a:xfrm>
          <a:prstGeom prst="roundRect">
            <a:avLst>
              <a:gd fmla="val 4211" name="adj"/>
            </a:avLst>
          </a:prstGeom>
          <a:solidFill>
            <a:srgbClr val="F4F6F8"/>
          </a:solidFill>
          <a:ln cap="flat" cmpd="sng" w="8650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225" lIns="62225" spcFirstLastPara="1" rIns="62225" wrap="square" tIns="6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0"/>
          <p:cNvSpPr/>
          <p:nvPr/>
        </p:nvSpPr>
        <p:spPr>
          <a:xfrm>
            <a:off x="7178670" y="3097120"/>
            <a:ext cx="15183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df["Age"].min()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225"/>
              <a:buFont typeface="Arial"/>
              <a:buNone/>
            </a:pPr>
            <a:r>
              <a:rPr b="0" i="0" lang="en" sz="1225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21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Indexes identify rows.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Custom Index: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431" name="Google Shape;431;p41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Indexes</a:t>
            </a:r>
            <a:endParaRPr/>
          </a:p>
        </p:txBody>
      </p:sp>
      <p:sp>
        <p:nvSpPr>
          <p:cNvPr id="432" name="Google Shape;432;p41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DataFrame</a:t>
            </a:r>
            <a:endParaRPr/>
          </a:p>
        </p:txBody>
      </p:sp>
      <p:pic>
        <p:nvPicPr>
          <p:cNvPr id="433" name="Google Shape;4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421" y="1651965"/>
            <a:ext cx="41814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915" y="3529287"/>
            <a:ext cx="32956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9013" y="2790000"/>
            <a:ext cx="3209925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/>
          <p:nvPr>
            <p:ph type="title"/>
          </p:nvPr>
        </p:nvSpPr>
        <p:spPr>
          <a:xfrm>
            <a:off x="598293" y="2263228"/>
            <a:ext cx="7961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200">
                <a:solidFill>
                  <a:schemeClr val="accent1"/>
                </a:solidFill>
              </a:rPr>
              <a:t>Pandas</a:t>
            </a:r>
            <a:endParaRPr sz="32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3000">
                <a:solidFill>
                  <a:schemeClr val="accent3"/>
                </a:solidFill>
              </a:rPr>
              <a:t>Index</a:t>
            </a:r>
            <a:endParaRPr sz="3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Index?</a:t>
            </a:r>
            <a:endParaRPr/>
          </a:p>
        </p:txBody>
      </p:sp>
      <p:sp>
        <p:nvSpPr>
          <p:cNvPr id="446" name="Google Shape;446;p43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447" name="Google Shape;447;p43"/>
          <p:cNvSpPr/>
          <p:nvPr/>
        </p:nvSpPr>
        <p:spPr>
          <a:xfrm>
            <a:off x="868677" y="1250400"/>
            <a:ext cx="6477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i="0" lang="en" sz="1250" u="none" cap="none" strike="noStrike">
                <a:solidFill>
                  <a:srgbClr val="111827"/>
                </a:solidFill>
              </a:rPr>
              <a:t>An index identifies rows or values. Pandas creates one automatically if we do not provide it.</a:t>
            </a:r>
            <a:endParaRPr i="0" sz="1250" u="none" cap="none" strike="noStrike">
              <a:solidFill>
                <a:srgbClr val="111827"/>
              </a:solidFill>
            </a:endParaRPr>
          </a:p>
        </p:txBody>
      </p:sp>
      <p:graphicFrame>
        <p:nvGraphicFramePr>
          <p:cNvPr id="448" name="Google Shape;448;p43"/>
          <p:cNvGraphicFramePr/>
          <p:nvPr/>
        </p:nvGraphicFramePr>
        <p:xfrm>
          <a:off x="868680" y="1769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414450"/>
                <a:gridCol w="1115850"/>
                <a:gridCol w="510100"/>
                <a:gridCol w="1211500"/>
              </a:tblGrid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Riyadh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Jeddah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Dammam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9" name="Google Shape;449;p43"/>
          <p:cNvSpPr/>
          <p:nvPr/>
        </p:nvSpPr>
        <p:spPr>
          <a:xfrm>
            <a:off x="4774975" y="1769102"/>
            <a:ext cx="2814300" cy="958800"/>
          </a:xfrm>
          <a:prstGeom prst="roundRect">
            <a:avLst>
              <a:gd fmla="val 5161" name="adj"/>
            </a:avLst>
          </a:prstGeom>
          <a:solidFill>
            <a:srgbClr val="DFF3FA"/>
          </a:solidFill>
          <a:ln cap="flat" cmpd="sng" w="86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50" lIns="61850" spcFirstLastPara="1" rIns="61850" wrap="square" tIns="6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3"/>
          <p:cNvSpPr/>
          <p:nvPr/>
        </p:nvSpPr>
        <p:spPr>
          <a:xfrm>
            <a:off x="4886311" y="1880438"/>
            <a:ext cx="25917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218"/>
              <a:buFont typeface="Arial"/>
              <a:buNone/>
            </a:pPr>
            <a:r>
              <a:rPr b="0" i="0" lang="en" sz="1218" u="none" cap="none" strike="noStrike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Default index:</a:t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218"/>
              <a:buFont typeface="Arial"/>
              <a:buNone/>
            </a:pPr>
            <a:r>
              <a:rPr b="0" i="0" lang="en" sz="1218" u="none" cap="none" strike="noStrike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0, 1, 2, ...</a:t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8"/>
              <a:buFont typeface="Arial"/>
              <a:buNone/>
            </a:pPr>
            <a:r>
              <a:t/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218"/>
              <a:buFont typeface="Arial"/>
              <a:buNone/>
            </a:pPr>
            <a:r>
              <a:rPr b="0" i="0" lang="en" sz="1218" u="none" cap="none" strike="noStrike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Created automatically.</a:t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3"/>
          <p:cNvSpPr/>
          <p:nvPr/>
        </p:nvSpPr>
        <p:spPr>
          <a:xfrm>
            <a:off x="4774975" y="3092703"/>
            <a:ext cx="2814300" cy="958800"/>
          </a:xfrm>
          <a:prstGeom prst="roundRect">
            <a:avLst>
              <a:gd fmla="val 5161" name="adj"/>
            </a:avLst>
          </a:prstGeom>
          <a:solidFill>
            <a:srgbClr val="F9EAF3"/>
          </a:solidFill>
          <a:ln cap="flat" cmpd="sng" w="86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850" lIns="61850" spcFirstLastPara="1" rIns="61850" wrap="square" tIns="6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3"/>
          <p:cNvSpPr/>
          <p:nvPr/>
        </p:nvSpPr>
        <p:spPr>
          <a:xfrm>
            <a:off x="4886313" y="3204041"/>
            <a:ext cx="25917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218"/>
              <a:buFont typeface="Arial"/>
              <a:buNone/>
            </a:pPr>
            <a:r>
              <a:rPr b="0" i="0" lang="en" sz="1218" u="none" cap="none" strike="noStrike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Custom index:</a:t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218"/>
              <a:buFont typeface="Arial"/>
              <a:buNone/>
            </a:pPr>
            <a:r>
              <a:rPr b="0" i="0" lang="en" sz="1218" u="none" cap="none" strike="noStrike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S1, S2, S3</a:t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8"/>
              <a:buFont typeface="Arial"/>
              <a:buNone/>
            </a:pPr>
            <a:r>
              <a:t/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218"/>
              <a:buFont typeface="Arial"/>
              <a:buNone/>
            </a:pPr>
            <a:r>
              <a:rPr b="0" i="0" lang="en" sz="1218" u="none" cap="none" strike="noStrike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Chosen by us when labels are useful.</a:t>
            </a:r>
            <a:endParaRPr b="0" i="0" sz="12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Index Is Also an Object</a:t>
            </a:r>
            <a:endParaRPr/>
          </a:p>
        </p:txBody>
      </p:sp>
      <p:sp>
        <p:nvSpPr>
          <p:cNvPr id="458" name="Google Shape;458;p44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459" name="Google Shape;459;p44"/>
          <p:cNvSpPr/>
          <p:nvPr/>
        </p:nvSpPr>
        <p:spPr>
          <a:xfrm>
            <a:off x="817576" y="1416200"/>
            <a:ext cx="45201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 stores row labels in a separate Index object.</a:t>
            </a:r>
            <a:endParaRPr sz="1100"/>
          </a:p>
        </p:txBody>
      </p:sp>
      <p:sp>
        <p:nvSpPr>
          <p:cNvPr id="460" name="Google Shape;460;p44"/>
          <p:cNvSpPr/>
          <p:nvPr/>
        </p:nvSpPr>
        <p:spPr>
          <a:xfrm>
            <a:off x="817566" y="1800264"/>
            <a:ext cx="4520100" cy="1483200"/>
          </a:xfrm>
          <a:prstGeom prst="roundRect">
            <a:avLst>
              <a:gd fmla="val 2857" name="adj"/>
            </a:avLst>
          </a:prstGeom>
          <a:solidFill>
            <a:srgbClr val="F6F8FB"/>
          </a:solidFill>
          <a:ln cap="flat" cmpd="sng" w="9800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4"/>
          <p:cNvSpPr/>
          <p:nvPr/>
        </p:nvSpPr>
        <p:spPr>
          <a:xfrm>
            <a:off x="1029380" y="1870915"/>
            <a:ext cx="43083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81"/>
              <a:buFont typeface="Arial"/>
              <a:buNone/>
            </a:pPr>
            <a:r>
              <a:rPr lang="en" sz="1081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obj = pd.Series(range(3), index=["a", "b", "c"])</a:t>
            </a:r>
            <a:endParaRPr sz="10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r>
              <a:t/>
            </a:r>
            <a:endParaRPr sz="10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81"/>
              <a:buFont typeface="Arial"/>
              <a:buNone/>
            </a:pPr>
            <a:r>
              <a:rPr lang="en" sz="1081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obj.index</a:t>
            </a:r>
            <a:endParaRPr sz="10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81"/>
              <a:buFont typeface="Arial"/>
              <a:buNone/>
            </a:pPr>
            <a:r>
              <a:rPr lang="en" sz="1081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Index(["a", "b", "c"], dtype="object")</a:t>
            </a:r>
            <a:endParaRPr sz="10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4"/>
          <p:cNvSpPr/>
          <p:nvPr/>
        </p:nvSpPr>
        <p:spPr>
          <a:xfrm>
            <a:off x="5796704" y="1835577"/>
            <a:ext cx="2895600" cy="777000"/>
          </a:xfrm>
          <a:prstGeom prst="roundRect">
            <a:avLst>
              <a:gd fmla="val 7273" name="adj"/>
            </a:avLst>
          </a:prstGeom>
          <a:solidFill>
            <a:srgbClr val="DFF3FA"/>
          </a:solidFill>
          <a:ln cap="flat" cmpd="sng" w="98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4"/>
          <p:cNvSpPr/>
          <p:nvPr/>
        </p:nvSpPr>
        <p:spPr>
          <a:xfrm>
            <a:off x="5923831" y="1962703"/>
            <a:ext cx="26415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313"/>
              <a:buFont typeface="Arial"/>
              <a:buNone/>
            </a:pPr>
            <a:r>
              <a:rPr lang="en" sz="1313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This means the row labels are stored separately from the values.</a:t>
            </a:r>
            <a:endParaRPr sz="131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4"/>
          <p:cNvSpPr/>
          <p:nvPr/>
        </p:nvSpPr>
        <p:spPr>
          <a:xfrm>
            <a:off x="5796779" y="2758705"/>
            <a:ext cx="2895600" cy="671100"/>
          </a:xfrm>
          <a:prstGeom prst="roundRect">
            <a:avLst>
              <a:gd fmla="val 6316" name="adj"/>
            </a:avLst>
          </a:prstGeom>
          <a:solidFill>
            <a:srgbClr val="F6F8FB"/>
          </a:solidFill>
          <a:ln cap="flat" cmpd="sng" w="9800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4"/>
          <p:cNvSpPr/>
          <p:nvPr/>
        </p:nvSpPr>
        <p:spPr>
          <a:xfrm>
            <a:off x="5902718" y="2843456"/>
            <a:ext cx="26838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04"/>
              <a:buFont typeface="Arial"/>
              <a:buNone/>
            </a:pPr>
            <a:r>
              <a:rPr lang="en" sz="1004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obj.index[1:]</a:t>
            </a:r>
            <a:endParaRPr sz="10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04"/>
              <a:buFont typeface="Arial"/>
              <a:buNone/>
            </a:pPr>
            <a:r>
              <a:rPr lang="en" sz="1004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Index(["b", "c"], dtype="object")</a:t>
            </a:r>
            <a:endParaRPr sz="10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1529565" y="3952779"/>
            <a:ext cx="6638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545"/>
              <a:buFont typeface="Arial"/>
              <a:buNone/>
            </a:pPr>
            <a:r>
              <a:rPr b="1" lang="en" sz="154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You can view and slice an Index just like a sequence.</a:t>
            </a:r>
            <a:endParaRPr sz="154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/>
          <p:nvPr>
            <p:ph type="title"/>
          </p:nvPr>
        </p:nvSpPr>
        <p:spPr>
          <a:xfrm>
            <a:off x="1708080" y="478975"/>
            <a:ext cx="63102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Index vs Custom Index</a:t>
            </a:r>
            <a:endParaRPr/>
          </a:p>
        </p:txBody>
      </p:sp>
      <p:sp>
        <p:nvSpPr>
          <p:cNvPr id="472" name="Google Shape;472;p45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473" name="Google Shape;473;p45"/>
          <p:cNvSpPr/>
          <p:nvPr/>
        </p:nvSpPr>
        <p:spPr>
          <a:xfrm>
            <a:off x="667507" y="1409813"/>
            <a:ext cx="415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Custom labels can make row access easier to understand.</a:t>
            </a:r>
            <a:endParaRPr b="0" i="0" sz="1100" u="none" cap="none" strike="noStrike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667500" y="2121500"/>
            <a:ext cx="3149400" cy="572400"/>
          </a:xfrm>
          <a:prstGeom prst="roundRect">
            <a:avLst>
              <a:gd fmla="val 4211" name="adj"/>
            </a:avLst>
          </a:prstGeom>
          <a:solidFill>
            <a:srgbClr val="F4F6F8"/>
          </a:solidFill>
          <a:ln cap="flat" cmpd="sng" w="8375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50" lIns="60250" spcFirstLastPara="1" rIns="60250" wrap="square" tIns="6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5"/>
          <p:cNvSpPr/>
          <p:nvPr/>
        </p:nvSpPr>
        <p:spPr>
          <a:xfrm>
            <a:off x="768731" y="2229954"/>
            <a:ext cx="294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5" lIns="175" spcFirstLastPara="1" rIns="175" wrap="square" tIns="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df.index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120"/>
              <a:buFont typeface="Arial"/>
              <a:buNone/>
            </a:pPr>
            <a:r>
              <a:rPr b="0" i="0" lang="en" sz="1120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# RangeIndex(start=0, stop=3, step=1)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" name="Google Shape;476;p45"/>
          <p:cNvGraphicFramePr/>
          <p:nvPr/>
        </p:nvGraphicFramePr>
        <p:xfrm>
          <a:off x="667505" y="3308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473150"/>
                <a:gridCol w="1333475"/>
                <a:gridCol w="645250"/>
                <a:gridCol w="1247425"/>
              </a:tblGrid>
              <a:tr h="294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>
                          <a:solidFill>
                            <a:srgbClr val="D73587"/>
                          </a:solidFill>
                        </a:rPr>
                        <a:t>Index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Riyadh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Jeddah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Dammam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7" name="Google Shape;477;p45"/>
          <p:cNvSpPr/>
          <p:nvPr/>
        </p:nvSpPr>
        <p:spPr>
          <a:xfrm>
            <a:off x="4987250" y="2121500"/>
            <a:ext cx="3374100" cy="572400"/>
          </a:xfrm>
          <a:prstGeom prst="roundRect">
            <a:avLst>
              <a:gd fmla="val 5333" name="adj"/>
            </a:avLst>
          </a:prstGeom>
          <a:solidFill>
            <a:srgbClr val="F4F6F8"/>
          </a:solidFill>
          <a:ln cap="flat" cmpd="sng" w="10625">
            <a:solidFill>
              <a:srgbClr val="D6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5"/>
          <p:cNvSpPr/>
          <p:nvPr/>
        </p:nvSpPr>
        <p:spPr>
          <a:xfrm>
            <a:off x="5099732" y="2258898"/>
            <a:ext cx="31494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8"/>
              </a:buClr>
              <a:buSzPts val="1503"/>
              <a:buFont typeface="Arial"/>
              <a:buNone/>
            </a:pPr>
            <a:r>
              <a:rPr b="0" i="0" lang="en" sz="1103" u="none" cap="none" strike="noStrike">
                <a:solidFill>
                  <a:srgbClr val="1B2A38"/>
                </a:solidFill>
                <a:latin typeface="Arial"/>
                <a:ea typeface="Arial"/>
                <a:cs typeface="Arial"/>
                <a:sym typeface="Arial"/>
              </a:rPr>
              <a:t>df.index = ["S1", "S2", "S3"]</a:t>
            </a:r>
            <a:endParaRPr b="0" i="0" sz="11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9" name="Google Shape;479;p45"/>
          <p:cNvGraphicFramePr/>
          <p:nvPr/>
        </p:nvGraphicFramePr>
        <p:xfrm>
          <a:off x="4987240" y="3308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491150"/>
                <a:gridCol w="916825"/>
                <a:gridCol w="491150"/>
                <a:gridCol w="949600"/>
              </a:tblGrid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73587"/>
                        </a:buClr>
                        <a:buSzPts val="1196"/>
                        <a:buFont typeface="Arial"/>
                        <a:buNone/>
                      </a:pPr>
                      <a:r>
                        <a:rPr b="1" lang="en" sz="1196" u="none" cap="none" strike="noStrike">
                          <a:solidFill>
                            <a:srgbClr val="D735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City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Abdullah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Riyadh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S2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Sara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Jeddah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Ahmed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8"/>
                        </a:buClr>
                        <a:buSzPts val="1196"/>
                        <a:buFont typeface="Arial"/>
                        <a:buNone/>
                      </a:pPr>
                      <a:r>
                        <a:rPr lang="en" sz="1196" u="none" cap="none" strike="noStrike">
                          <a:solidFill>
                            <a:srgbClr val="1B2A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Dammam</a:t>
                      </a:r>
                      <a:endParaRPr sz="1196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36575" marL="36575">
                    <a:lnL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7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Labels Are Immutable</a:t>
            </a:r>
            <a:endParaRPr/>
          </a:p>
        </p:txBody>
      </p:sp>
      <p:sp>
        <p:nvSpPr>
          <p:cNvPr id="485" name="Google Shape;485;p46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486" name="Google Shape;486;p46"/>
          <p:cNvSpPr/>
          <p:nvPr/>
        </p:nvSpPr>
        <p:spPr>
          <a:xfrm>
            <a:off x="817401" y="1220063"/>
            <a:ext cx="46584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16"/>
              <a:buFont typeface="Arial"/>
              <a:buNone/>
            </a:pPr>
            <a:r>
              <a:rPr lang="en" sz="1116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 can replace the whole index, but you cannot edit one label in place.</a:t>
            </a:r>
            <a:endParaRPr sz="1116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6"/>
          <p:cNvSpPr/>
          <p:nvPr/>
        </p:nvSpPr>
        <p:spPr>
          <a:xfrm>
            <a:off x="817510" y="1682937"/>
            <a:ext cx="3720000" cy="1139700"/>
          </a:xfrm>
          <a:prstGeom prst="roundRect">
            <a:avLst>
              <a:gd fmla="val 3529" name="adj"/>
            </a:avLst>
          </a:prstGeom>
          <a:solidFill>
            <a:srgbClr val="F6F8FB"/>
          </a:solidFill>
          <a:ln cap="flat" cmpd="sng" w="9300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25" lIns="67025" spcFirstLastPara="1" rIns="670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6"/>
          <p:cNvSpPr/>
          <p:nvPr/>
        </p:nvSpPr>
        <p:spPr>
          <a:xfrm>
            <a:off x="918051" y="1763370"/>
            <a:ext cx="3519000" cy="10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26"/>
              <a:buFont typeface="Arial"/>
              <a:buNone/>
            </a:pPr>
            <a:r>
              <a:rPr lang="en" sz="1026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index = pd.Index(["a", "b", "c"])</a:t>
            </a:r>
            <a:endParaRPr sz="102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6"/>
              <a:buFont typeface="Arial"/>
              <a:buNone/>
            </a:pPr>
            <a:r>
              <a:t/>
            </a:r>
            <a:endParaRPr sz="102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26"/>
              <a:buFont typeface="Arial"/>
              <a:buNone/>
            </a:pPr>
            <a:r>
              <a:rPr lang="en" sz="1026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index[1:]</a:t>
            </a:r>
            <a:endParaRPr sz="102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026"/>
              <a:buFont typeface="Arial"/>
              <a:buNone/>
            </a:pPr>
            <a:r>
              <a:rPr lang="en" sz="1026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Index(["b", "c"], dtype="object")</a:t>
            </a:r>
            <a:endParaRPr sz="102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6"/>
          <p:cNvSpPr/>
          <p:nvPr/>
        </p:nvSpPr>
        <p:spPr>
          <a:xfrm>
            <a:off x="1018492" y="3111211"/>
            <a:ext cx="3318000" cy="482700"/>
          </a:xfrm>
          <a:prstGeom prst="roundRect">
            <a:avLst>
              <a:gd fmla="val 11111" name="adj"/>
            </a:avLst>
          </a:prstGeom>
          <a:solidFill>
            <a:srgbClr val="E7F7EF"/>
          </a:solidFill>
          <a:ln cap="flat" cmpd="sng" w="93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25" lIns="67025" spcFirstLastPara="1" rIns="670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6"/>
          <p:cNvSpPr/>
          <p:nvPr/>
        </p:nvSpPr>
        <p:spPr>
          <a:xfrm>
            <a:off x="1139142" y="3231860"/>
            <a:ext cx="3076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173"/>
              <a:buFont typeface="Arial"/>
              <a:buNone/>
            </a:pPr>
            <a:r>
              <a:rPr lang="en" sz="1173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Allowed: viewing and slicing the Index.</a:t>
            </a:r>
            <a:endParaRPr sz="117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6"/>
          <p:cNvSpPr/>
          <p:nvPr/>
        </p:nvSpPr>
        <p:spPr>
          <a:xfrm>
            <a:off x="4872578" y="1985100"/>
            <a:ext cx="3217200" cy="670200"/>
          </a:xfrm>
          <a:prstGeom prst="roundRect">
            <a:avLst>
              <a:gd fmla="val 6000" name="adj"/>
            </a:avLst>
          </a:prstGeom>
          <a:solidFill>
            <a:srgbClr val="FFF6F6"/>
          </a:solidFill>
          <a:ln cap="flat" cmpd="sng" w="9300">
            <a:solidFill>
              <a:srgbClr val="F6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25" lIns="67025" spcFirstLastPara="1" rIns="670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6"/>
          <p:cNvSpPr/>
          <p:nvPr/>
        </p:nvSpPr>
        <p:spPr>
          <a:xfrm>
            <a:off x="4973119" y="2065532"/>
            <a:ext cx="30162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319"/>
              <a:buFont typeface="Arial"/>
              <a:buNone/>
            </a:pPr>
            <a:r>
              <a:rPr lang="en" sz="1319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index[1] = "d"</a:t>
            </a:r>
            <a:endParaRPr sz="131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319"/>
              <a:buFont typeface="Arial"/>
              <a:buNone/>
            </a:pPr>
            <a:r>
              <a:rPr lang="en" sz="1319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TypeError</a:t>
            </a:r>
            <a:endParaRPr sz="131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6"/>
          <p:cNvSpPr/>
          <p:nvPr/>
        </p:nvSpPr>
        <p:spPr>
          <a:xfrm>
            <a:off x="4872578" y="3111095"/>
            <a:ext cx="3217200" cy="482700"/>
          </a:xfrm>
          <a:prstGeom prst="roundRect">
            <a:avLst>
              <a:gd fmla="val 11111" name="adj"/>
            </a:avLst>
          </a:prstGeom>
          <a:solidFill>
            <a:srgbClr val="FCE8E6"/>
          </a:solidFill>
          <a:ln cap="flat" cmpd="sng" w="93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25" lIns="67025" spcFirstLastPara="1" rIns="670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6"/>
          <p:cNvSpPr/>
          <p:nvPr/>
        </p:nvSpPr>
        <p:spPr>
          <a:xfrm>
            <a:off x="4993228" y="3231744"/>
            <a:ext cx="2976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173"/>
              <a:buFont typeface="Arial"/>
              <a:buNone/>
            </a:pPr>
            <a:r>
              <a:rPr lang="en" sz="1173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Not allowed: changing one label directly.</a:t>
            </a:r>
            <a:endParaRPr sz="117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2325530" y="4049593"/>
            <a:ext cx="4658400" cy="502800"/>
          </a:xfrm>
          <a:prstGeom prst="roundRect">
            <a:avLst>
              <a:gd fmla="val 10667" name="adj"/>
            </a:avLst>
          </a:prstGeom>
          <a:solidFill>
            <a:srgbClr val="DFF3FA"/>
          </a:solidFill>
          <a:ln cap="flat" cmpd="sng" w="93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25" lIns="67025" spcFirstLastPara="1" rIns="670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6"/>
          <p:cNvSpPr/>
          <p:nvPr/>
        </p:nvSpPr>
        <p:spPr>
          <a:xfrm>
            <a:off x="2446180" y="4170242"/>
            <a:ext cx="4416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rule keeps index labels stable and prevents accidental one-label changes.</a:t>
            </a:r>
            <a:endParaRPr sz="1026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7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Index Labels Repeat?</a:t>
            </a:r>
            <a:endParaRPr/>
          </a:p>
        </p:txBody>
      </p:sp>
      <p:sp>
        <p:nvSpPr>
          <p:cNvPr id="502" name="Google Shape;502;p47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>
            <a:off x="945452" y="1432238"/>
            <a:ext cx="6949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 allows duplicate labels by default, but duplicates can make selection harder to interpret.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4" name="Google Shape;504;p47"/>
          <p:cNvGraphicFramePr/>
          <p:nvPr/>
        </p:nvGraphicFramePr>
        <p:xfrm>
          <a:off x="945455" y="1971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632875"/>
                <a:gridCol w="1012600"/>
                <a:gridCol w="1012600"/>
              </a:tblGrid>
              <a:tr h="34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4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5" name="Google Shape;505;p47"/>
          <p:cNvSpPr/>
          <p:nvPr/>
        </p:nvSpPr>
        <p:spPr>
          <a:xfrm>
            <a:off x="4114700" y="1971097"/>
            <a:ext cx="3538200" cy="1346400"/>
          </a:xfrm>
          <a:prstGeom prst="roundRect">
            <a:avLst>
              <a:gd fmla="val 2791" name="adj"/>
            </a:avLst>
          </a:prstGeom>
          <a:solidFill>
            <a:srgbClr val="F6F8FB"/>
          </a:solidFill>
          <a:ln cap="flat" cmpd="sng" w="8700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625" lIns="62625" spcFirstLastPara="1" rIns="62625" wrap="square" tIns="62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7"/>
          <p:cNvSpPr/>
          <p:nvPr/>
        </p:nvSpPr>
        <p:spPr>
          <a:xfrm>
            <a:off x="4208636" y="2046246"/>
            <a:ext cx="33504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25"/>
              <a:buFont typeface="Arial"/>
              <a:buNone/>
            </a:pPr>
            <a:r>
              <a:rPr lang="en" sz="122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df.index.duplicated()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25"/>
              <a:buFont typeface="Arial"/>
              <a:buNone/>
            </a:pPr>
            <a:r>
              <a:rPr lang="en" sz="122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array([False, False, True, False])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5"/>
              <a:buFont typeface="Arial"/>
              <a:buNone/>
            </a:pPr>
            <a:r>
              <a:t/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25"/>
              <a:buFont typeface="Arial"/>
              <a:buNone/>
            </a:pPr>
            <a:r>
              <a:rPr lang="en" sz="122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df.index.is_unique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25"/>
              <a:buFont typeface="Arial"/>
              <a:buNone/>
            </a:pPr>
            <a:r>
              <a:rPr lang="en" sz="122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False</a:t>
            </a:r>
            <a:endParaRPr sz="12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4114702" y="3481378"/>
            <a:ext cx="3627000" cy="531600"/>
          </a:xfrm>
          <a:prstGeom prst="roundRect">
            <a:avLst>
              <a:gd fmla="val 9412" name="adj"/>
            </a:avLst>
          </a:prstGeom>
          <a:solidFill>
            <a:srgbClr val="F9EAF3"/>
          </a:solidFill>
          <a:ln cap="flat" cmpd="sng" w="8675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25" lIns="62525" spcFirstLastPara="1" rIns="62525" wrap="square" tIns="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7"/>
          <p:cNvSpPr/>
          <p:nvPr/>
        </p:nvSpPr>
        <p:spPr>
          <a:xfrm>
            <a:off x="4227265" y="3593944"/>
            <a:ext cx="34020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163"/>
              <a:buFont typeface="Arial"/>
              <a:buNone/>
            </a:pPr>
            <a:r>
              <a:rPr lang="en" sz="1163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Duplicate index labels are not always wrong, but they require extra care.</a:t>
            </a:r>
            <a:endParaRPr sz="116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 txBox="1"/>
          <p:nvPr>
            <p:ph type="title"/>
          </p:nvPr>
        </p:nvSpPr>
        <p:spPr>
          <a:xfrm>
            <a:off x="1708065" y="478969"/>
            <a:ext cx="4371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Duplicate Labels Matter</a:t>
            </a:r>
            <a:endParaRPr/>
          </a:p>
        </p:txBody>
      </p:sp>
      <p:sp>
        <p:nvSpPr>
          <p:cNvPr id="514" name="Google Shape;514;p48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515" name="Google Shape;515;p48"/>
          <p:cNvSpPr/>
          <p:nvPr/>
        </p:nvSpPr>
        <p:spPr>
          <a:xfrm>
            <a:off x="676656" y="1367990"/>
            <a:ext cx="10424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lang="en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Duplicate labels often show up when </a:t>
            </a:r>
            <a:r>
              <a:rPr b="1" lang="en" sz="1100">
                <a:solidFill>
                  <a:srgbClr val="B42318"/>
                </a:solidFill>
              </a:rPr>
              <a:t>combining or appending</a:t>
            </a:r>
            <a:r>
              <a:rPr lang="en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datasets.</a:t>
            </a:r>
            <a:endParaRPr sz="11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8"/>
          <p:cNvSpPr/>
          <p:nvPr/>
        </p:nvSpPr>
        <p:spPr>
          <a:xfrm>
            <a:off x="676647" y="1842624"/>
            <a:ext cx="4457400" cy="925800"/>
          </a:xfrm>
          <a:prstGeom prst="roundRect">
            <a:avLst>
              <a:gd fmla="val 4444" name="adj"/>
            </a:avLst>
          </a:prstGeom>
          <a:solidFill>
            <a:srgbClr val="F6F8FB"/>
          </a:solidFill>
          <a:ln cap="flat" cmpd="sng" w="95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8"/>
          <p:cNvSpPr/>
          <p:nvPr/>
        </p:nvSpPr>
        <p:spPr>
          <a:xfrm>
            <a:off x="779512" y="1924915"/>
            <a:ext cx="42519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37"/>
              <a:buFont typeface="Arial"/>
              <a:buNone/>
            </a:pPr>
            <a:r>
              <a:rPr lang="en" sz="937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df2 = pd.DataFrame({"Col1": ["D5"], "Col2": ["D5"]}, index=[12])</a:t>
            </a:r>
            <a:endParaRPr sz="9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t/>
            </a:r>
            <a:endParaRPr sz="9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37"/>
              <a:buFont typeface="Arial"/>
              <a:buNone/>
            </a:pPr>
            <a:r>
              <a:rPr lang="en" sz="937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pd.concat([df, df2])</a:t>
            </a:r>
            <a:endParaRPr sz="9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8" name="Google Shape;518;p48"/>
          <p:cNvGraphicFramePr/>
          <p:nvPr/>
        </p:nvGraphicFramePr>
        <p:xfrm>
          <a:off x="5556350" y="1667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803575"/>
                <a:gridCol w="964250"/>
                <a:gridCol w="964250"/>
              </a:tblGrid>
              <a:tr h="372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19" name="Google Shape;519;p48"/>
          <p:cNvSpPr/>
          <p:nvPr/>
        </p:nvSpPr>
        <p:spPr>
          <a:xfrm>
            <a:off x="676649" y="2986575"/>
            <a:ext cx="3791700" cy="575400"/>
          </a:xfrm>
          <a:prstGeom prst="roundRect">
            <a:avLst>
              <a:gd fmla="val 9412" name="adj"/>
            </a:avLst>
          </a:prstGeom>
          <a:solidFill>
            <a:srgbClr val="DFF3FA"/>
          </a:solidFill>
          <a:ln cap="flat" cmpd="sng" w="94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8"/>
          <p:cNvSpPr/>
          <p:nvPr/>
        </p:nvSpPr>
        <p:spPr>
          <a:xfrm>
            <a:off x="798525" y="3108453"/>
            <a:ext cx="3548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 allows duplicate labels by default, but duplicates can make results harder to interpret.</a:t>
            </a:r>
            <a:endParaRPr sz="1037"/>
          </a:p>
        </p:txBody>
      </p:sp>
      <p:sp>
        <p:nvSpPr>
          <p:cNvPr id="521" name="Google Shape;521;p48"/>
          <p:cNvSpPr/>
          <p:nvPr/>
        </p:nvSpPr>
        <p:spPr>
          <a:xfrm>
            <a:off x="2960848" y="3970600"/>
            <a:ext cx="3222300" cy="575400"/>
          </a:xfrm>
          <a:prstGeom prst="roundRect">
            <a:avLst>
              <a:gd fmla="val 10667" name="adj"/>
            </a:avLst>
          </a:prstGeom>
          <a:solidFill>
            <a:srgbClr val="F9EAF3"/>
          </a:solidFill>
          <a:ln cap="flat" cmpd="sng" w="1065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700" lIns="76700" spcFirstLastPara="1" rIns="76700" wrap="square" tIns="7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8"/>
          <p:cNvSpPr/>
          <p:nvPr/>
        </p:nvSpPr>
        <p:spPr>
          <a:xfrm>
            <a:off x="3098944" y="4108696"/>
            <a:ext cx="29460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342"/>
              <a:buFont typeface="Arial"/>
              <a:buNone/>
            </a:pPr>
            <a:r>
              <a:rPr lang="en" sz="1342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Key idea: check uniqueness before relying on labels.</a:t>
            </a:r>
            <a:endParaRPr sz="134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1708079" y="478975"/>
            <a:ext cx="61179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Index from Columns</a:t>
            </a:r>
            <a:endParaRPr/>
          </a:p>
        </p:txBody>
      </p:sp>
      <p:sp>
        <p:nvSpPr>
          <p:cNvPr id="528" name="Google Shape;528;p49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529" name="Google Shape;529;p49"/>
          <p:cNvSpPr/>
          <p:nvPr/>
        </p:nvSpPr>
        <p:spPr>
          <a:xfrm>
            <a:off x="822954" y="1361088"/>
            <a:ext cx="4075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lang="en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set_index() turns one or more existing columns into the index.</a:t>
            </a:r>
            <a:endParaRPr sz="11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0" name="Google Shape;530;p49"/>
          <p:cNvGraphicFramePr/>
          <p:nvPr/>
        </p:nvGraphicFramePr>
        <p:xfrm>
          <a:off x="8229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494450"/>
                <a:gridCol w="494450"/>
                <a:gridCol w="494450"/>
                <a:gridCol w="494450"/>
                <a:gridCol w="473825"/>
              </a:tblGrid>
              <a:tr h="303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Index</a:t>
                      </a:r>
                      <a:endParaRPr b="1" sz="1300" u="none" cap="none" strike="noStrike">
                        <a:solidFill>
                          <a:srgbClr val="D92F8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0</a:t>
                      </a:r>
                      <a:endParaRPr sz="1300" u="none" cap="none" strike="noStrike">
                        <a:solidFill>
                          <a:srgbClr val="1725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</a:t>
                      </a:r>
                      <a:endParaRPr sz="1300" u="none" cap="none" strike="noStrike">
                        <a:solidFill>
                          <a:srgbClr val="1725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</a:t>
                      </a: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2</a:t>
                      </a:r>
                      <a:endParaRPr sz="1300" u="none" cap="none" strike="noStrike">
                        <a:solidFill>
                          <a:srgbClr val="1725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p49"/>
          <p:cNvSpPr/>
          <p:nvPr/>
        </p:nvSpPr>
        <p:spPr>
          <a:xfrm>
            <a:off x="3486777" y="1854060"/>
            <a:ext cx="2606100" cy="434400"/>
          </a:xfrm>
          <a:prstGeom prst="roundRect">
            <a:avLst>
              <a:gd fmla="val 8571" name="adj"/>
            </a:avLst>
          </a:prstGeom>
          <a:solidFill>
            <a:srgbClr val="F6F8FB"/>
          </a:solidFill>
          <a:ln cap="flat" cmpd="sng" w="8625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025" lIns="62025" spcFirstLastPara="1" rIns="62025" wrap="square" tIns="6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9"/>
          <p:cNvSpPr/>
          <p:nvPr/>
        </p:nvSpPr>
        <p:spPr>
          <a:xfrm>
            <a:off x="3579847" y="1928516"/>
            <a:ext cx="24198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882"/>
              <a:buFont typeface="Arial"/>
              <a:buNone/>
            </a:pPr>
            <a:r>
              <a:rPr lang="en" sz="882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df = df.set_index(["Col1", "Col2"])</a:t>
            </a:r>
            <a:endParaRPr sz="88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3" name="Google Shape;533;p49"/>
          <p:cNvGraphicFramePr/>
          <p:nvPr/>
        </p:nvGraphicFramePr>
        <p:xfrm>
          <a:off x="6356845" y="1598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619350"/>
                <a:gridCol w="619350"/>
                <a:gridCol w="619350"/>
                <a:gridCol w="593550"/>
              </a:tblGrid>
              <a:tr h="3037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Index</a:t>
                      </a:r>
                      <a:endParaRPr b="1" sz="1300" u="none" cap="none" strike="noStrike">
                        <a:solidFill>
                          <a:srgbClr val="D92F8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Col3</a:t>
                      </a:r>
                      <a:endParaRPr b="1" sz="1300">
                        <a:solidFill>
                          <a:srgbClr val="D92F87"/>
                        </a:solidFill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Col4</a:t>
                      </a:r>
                      <a:endParaRPr b="1" sz="1300">
                        <a:solidFill>
                          <a:srgbClr val="D92F87"/>
                        </a:solidFill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</a:t>
                      </a: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4" name="Google Shape;534;p49"/>
          <p:cNvSpPr/>
          <p:nvPr/>
        </p:nvSpPr>
        <p:spPr>
          <a:xfrm>
            <a:off x="594487" y="3131425"/>
            <a:ext cx="2908500" cy="434400"/>
          </a:xfrm>
          <a:prstGeom prst="roundRect">
            <a:avLst>
              <a:gd fmla="val 11111" name="adj"/>
            </a:avLst>
          </a:prstGeom>
          <a:solidFill>
            <a:srgbClr val="DFF3FA"/>
          </a:solidFill>
          <a:ln cap="flat" cmpd="sng" w="8375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300" lIns="60300" spcFirstLastPara="1" rIns="60300" wrap="square" tIns="6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9"/>
          <p:cNvSpPr/>
          <p:nvPr/>
        </p:nvSpPr>
        <p:spPr>
          <a:xfrm>
            <a:off x="704702" y="3239996"/>
            <a:ext cx="26880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989"/>
              <a:buFont typeface="Arial"/>
              <a:buNone/>
            </a:pPr>
            <a:r>
              <a:rPr lang="en" sz="989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Before: Col1 and Col2 are regular columns.</a:t>
            </a:r>
            <a:endParaRPr sz="9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6092875" y="3240000"/>
            <a:ext cx="2908500" cy="434400"/>
          </a:xfrm>
          <a:prstGeom prst="roundRect">
            <a:avLst>
              <a:gd fmla="val 11111" name="adj"/>
            </a:avLst>
          </a:prstGeom>
          <a:solidFill>
            <a:srgbClr val="F9EAF3"/>
          </a:solidFill>
          <a:ln cap="flat" cmpd="sng" w="965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475" lIns="69475" spcFirstLastPara="1" rIns="69475" wrap="square" tIns="69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9"/>
          <p:cNvSpPr/>
          <p:nvPr/>
        </p:nvSpPr>
        <p:spPr>
          <a:xfrm>
            <a:off x="6203091" y="3348578"/>
            <a:ext cx="26880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140"/>
              <a:buFont typeface="Arial"/>
              <a:buNone/>
            </a:pPr>
            <a:r>
              <a:rPr lang="en" sz="1140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After: Col1 and Col2 become index levels.</a:t>
            </a:r>
            <a:endParaRPr sz="11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0"/>
          <p:cNvSpPr txBox="1"/>
          <p:nvPr>
            <p:ph type="title"/>
          </p:nvPr>
        </p:nvSpPr>
        <p:spPr>
          <a:xfrm>
            <a:off x="1708080" y="478975"/>
            <a:ext cx="63618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MultiIndex: More Than One Index Level</a:t>
            </a:r>
            <a:endParaRPr/>
          </a:p>
        </p:txBody>
      </p:sp>
      <p:sp>
        <p:nvSpPr>
          <p:cNvPr id="543" name="Google Shape;543;p50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Index</a:t>
            </a:r>
            <a:endParaRPr/>
          </a:p>
        </p:txBody>
      </p:sp>
      <p:sp>
        <p:nvSpPr>
          <p:cNvPr id="544" name="Google Shape;544;p50"/>
          <p:cNvSpPr/>
          <p:nvPr/>
        </p:nvSpPr>
        <p:spPr>
          <a:xfrm>
            <a:off x="1124678" y="1310000"/>
            <a:ext cx="516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lang="en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When multiple columns become the index, Pandas creates a hierarchical index.</a:t>
            </a:r>
            <a:endParaRPr sz="11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4408246" y="1726613"/>
            <a:ext cx="2651700" cy="612000"/>
          </a:xfrm>
          <a:prstGeom prst="roundRect">
            <a:avLst>
              <a:gd fmla="val 7619" name="adj"/>
            </a:avLst>
          </a:prstGeom>
          <a:solidFill>
            <a:srgbClr val="DFF3FA"/>
          </a:solidFill>
          <a:ln cap="flat" cmpd="sng" w="8100">
            <a:solidFill>
              <a:srgbClr val="A9D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275" lIns="58275" spcFirstLastPara="1" rIns="58275" wrap="square" tIns="5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0"/>
          <p:cNvSpPr/>
          <p:nvPr/>
        </p:nvSpPr>
        <p:spPr>
          <a:xfrm>
            <a:off x="4513154" y="1831520"/>
            <a:ext cx="24420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147"/>
              <a:buFont typeface="Arial"/>
              <a:buNone/>
            </a:pPr>
            <a:r>
              <a:rPr lang="en" sz="1147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Col1 + Col2</a:t>
            </a:r>
            <a:endParaRPr sz="114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1147"/>
              <a:buFont typeface="Arial"/>
              <a:buNone/>
            </a:pPr>
            <a:r>
              <a:rPr lang="en" sz="1147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act together as row labels.</a:t>
            </a:r>
            <a:endParaRPr sz="114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4408246" y="2629984"/>
            <a:ext cx="2651700" cy="786900"/>
          </a:xfrm>
          <a:prstGeom prst="roundRect">
            <a:avLst>
              <a:gd fmla="val 4444" name="adj"/>
            </a:avLst>
          </a:prstGeom>
          <a:solidFill>
            <a:srgbClr val="F6F8FB"/>
          </a:solidFill>
          <a:ln cap="flat" cmpd="sng" w="8100">
            <a:solidFill>
              <a:srgbClr val="D5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275" lIns="58275" spcFirstLastPara="1" rIns="58275" wrap="square" tIns="5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0"/>
          <p:cNvSpPr/>
          <p:nvPr/>
        </p:nvSpPr>
        <p:spPr>
          <a:xfrm>
            <a:off x="4495669" y="2699922"/>
            <a:ext cx="24771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765"/>
              <a:buFont typeface="Arial"/>
              <a:buNone/>
            </a:pPr>
            <a:r>
              <a:rPr lang="en" sz="76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df.index</a:t>
            </a:r>
            <a:endParaRPr sz="7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765"/>
              <a:buFont typeface="Arial"/>
              <a:buNone/>
            </a:pPr>
            <a:r>
              <a:rPr lang="en" sz="76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MultiIndex([("D11", "D12"),</a:t>
            </a:r>
            <a:endParaRPr sz="7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7"/>
              </a:buClr>
              <a:buSzPts val="765"/>
              <a:buFont typeface="Arial"/>
              <a:buNone/>
            </a:pPr>
            <a:r>
              <a:rPr lang="en" sz="76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#             ("D</a:t>
            </a:r>
            <a:r>
              <a:rPr lang="en" sz="765">
                <a:solidFill>
                  <a:srgbClr val="172537"/>
                </a:solidFill>
              </a:rPr>
              <a:t>1</a:t>
            </a:r>
            <a:r>
              <a:rPr lang="en" sz="76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1", "D</a:t>
            </a:r>
            <a:r>
              <a:rPr lang="en" sz="765">
                <a:solidFill>
                  <a:srgbClr val="172537"/>
                </a:solidFill>
              </a:rPr>
              <a:t>13</a:t>
            </a:r>
            <a:r>
              <a:rPr lang="en" sz="765">
                <a:solidFill>
                  <a:srgbClr val="172537"/>
                </a:solidFill>
                <a:latin typeface="Arial"/>
                <a:ea typeface="Arial"/>
                <a:cs typeface="Arial"/>
                <a:sym typeface="Arial"/>
              </a:rPr>
              <a:t>"), ...])</a:t>
            </a:r>
            <a:endParaRPr sz="7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913600" y="3910325"/>
            <a:ext cx="664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MultiIndex is useful when one label is not enough to identify each row.</a:t>
            </a:r>
            <a:endParaRPr sz="1200"/>
          </a:p>
        </p:txBody>
      </p:sp>
      <p:graphicFrame>
        <p:nvGraphicFramePr>
          <p:cNvPr id="550" name="Google Shape;550;p50"/>
          <p:cNvGraphicFramePr/>
          <p:nvPr/>
        </p:nvGraphicFramePr>
        <p:xfrm>
          <a:off x="1124670" y="176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{8F8257DB-F36D-41A8-AA2A-998A9D94C72A}</a:tableStyleId>
              </a:tblPr>
              <a:tblGrid>
                <a:gridCol w="619350"/>
                <a:gridCol w="619350"/>
                <a:gridCol w="619350"/>
                <a:gridCol w="593550"/>
              </a:tblGrid>
              <a:tr h="3037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Index</a:t>
                      </a:r>
                      <a:endParaRPr b="1" sz="1300" u="none" cap="none" strike="noStrike">
                        <a:solidFill>
                          <a:srgbClr val="D92F8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Col3</a:t>
                      </a:r>
                      <a:endParaRPr b="1" sz="1300">
                        <a:solidFill>
                          <a:srgbClr val="D92F87"/>
                        </a:solidFill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D92F87"/>
                          </a:solidFill>
                        </a:rPr>
                        <a:t>Col4</a:t>
                      </a:r>
                      <a:endParaRPr b="1" sz="1300">
                        <a:solidFill>
                          <a:srgbClr val="D92F87"/>
                        </a:solidFill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rgbClr val="D92F8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2F87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" sz="1300">
                          <a:solidFill>
                            <a:srgbClr val="172537"/>
                          </a:solidFill>
                        </a:rPr>
                        <a:t>13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537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rgbClr val="1725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D34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C4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1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loc vs iloc </a:t>
            </a:r>
            <a:endParaRPr/>
          </a:p>
        </p:txBody>
      </p:sp>
      <p:sp>
        <p:nvSpPr>
          <p:cNvPr id="557" name="Google Shape;557;p51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DataFrame</a:t>
            </a:r>
            <a:endParaRPr/>
          </a:p>
        </p:txBody>
      </p:sp>
      <p:pic>
        <p:nvPicPr>
          <p:cNvPr id="558" name="Google Shape;558;p51"/>
          <p:cNvPicPr preferRelativeResize="0"/>
          <p:nvPr/>
        </p:nvPicPr>
        <p:blipFill rotWithShape="1">
          <a:blip r:embed="rId3">
            <a:alphaModFix/>
          </a:blip>
          <a:srcRect b="0" l="0" r="0" t="20666"/>
          <a:stretch/>
        </p:blipFill>
        <p:spPr>
          <a:xfrm>
            <a:off x="1307800" y="1214218"/>
            <a:ext cx="5947124" cy="2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1"/>
          <p:cNvSpPr txBox="1"/>
          <p:nvPr/>
        </p:nvSpPr>
        <p:spPr>
          <a:xfrm>
            <a:off x="1396625" y="3997025"/>
            <a:ext cx="562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Sourece: medium article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2"/>
          <p:cNvSpPr txBox="1"/>
          <p:nvPr>
            <p:ph idx="1" type="body"/>
          </p:nvPr>
        </p:nvSpPr>
        <p:spPr>
          <a:xfrm>
            <a:off x="935925" y="1302150"/>
            <a:ext cx="75783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Access by Label</a:t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  Access by Position</a:t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566" name="Google Shape;566;p52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loc vs iloc </a:t>
            </a:r>
            <a:endParaRPr/>
          </a:p>
        </p:txBody>
      </p:sp>
      <p:sp>
        <p:nvSpPr>
          <p:cNvPr id="567" name="Google Shape;567;p52"/>
          <p:cNvSpPr txBox="1"/>
          <p:nvPr>
            <p:ph idx="1" type="subTitle"/>
          </p:nvPr>
        </p:nvSpPr>
        <p:spPr>
          <a:xfrm>
            <a:off x="1711441" y="884681"/>
            <a:ext cx="504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DataFrame</a:t>
            </a:r>
            <a:endParaRPr/>
          </a:p>
        </p:txBody>
      </p:sp>
      <p:pic>
        <p:nvPicPr>
          <p:cNvPr id="568" name="Google Shape;56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088" y="1302150"/>
            <a:ext cx="32099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875" y="1598036"/>
            <a:ext cx="1192125" cy="139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3869" y="3465294"/>
            <a:ext cx="1192125" cy="13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3"/>
          <p:cNvSpPr txBox="1"/>
          <p:nvPr>
            <p:ph idx="1" type="body"/>
          </p:nvPr>
        </p:nvSpPr>
        <p:spPr>
          <a:xfrm>
            <a:off x="1123525" y="1308006"/>
            <a:ext cx="75783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Pandas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 Python library for working with structured data.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Series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One-dimensional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Single column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Values + Index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DataFrame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Two-dimensional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Multiple columns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Collection of Series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  <p:sp>
        <p:nvSpPr>
          <p:cNvPr id="577" name="Google Shape;577;p53"/>
          <p:cNvSpPr txBox="1"/>
          <p:nvPr>
            <p:ph type="title"/>
          </p:nvPr>
        </p:nvSpPr>
        <p:spPr>
          <a:xfrm>
            <a:off x="1708065" y="478969"/>
            <a:ext cx="43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78" name="Google Shape;578;p53"/>
          <p:cNvSpPr txBox="1"/>
          <p:nvPr>
            <p:ph idx="1" type="subTitle"/>
          </p:nvPr>
        </p:nvSpPr>
        <p:spPr>
          <a:xfrm>
            <a:off x="1711441" y="884681"/>
            <a:ext cx="5046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clouddata">
  <a:themeElements>
    <a:clrScheme name="Simple Light">
      <a:dk1>
        <a:srgbClr val="120A59"/>
      </a:dk1>
      <a:lt1>
        <a:srgbClr val="FFFFFF"/>
      </a:lt1>
      <a:dk2>
        <a:srgbClr val="595959"/>
      </a:dk2>
      <a:lt2>
        <a:srgbClr val="EEEEEE"/>
      </a:lt2>
      <a:accent1>
        <a:srgbClr val="D6356C"/>
      </a:accent1>
      <a:accent2>
        <a:srgbClr val="AB46A5"/>
      </a:accent2>
      <a:accent3>
        <a:srgbClr val="5BB5E3"/>
      </a:accent3>
      <a:accent4>
        <a:srgbClr val="6D72CC"/>
      </a:accent4>
      <a:accent5>
        <a:srgbClr val="7765B2"/>
      </a:accent5>
      <a:accent6>
        <a:srgbClr val="120A59"/>
      </a:accent6>
      <a:hlink>
        <a:srgbClr val="0078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