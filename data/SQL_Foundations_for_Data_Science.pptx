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88950"/>
  <p:notesSz cx="6858000" cy="9144000"/>
  <p:embeddedFontLst>
    <p:embeddedFont>
      <p:font typeface="Proxima Nova"/>
      <p:regular r:id="rId32"/>
      <p:bold r:id="rId33"/>
      <p:italic r:id="rId34"/>
      <p:boldItalic r:id="rId35"/>
    </p:embeddedFont>
    <p:embeddedFont>
      <p:font typeface="Proxima Nova Semibold"/>
      <p:regular r:id="rId36"/>
      <p:bold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383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3202BF-37A4-49A7-A2C1-C678A9C21BC4}">
  <a:tblStyle styleId="{623202BF-37A4-49A7-A2C1-C678A9C21BC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roximaNova-bold.fntdata"/><Relationship Id="rId10" Type="http://schemas.openxmlformats.org/officeDocument/2006/relationships/slide" Target="slides/slide4.xml"/><Relationship Id="rId32" Type="http://schemas.openxmlformats.org/officeDocument/2006/relationships/font" Target="fonts/ProximaNova-regular.fntdata"/><Relationship Id="rId13" Type="http://schemas.openxmlformats.org/officeDocument/2006/relationships/slide" Target="slides/slide7.xml"/><Relationship Id="rId35" Type="http://schemas.openxmlformats.org/officeDocument/2006/relationships/font" Target="fonts/ProximaNova-boldItalic.fntdata"/><Relationship Id="rId12" Type="http://schemas.openxmlformats.org/officeDocument/2006/relationships/slide" Target="slides/slide6.xml"/><Relationship Id="rId34" Type="http://schemas.openxmlformats.org/officeDocument/2006/relationships/font" Target="fonts/ProximaNova-italic.fntdata"/><Relationship Id="rId15" Type="http://schemas.openxmlformats.org/officeDocument/2006/relationships/slide" Target="slides/slide9.xml"/><Relationship Id="rId37" Type="http://schemas.openxmlformats.org/officeDocument/2006/relationships/font" Target="fonts/ProximaNovaSemibold-bold.fntdata"/><Relationship Id="rId14" Type="http://schemas.openxmlformats.org/officeDocument/2006/relationships/slide" Target="slides/slide8.xml"/><Relationship Id="rId36" Type="http://schemas.openxmlformats.org/officeDocument/2006/relationships/font" Target="fonts/ProximaNovaSemibold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ProximaNovaSemi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9fe5277ec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f9fe5277ec_9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fe5277ec_9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f9fe5277ec_9_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9fe5277ec_9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f9fe5277ec_9_2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fe5277ec_9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f9fe5277ec_9_5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fe5277ec_9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f9fe5277ec_9_5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9fe5277ec_9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f9fe5277ec_9_7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9fe5277ec_9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f9fe5277ec_9_8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9fe5277ec_9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3f9fe5277ec_9_10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9fe5277ec_9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f9fe5277ec_9_11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9fe5277ec_9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3f9fe5277ec_9_12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9fe5277ec_9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f9fe5277ec_9_14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9fe5277ec_9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g3f9fe5277ec_9_15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9fe5277ec_9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g3f9fe5277ec_9_17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9fe5277ec_9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g3f9fe5277ec_9_18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9fe5277ec_9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f9fe5277ec_9_19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9fe5277ec_9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g3f9fe5277ec_9_21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9fe5277ec_9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g3f9fe5277ec_9_22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9fe5277ec_9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g3f9fe5277ec_9_23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9fe5277ec_9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f9fe5277ec_9_24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9fe5277ec_9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g3f9fe5277ec_9_25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9fe5277ec_9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0" name="Google Shape;410;g3f9fe5277ec_9_26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9fe5277ec_9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g3f9fe5277ec_9_28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9fe5277ec_9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g3f9fe5277ec_9_28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9fe5277ec_9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1" name="Google Shape;441;g3f9fe5277ec_9_29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9fe5277ec_9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g3f9fe5277ec_9_30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2">
  <p:cSld name="TITLE_1">
    <p:bg>
      <p:bgPr>
        <a:solidFill>
          <a:srgbClr val="120A59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752500" y="3017300"/>
            <a:ext cx="6589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904933" y="975700"/>
            <a:ext cx="4737224" cy="743353"/>
          </a:xfrm>
          <a:custGeom>
            <a:rect b="b" l="l" r="r" t="t"/>
            <a:pathLst>
              <a:path extrusionOk="0" h="914896" w="5830429">
                <a:moveTo>
                  <a:pt x="0" y="0"/>
                </a:moveTo>
                <a:lnTo>
                  <a:pt x="5830429" y="0"/>
                </a:lnTo>
                <a:lnTo>
                  <a:pt x="5830429" y="914895"/>
                </a:lnTo>
                <a:lnTo>
                  <a:pt x="0" y="914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" name="Google Shape;13;p2"/>
          <p:cNvSpPr/>
          <p:nvPr/>
        </p:nvSpPr>
        <p:spPr>
          <a:xfrm>
            <a:off x="7556567" y="-300"/>
            <a:ext cx="4632051" cy="6866488"/>
          </a:xfrm>
          <a:custGeom>
            <a:rect b="b" l="l" r="r" t="t"/>
            <a:pathLst>
              <a:path extrusionOk="0" h="10286873" w="7018259">
                <a:moveTo>
                  <a:pt x="7018259" y="10251440"/>
                </a:moveTo>
                <a:cubicBezTo>
                  <a:pt x="7018259" y="10284587"/>
                  <a:pt x="7009556" y="10286873"/>
                  <a:pt x="6986868" y="10286873"/>
                </a:cubicBezTo>
                <a:cubicBezTo>
                  <a:pt x="4658307" y="10286238"/>
                  <a:pt x="2329850" y="10286238"/>
                  <a:pt x="1289" y="10286238"/>
                </a:cubicBezTo>
                <a:cubicBezTo>
                  <a:pt x="-2541" y="10272395"/>
                  <a:pt x="3154" y="10259822"/>
                  <a:pt x="5537" y="10246995"/>
                </a:cubicBezTo>
                <a:cubicBezTo>
                  <a:pt x="107891" y="9685401"/>
                  <a:pt x="210349" y="9123934"/>
                  <a:pt x="313014" y="8562467"/>
                </a:cubicBezTo>
                <a:cubicBezTo>
                  <a:pt x="459397" y="7761986"/>
                  <a:pt x="606091" y="6961632"/>
                  <a:pt x="752371" y="6161151"/>
                </a:cubicBezTo>
                <a:cubicBezTo>
                  <a:pt x="933045" y="5172583"/>
                  <a:pt x="1113305" y="4184015"/>
                  <a:pt x="1293875" y="3195574"/>
                </a:cubicBezTo>
                <a:cubicBezTo>
                  <a:pt x="1477346" y="2191385"/>
                  <a:pt x="1660921" y="1187323"/>
                  <a:pt x="1844910" y="183261"/>
                </a:cubicBezTo>
                <a:cubicBezTo>
                  <a:pt x="1856099" y="122174"/>
                  <a:pt x="1863247" y="59690"/>
                  <a:pt x="1881377" y="635"/>
                </a:cubicBezTo>
                <a:cubicBezTo>
                  <a:pt x="3583277" y="635"/>
                  <a:pt x="5285177" y="635"/>
                  <a:pt x="6987076" y="0"/>
                </a:cubicBezTo>
                <a:cubicBezTo>
                  <a:pt x="7010179" y="0"/>
                  <a:pt x="7018052" y="3429"/>
                  <a:pt x="7018052" y="35814"/>
                </a:cubicBezTo>
                <a:cubicBezTo>
                  <a:pt x="7017430" y="3441065"/>
                  <a:pt x="7017430" y="6846316"/>
                  <a:pt x="7018259" y="1025144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0278" r="-80288" t="0"/>
            </a:stretch>
          </a:blip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7470681" y="-300"/>
            <a:ext cx="1388400" cy="6858000"/>
          </a:xfrm>
          <a:prstGeom prst="parallelogram">
            <a:avLst>
              <a:gd fmla="val 91817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8900044" scaled="0"/>
          </a:gra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">
  <p:cSld name="TITLE_AND_BODY_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8"/>
            <a:ext cx="12192000" cy="1656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878500" y="1719075"/>
            <a:ext cx="10415400" cy="4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>
            <a:off x="878500" y="657525"/>
            <a:ext cx="1186849" cy="664677"/>
          </a:xfrm>
          <a:custGeom>
            <a:rect b="b" l="l" r="r" t="t"/>
            <a:pathLst>
              <a:path extrusionOk="0" h="1582565" w="2760114">
                <a:moveTo>
                  <a:pt x="0" y="0"/>
                </a:moveTo>
                <a:lnTo>
                  <a:pt x="2760114" y="0"/>
                </a:lnTo>
                <a:lnTo>
                  <a:pt x="2760114" y="1582565"/>
                </a:lnTo>
                <a:lnTo>
                  <a:pt x="0" y="158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None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_1">
    <p:bg>
      <p:bgPr>
        <a:solidFill>
          <a:srgbClr val="120A59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23000"/>
            </a:blip>
            <a:stretch>
              <a:fillRect b="0" l="-23190" r="-26809" t="0"/>
            </a:stretch>
          </a:blip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685800" y="685800"/>
            <a:ext cx="3915757" cy="622928"/>
          </a:xfrm>
          <a:custGeom>
            <a:rect b="b" l="l" r="r" t="t"/>
            <a:pathLst>
              <a:path extrusionOk="0" h="1192206" w="7494271">
                <a:moveTo>
                  <a:pt x="0" y="0"/>
                </a:moveTo>
                <a:lnTo>
                  <a:pt x="7494271" y="0"/>
                </a:lnTo>
                <a:lnTo>
                  <a:pt x="7494271" y="1192206"/>
                </a:lnTo>
                <a:lnTo>
                  <a:pt x="0" y="1192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0" y="3017650"/>
            <a:ext cx="12207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0" y="3972225"/>
            <a:ext cx="121890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b="1" sz="21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b="1" sz="21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b="1" sz="21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b="1" sz="21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b="1" sz="21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b="1" sz="21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b="1" sz="21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b="1" sz="21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b="1" sz="21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-1525" y="6701851"/>
            <a:ext cx="12192000" cy="165600"/>
          </a:xfrm>
          <a:prstGeom prst="roundRect">
            <a:avLst>
              <a:gd fmla="val 0" name="adj"/>
            </a:avLst>
          </a:prstGeom>
          <a:solidFill>
            <a:srgbClr val="120A59"/>
          </a:soli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0" y="8"/>
            <a:ext cx="12192000" cy="1656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5"/>
          <p:cNvCxnSpPr/>
          <p:nvPr/>
        </p:nvCxnSpPr>
        <p:spPr>
          <a:xfrm>
            <a:off x="6122800" y="1908913"/>
            <a:ext cx="0" cy="39768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1555800" y="1894588"/>
            <a:ext cx="35073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365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365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365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365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365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365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365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365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cxnSp>
        <p:nvCxnSpPr>
          <p:cNvPr id="33" name="Google Shape;33;p5"/>
          <p:cNvCxnSpPr/>
          <p:nvPr/>
        </p:nvCxnSpPr>
        <p:spPr>
          <a:xfrm>
            <a:off x="878500" y="2607688"/>
            <a:ext cx="4326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5"/>
          <p:cNvSpPr txBox="1"/>
          <p:nvPr>
            <p:ph type="title"/>
          </p:nvPr>
        </p:nvSpPr>
        <p:spPr>
          <a:xfrm>
            <a:off x="2276850" y="657525"/>
            <a:ext cx="9912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2" type="subTitle"/>
          </p:nvPr>
        </p:nvSpPr>
        <p:spPr>
          <a:xfrm>
            <a:off x="2281350" y="1124100"/>
            <a:ext cx="991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None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6" name="Google Shape;36;p5"/>
          <p:cNvSpPr/>
          <p:nvPr/>
        </p:nvSpPr>
        <p:spPr>
          <a:xfrm>
            <a:off x="878500" y="657525"/>
            <a:ext cx="1186849" cy="664677"/>
          </a:xfrm>
          <a:custGeom>
            <a:rect b="b" l="l" r="r" t="t"/>
            <a:pathLst>
              <a:path extrusionOk="0" h="1582565" w="2760114">
                <a:moveTo>
                  <a:pt x="0" y="0"/>
                </a:moveTo>
                <a:lnTo>
                  <a:pt x="2760114" y="0"/>
                </a:lnTo>
                <a:lnTo>
                  <a:pt x="2760114" y="1582565"/>
                </a:lnTo>
                <a:lnTo>
                  <a:pt x="0" y="158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7" name="Google Shape;37;p5"/>
          <p:cNvCxnSpPr/>
          <p:nvPr/>
        </p:nvCxnSpPr>
        <p:spPr>
          <a:xfrm>
            <a:off x="878500" y="3593592"/>
            <a:ext cx="4326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5"/>
          <p:cNvCxnSpPr/>
          <p:nvPr/>
        </p:nvCxnSpPr>
        <p:spPr>
          <a:xfrm>
            <a:off x="878500" y="4581144"/>
            <a:ext cx="4326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5"/>
          <p:cNvCxnSpPr/>
          <p:nvPr/>
        </p:nvCxnSpPr>
        <p:spPr>
          <a:xfrm>
            <a:off x="878500" y="5568696"/>
            <a:ext cx="4326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5"/>
          <p:cNvSpPr txBox="1"/>
          <p:nvPr>
            <p:ph idx="3" type="body"/>
          </p:nvPr>
        </p:nvSpPr>
        <p:spPr>
          <a:xfrm>
            <a:off x="7718112" y="1894597"/>
            <a:ext cx="35073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365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365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365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365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365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365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365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365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7040870" y="1937650"/>
            <a:ext cx="6771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b="1" sz="25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cxnSp>
        <p:nvCxnSpPr>
          <p:cNvPr id="42" name="Google Shape;42;p5"/>
          <p:cNvCxnSpPr/>
          <p:nvPr/>
        </p:nvCxnSpPr>
        <p:spPr>
          <a:xfrm>
            <a:off x="7040812" y="2607697"/>
            <a:ext cx="4326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5"/>
          <p:cNvSpPr txBox="1"/>
          <p:nvPr>
            <p:ph idx="5" type="body"/>
          </p:nvPr>
        </p:nvSpPr>
        <p:spPr>
          <a:xfrm>
            <a:off x="7718112" y="2880360"/>
            <a:ext cx="35073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365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365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365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365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365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365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365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365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6" type="subTitle"/>
          </p:nvPr>
        </p:nvSpPr>
        <p:spPr>
          <a:xfrm>
            <a:off x="7040870" y="2923413"/>
            <a:ext cx="6771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b="1" sz="25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cxnSp>
        <p:nvCxnSpPr>
          <p:cNvPr id="45" name="Google Shape;45;p5"/>
          <p:cNvCxnSpPr/>
          <p:nvPr/>
        </p:nvCxnSpPr>
        <p:spPr>
          <a:xfrm>
            <a:off x="7040812" y="3593460"/>
            <a:ext cx="4326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5"/>
          <p:cNvSpPr txBox="1"/>
          <p:nvPr>
            <p:ph idx="7" type="body"/>
          </p:nvPr>
        </p:nvSpPr>
        <p:spPr>
          <a:xfrm>
            <a:off x="7718112" y="3867912"/>
            <a:ext cx="35073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365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365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365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365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365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365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365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365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8" type="subTitle"/>
          </p:nvPr>
        </p:nvSpPr>
        <p:spPr>
          <a:xfrm>
            <a:off x="7040871" y="3910960"/>
            <a:ext cx="6771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b="1" sz="25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cxnSp>
        <p:nvCxnSpPr>
          <p:cNvPr id="48" name="Google Shape;48;p5"/>
          <p:cNvCxnSpPr/>
          <p:nvPr/>
        </p:nvCxnSpPr>
        <p:spPr>
          <a:xfrm>
            <a:off x="7040812" y="4581144"/>
            <a:ext cx="4326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5"/>
          <p:cNvSpPr txBox="1"/>
          <p:nvPr>
            <p:ph idx="9" type="body"/>
          </p:nvPr>
        </p:nvSpPr>
        <p:spPr>
          <a:xfrm>
            <a:off x="7718112" y="4855464"/>
            <a:ext cx="35073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365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365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365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365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365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365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365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365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3" type="subTitle"/>
          </p:nvPr>
        </p:nvSpPr>
        <p:spPr>
          <a:xfrm>
            <a:off x="7040870" y="4898512"/>
            <a:ext cx="6771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b="1" sz="25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cxnSp>
        <p:nvCxnSpPr>
          <p:cNvPr id="51" name="Google Shape;51;p5"/>
          <p:cNvCxnSpPr/>
          <p:nvPr/>
        </p:nvCxnSpPr>
        <p:spPr>
          <a:xfrm>
            <a:off x="7040812" y="5568696"/>
            <a:ext cx="4326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5"/>
          <p:cNvSpPr txBox="1"/>
          <p:nvPr>
            <p:ph idx="14" type="subTitle"/>
          </p:nvPr>
        </p:nvSpPr>
        <p:spPr>
          <a:xfrm>
            <a:off x="878570" y="1948125"/>
            <a:ext cx="6771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b="1" sz="25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" name="Google Shape;53;p5"/>
          <p:cNvSpPr txBox="1"/>
          <p:nvPr>
            <p:ph idx="15" type="body"/>
          </p:nvPr>
        </p:nvSpPr>
        <p:spPr>
          <a:xfrm>
            <a:off x="1555054" y="2880360"/>
            <a:ext cx="35073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365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365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365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365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365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365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365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365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16" type="subTitle"/>
          </p:nvPr>
        </p:nvSpPr>
        <p:spPr>
          <a:xfrm>
            <a:off x="877824" y="2933898"/>
            <a:ext cx="6771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b="1" sz="25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5" name="Google Shape;55;p5"/>
          <p:cNvSpPr txBox="1"/>
          <p:nvPr>
            <p:ph idx="17" type="body"/>
          </p:nvPr>
        </p:nvSpPr>
        <p:spPr>
          <a:xfrm>
            <a:off x="1555054" y="3867912"/>
            <a:ext cx="35073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365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365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365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365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365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365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365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365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18" type="subTitle"/>
          </p:nvPr>
        </p:nvSpPr>
        <p:spPr>
          <a:xfrm>
            <a:off x="877824" y="3921450"/>
            <a:ext cx="6771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b="1" sz="25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5"/>
          <p:cNvSpPr txBox="1"/>
          <p:nvPr>
            <p:ph idx="19" type="body"/>
          </p:nvPr>
        </p:nvSpPr>
        <p:spPr>
          <a:xfrm>
            <a:off x="1555054" y="4855464"/>
            <a:ext cx="35073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365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365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365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365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365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365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●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365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○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365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Proxima Nova"/>
              <a:buChar char="■"/>
              <a:defRPr sz="1700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20" type="subTitle"/>
          </p:nvPr>
        </p:nvSpPr>
        <p:spPr>
          <a:xfrm>
            <a:off x="877824" y="4909002"/>
            <a:ext cx="6771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b="1" sz="25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ITLE_AND_BODY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0" y="8"/>
            <a:ext cx="12192000" cy="1656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 txBox="1"/>
          <p:nvPr>
            <p:ph idx="1" type="body"/>
          </p:nvPr>
        </p:nvSpPr>
        <p:spPr>
          <a:xfrm>
            <a:off x="878500" y="1719075"/>
            <a:ext cx="5101800" cy="3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2" type="body"/>
          </p:nvPr>
        </p:nvSpPr>
        <p:spPr>
          <a:xfrm>
            <a:off x="6153725" y="1719075"/>
            <a:ext cx="5101800" cy="3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4" name="Google Shape;64;p6"/>
          <p:cNvSpPr/>
          <p:nvPr/>
        </p:nvSpPr>
        <p:spPr>
          <a:xfrm>
            <a:off x="878500" y="657525"/>
            <a:ext cx="1186849" cy="664677"/>
          </a:xfrm>
          <a:custGeom>
            <a:rect b="b" l="l" r="r" t="t"/>
            <a:pathLst>
              <a:path extrusionOk="0" h="1582565" w="2760114">
                <a:moveTo>
                  <a:pt x="0" y="0"/>
                </a:moveTo>
                <a:lnTo>
                  <a:pt x="2760114" y="0"/>
                </a:lnTo>
                <a:lnTo>
                  <a:pt x="2760114" y="1582565"/>
                </a:lnTo>
                <a:lnTo>
                  <a:pt x="0" y="158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" name="Google Shape;65;p6"/>
          <p:cNvSpPr txBox="1"/>
          <p:nvPr>
            <p:ph type="title"/>
          </p:nvPr>
        </p:nvSpPr>
        <p:spPr>
          <a:xfrm>
            <a:off x="2276850" y="657525"/>
            <a:ext cx="9912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3" type="subTitle"/>
          </p:nvPr>
        </p:nvSpPr>
        <p:spPr>
          <a:xfrm>
            <a:off x="2281350" y="1124100"/>
            <a:ext cx="991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None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1" type="title">
  <p:cSld name="TITLE">
    <p:bg>
      <p:bgPr>
        <a:solidFill>
          <a:srgbClr val="120A59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>
            <p:ph idx="1" type="body"/>
          </p:nvPr>
        </p:nvSpPr>
        <p:spPr>
          <a:xfrm>
            <a:off x="762000" y="4302175"/>
            <a:ext cx="6419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619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Char char="●"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619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Char char="○"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619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Char char="■"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619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Char char="●"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619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Char char="○"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619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Char char="■"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619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Char char="●"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619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Char char="○"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619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Char char="■"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0" name="Google Shape;70;p7"/>
          <p:cNvSpPr txBox="1"/>
          <p:nvPr>
            <p:ph type="title"/>
          </p:nvPr>
        </p:nvSpPr>
        <p:spPr>
          <a:xfrm>
            <a:off x="752500" y="3017300"/>
            <a:ext cx="6589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904933" y="975700"/>
            <a:ext cx="4737224" cy="743353"/>
          </a:xfrm>
          <a:custGeom>
            <a:rect b="b" l="l" r="r" t="t"/>
            <a:pathLst>
              <a:path extrusionOk="0" h="914896" w="5830429">
                <a:moveTo>
                  <a:pt x="0" y="0"/>
                </a:moveTo>
                <a:lnTo>
                  <a:pt x="5830429" y="0"/>
                </a:lnTo>
                <a:lnTo>
                  <a:pt x="5830429" y="914895"/>
                </a:lnTo>
                <a:lnTo>
                  <a:pt x="0" y="914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7"/>
          <p:cNvSpPr/>
          <p:nvPr/>
        </p:nvSpPr>
        <p:spPr>
          <a:xfrm>
            <a:off x="7556567" y="-300"/>
            <a:ext cx="4632051" cy="6866488"/>
          </a:xfrm>
          <a:custGeom>
            <a:rect b="b" l="l" r="r" t="t"/>
            <a:pathLst>
              <a:path extrusionOk="0" h="10286873" w="7018259">
                <a:moveTo>
                  <a:pt x="7018259" y="10251440"/>
                </a:moveTo>
                <a:cubicBezTo>
                  <a:pt x="7018259" y="10284587"/>
                  <a:pt x="7009556" y="10286873"/>
                  <a:pt x="6986868" y="10286873"/>
                </a:cubicBezTo>
                <a:cubicBezTo>
                  <a:pt x="4658307" y="10286238"/>
                  <a:pt x="2329850" y="10286238"/>
                  <a:pt x="1289" y="10286238"/>
                </a:cubicBezTo>
                <a:cubicBezTo>
                  <a:pt x="-2541" y="10272395"/>
                  <a:pt x="3154" y="10259822"/>
                  <a:pt x="5537" y="10246995"/>
                </a:cubicBezTo>
                <a:cubicBezTo>
                  <a:pt x="107891" y="9685401"/>
                  <a:pt x="210349" y="9123934"/>
                  <a:pt x="313014" y="8562467"/>
                </a:cubicBezTo>
                <a:cubicBezTo>
                  <a:pt x="459397" y="7761986"/>
                  <a:pt x="606091" y="6961632"/>
                  <a:pt x="752371" y="6161151"/>
                </a:cubicBezTo>
                <a:cubicBezTo>
                  <a:pt x="933045" y="5172583"/>
                  <a:pt x="1113305" y="4184015"/>
                  <a:pt x="1293875" y="3195574"/>
                </a:cubicBezTo>
                <a:cubicBezTo>
                  <a:pt x="1477346" y="2191385"/>
                  <a:pt x="1660921" y="1187323"/>
                  <a:pt x="1844910" y="183261"/>
                </a:cubicBezTo>
                <a:cubicBezTo>
                  <a:pt x="1856099" y="122174"/>
                  <a:pt x="1863247" y="59690"/>
                  <a:pt x="1881377" y="635"/>
                </a:cubicBezTo>
                <a:cubicBezTo>
                  <a:pt x="3583277" y="635"/>
                  <a:pt x="5285177" y="635"/>
                  <a:pt x="6987076" y="0"/>
                </a:cubicBezTo>
                <a:cubicBezTo>
                  <a:pt x="7010179" y="0"/>
                  <a:pt x="7018052" y="3429"/>
                  <a:pt x="7018052" y="35814"/>
                </a:cubicBezTo>
                <a:cubicBezTo>
                  <a:pt x="7017430" y="3441065"/>
                  <a:pt x="7017430" y="6846316"/>
                  <a:pt x="7018259" y="1025144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0278" r="-80288" t="0"/>
            </a:stretch>
          </a:blip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7470681" y="-300"/>
            <a:ext cx="1388400" cy="6858000"/>
          </a:xfrm>
          <a:prstGeom prst="parallelogram">
            <a:avLst>
              <a:gd fmla="val 91817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8900044" scaled="0"/>
          </a:gra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bg>
      <p:bgPr>
        <a:solidFill>
          <a:srgbClr val="120A59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/>
          <p:nvPr/>
        </p:nvSpPr>
        <p:spPr>
          <a:xfrm>
            <a:off x="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23000"/>
            </a:blip>
            <a:stretch>
              <a:fillRect b="0" l="-23190" r="-26809" t="0"/>
            </a:stretch>
          </a:blipFill>
          <a:ln>
            <a:noFill/>
          </a:ln>
        </p:spPr>
      </p:sp>
      <p:sp>
        <p:nvSpPr>
          <p:cNvPr id="77" name="Google Shape;77;p8"/>
          <p:cNvSpPr/>
          <p:nvPr/>
        </p:nvSpPr>
        <p:spPr>
          <a:xfrm>
            <a:off x="685800" y="685800"/>
            <a:ext cx="3915757" cy="622928"/>
          </a:xfrm>
          <a:custGeom>
            <a:rect b="b" l="l" r="r" t="t"/>
            <a:pathLst>
              <a:path extrusionOk="0" h="1192206" w="7494271">
                <a:moveTo>
                  <a:pt x="0" y="0"/>
                </a:moveTo>
                <a:lnTo>
                  <a:pt x="7494271" y="0"/>
                </a:lnTo>
                <a:lnTo>
                  <a:pt x="7494271" y="1192206"/>
                </a:lnTo>
                <a:lnTo>
                  <a:pt x="0" y="1192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8" name="Google Shape;78;p8"/>
          <p:cNvSpPr txBox="1"/>
          <p:nvPr>
            <p:ph type="title"/>
          </p:nvPr>
        </p:nvSpPr>
        <p:spPr>
          <a:xfrm>
            <a:off x="0" y="3017650"/>
            <a:ext cx="12207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roxima Nova"/>
              <a:buNone/>
              <a:defRPr b="1" sz="6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9" name="Google Shape;79;p8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slide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0" y="8"/>
            <a:ext cx="12192000" cy="1656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 rot="5400000">
            <a:off x="4840800" y="-2654074"/>
            <a:ext cx="2510400" cy="121920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120A59"/>
          </a:solidFill>
          <a:ln>
            <a:noFill/>
          </a:ln>
        </p:spPr>
        <p:txBody>
          <a:bodyPr anchorCtr="0" anchor="ctr" bIns="61100" lIns="61100" spcFirstLastPara="1" rIns="61100" wrap="square" tIns="6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83" name="Google Shape;83;p9"/>
          <p:cNvSpPr txBox="1"/>
          <p:nvPr>
            <p:ph idx="1" type="body"/>
          </p:nvPr>
        </p:nvSpPr>
        <p:spPr>
          <a:xfrm>
            <a:off x="878500" y="2289950"/>
            <a:ext cx="10334100" cy="22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 sz="2000">
                <a:solidFill>
                  <a:srgbClr val="FFFFFF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 sz="2000">
                <a:solidFill>
                  <a:srgbClr val="FFFFFF"/>
                </a:solidFill>
              </a:defRPr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 sz="2000">
                <a:solidFill>
                  <a:srgbClr val="FFFFFF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 sz="2000">
                <a:solidFill>
                  <a:srgbClr val="FFFFFF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 sz="2000">
                <a:solidFill>
                  <a:srgbClr val="FFFFFF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 sz="2000">
                <a:solidFill>
                  <a:srgbClr val="FFFFFF"/>
                </a:solidFill>
              </a:defRPr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 sz="2000">
                <a:solidFill>
                  <a:srgbClr val="FFFFFF"/>
                </a:solidFill>
              </a:defRPr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 sz="2000">
                <a:solidFill>
                  <a:srgbClr val="FFFFFF"/>
                </a:solidFill>
              </a:defRPr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 sz="2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4" name="Google Shape;84;p9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5" name="Google Shape;85;p9"/>
          <p:cNvSpPr/>
          <p:nvPr/>
        </p:nvSpPr>
        <p:spPr>
          <a:xfrm>
            <a:off x="878500" y="657525"/>
            <a:ext cx="1186849" cy="664677"/>
          </a:xfrm>
          <a:custGeom>
            <a:rect b="b" l="l" r="r" t="t"/>
            <a:pathLst>
              <a:path extrusionOk="0" h="1582565" w="2760114">
                <a:moveTo>
                  <a:pt x="0" y="0"/>
                </a:moveTo>
                <a:lnTo>
                  <a:pt x="2760114" y="0"/>
                </a:lnTo>
                <a:lnTo>
                  <a:pt x="2760114" y="1582565"/>
                </a:lnTo>
                <a:lnTo>
                  <a:pt x="0" y="158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9"/>
          <p:cNvSpPr txBox="1"/>
          <p:nvPr>
            <p:ph idx="2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None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7" name="Google Shape;87;p9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dient bar">
  <p:cSld name="CUSTOM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/>
          <p:nvPr/>
        </p:nvSpPr>
        <p:spPr>
          <a:xfrm>
            <a:off x="0" y="8"/>
            <a:ext cx="12192000" cy="1656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slide">
  <p:cSld name="CUSTOM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/>
          <p:nvPr/>
        </p:nvSpPr>
        <p:spPr>
          <a:xfrm>
            <a:off x="0" y="8"/>
            <a:ext cx="12192000" cy="1656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1"/>
          <p:cNvSpPr/>
          <p:nvPr/>
        </p:nvSpPr>
        <p:spPr>
          <a:xfrm>
            <a:off x="878500" y="657525"/>
            <a:ext cx="1186849" cy="664677"/>
          </a:xfrm>
          <a:custGeom>
            <a:rect b="b" l="l" r="r" t="t"/>
            <a:pathLst>
              <a:path extrusionOk="0" h="1582565" w="2760114">
                <a:moveTo>
                  <a:pt x="0" y="0"/>
                </a:moveTo>
                <a:lnTo>
                  <a:pt x="2760114" y="0"/>
                </a:lnTo>
                <a:lnTo>
                  <a:pt x="2760114" y="1582565"/>
                </a:lnTo>
                <a:lnTo>
                  <a:pt x="0" y="158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TITLE_AND_BODY_1_2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/>
          <p:nvPr/>
        </p:nvSpPr>
        <p:spPr>
          <a:xfrm>
            <a:off x="0" y="8"/>
            <a:ext cx="12192000" cy="1656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2"/>
          <p:cNvSpPr/>
          <p:nvPr/>
        </p:nvSpPr>
        <p:spPr>
          <a:xfrm>
            <a:off x="878500" y="657525"/>
            <a:ext cx="1186849" cy="664677"/>
          </a:xfrm>
          <a:custGeom>
            <a:rect b="b" l="l" r="r" t="t"/>
            <a:pathLst>
              <a:path extrusionOk="0" h="1582565" w="2760114">
                <a:moveTo>
                  <a:pt x="0" y="0"/>
                </a:moveTo>
                <a:lnTo>
                  <a:pt x="2760114" y="0"/>
                </a:lnTo>
                <a:lnTo>
                  <a:pt x="2760114" y="1582565"/>
                </a:lnTo>
                <a:lnTo>
                  <a:pt x="0" y="158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2"/>
          <p:cNvSpPr txBox="1"/>
          <p:nvPr>
            <p:ph idx="1" type="subTitle"/>
          </p:nvPr>
        </p:nvSpPr>
        <p:spPr>
          <a:xfrm>
            <a:off x="878500" y="1719075"/>
            <a:ext cx="51018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9" name="Google Shape;99;p12"/>
          <p:cNvSpPr txBox="1"/>
          <p:nvPr>
            <p:ph type="title"/>
          </p:nvPr>
        </p:nvSpPr>
        <p:spPr>
          <a:xfrm>
            <a:off x="2276850" y="657525"/>
            <a:ext cx="9912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2" type="subTitle"/>
          </p:nvPr>
        </p:nvSpPr>
        <p:spPr>
          <a:xfrm>
            <a:off x="2281350" y="1124100"/>
            <a:ext cx="991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None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01" name="Google Shape;101;p12"/>
          <p:cNvSpPr txBox="1"/>
          <p:nvPr>
            <p:ph idx="3" type="subTitle"/>
          </p:nvPr>
        </p:nvSpPr>
        <p:spPr>
          <a:xfrm>
            <a:off x="6153725" y="1719075"/>
            <a:ext cx="51018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2" name="Google Shape;102;p12"/>
          <p:cNvSpPr txBox="1"/>
          <p:nvPr>
            <p:ph idx="4" type="body"/>
          </p:nvPr>
        </p:nvSpPr>
        <p:spPr>
          <a:xfrm>
            <a:off x="878500" y="2340864"/>
            <a:ext cx="5101800" cy="3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03" name="Google Shape;103;p12"/>
          <p:cNvSpPr txBox="1"/>
          <p:nvPr>
            <p:ph idx="5" type="body"/>
          </p:nvPr>
        </p:nvSpPr>
        <p:spPr>
          <a:xfrm>
            <a:off x="6153725" y="2340864"/>
            <a:ext cx="5101800" cy="3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04" name="Google Shape;104;p12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Caption and diagram or image">
  <p:cSld name="TITLE_AND_BODY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0" y="8"/>
            <a:ext cx="12192000" cy="1656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>
            <p:ph idx="2" type="pic"/>
          </p:nvPr>
        </p:nvSpPr>
        <p:spPr>
          <a:xfrm>
            <a:off x="6147450" y="1719072"/>
            <a:ext cx="5010300" cy="3995400"/>
          </a:xfrm>
          <a:prstGeom prst="roundRect">
            <a:avLst>
              <a:gd fmla="val 2612" name="adj"/>
            </a:avLst>
          </a:prstGeom>
          <a:noFill/>
          <a:ln>
            <a:noFill/>
          </a:ln>
        </p:spPr>
      </p:sp>
      <p:sp>
        <p:nvSpPr>
          <p:cNvPr id="108" name="Google Shape;108;p13"/>
          <p:cNvSpPr/>
          <p:nvPr/>
        </p:nvSpPr>
        <p:spPr>
          <a:xfrm>
            <a:off x="878500" y="657525"/>
            <a:ext cx="1186849" cy="664677"/>
          </a:xfrm>
          <a:custGeom>
            <a:rect b="b" l="l" r="r" t="t"/>
            <a:pathLst>
              <a:path extrusionOk="0" h="1582565" w="2760114">
                <a:moveTo>
                  <a:pt x="0" y="0"/>
                </a:moveTo>
                <a:lnTo>
                  <a:pt x="2760114" y="0"/>
                </a:lnTo>
                <a:lnTo>
                  <a:pt x="2760114" y="1582565"/>
                </a:lnTo>
                <a:lnTo>
                  <a:pt x="0" y="158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3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Proxima Nova"/>
              <a:buNone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3" type="subTitle"/>
          </p:nvPr>
        </p:nvSpPr>
        <p:spPr>
          <a:xfrm>
            <a:off x="878500" y="1719075"/>
            <a:ext cx="51018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4" type="body"/>
          </p:nvPr>
        </p:nvSpPr>
        <p:spPr>
          <a:xfrm>
            <a:off x="878500" y="2340864"/>
            <a:ext cx="5101800" cy="3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●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○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100"/>
              <a:buFont typeface="Proxima Nova"/>
              <a:buChar char="■"/>
              <a:defRPr sz="17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type="twoColTx">
  <p:cSld name="TITLE_AND_TWO_COLUMNS">
    <p:bg>
      <p:bgPr>
        <a:solidFill>
          <a:schemeClr val="accent6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4" title="Introduction to Data Lake.jpg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214" y="76"/>
            <a:ext cx="12191674" cy="685783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631857" y="4933273"/>
            <a:ext cx="1092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We’d love to hear from you. If you have any questions, </a:t>
            </a:r>
            <a:endParaRPr b="0" i="0" sz="2000" u="none" cap="none" strike="noStrike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feel free to reach out to our team anytime!</a:t>
            </a:r>
            <a:endParaRPr b="0" i="0" sz="2000" u="none" cap="none" strike="noStrike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2821407" y="3190787"/>
            <a:ext cx="654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14"/>
          <p:cNvCxnSpPr/>
          <p:nvPr/>
        </p:nvCxnSpPr>
        <p:spPr>
          <a:xfrm>
            <a:off x="2784057" y="4370455"/>
            <a:ext cx="6624000" cy="0"/>
          </a:xfrm>
          <a:prstGeom prst="straightConnector1">
            <a:avLst/>
          </a:prstGeom>
          <a:solidFill>
            <a:srgbClr val="EEECE1"/>
          </a:solidFill>
          <a:ln cap="flat" cmpd="sng" w="25400">
            <a:solidFill>
              <a:srgbClr val="5BB5E3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descr="A picture containing drawing&#10;&#10;Description automatically generated" id="119" name="Google Shape;1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8713" y="823499"/>
            <a:ext cx="3234588" cy="134773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76850" y="657518"/>
            <a:ext cx="5827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78500" y="1870050"/>
            <a:ext cx="10664700" cy="4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500"/>
              <a:buFont typeface="Proxima Nova"/>
              <a:buChar char="●"/>
              <a:defRPr b="0" i="0" sz="15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500"/>
              <a:buFont typeface="Proxima Nova"/>
              <a:buChar char="○"/>
              <a:defRPr b="0" i="0" sz="15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500"/>
              <a:buFont typeface="Proxima Nova"/>
              <a:buChar char="■"/>
              <a:defRPr b="0" i="0" sz="15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500"/>
              <a:buFont typeface="Proxima Nova"/>
              <a:buChar char="●"/>
              <a:defRPr b="0" i="0" sz="15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500"/>
              <a:buFont typeface="Proxima Nova"/>
              <a:buChar char="○"/>
              <a:defRPr b="0" i="0" sz="15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500"/>
              <a:buFont typeface="Proxima Nova"/>
              <a:buChar char="■"/>
              <a:defRPr b="0" i="0" sz="15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500"/>
              <a:buFont typeface="Proxima Nova"/>
              <a:buChar char="●"/>
              <a:defRPr b="0" i="0" sz="15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500"/>
              <a:buFont typeface="Proxima Nova"/>
              <a:buChar char="○"/>
              <a:defRPr b="0" i="0" sz="15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500"/>
              <a:buFont typeface="Proxima Nova"/>
              <a:buChar char="■"/>
              <a:defRPr b="0" i="0" sz="15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752500" y="3017300"/>
            <a:ext cx="6589500" cy="26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i="0" lang="en-US" sz="14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WEEK 6 · MODEL DEPLOYMENT &amp; SQL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0"/>
              <a:buNone/>
            </a:pPr>
            <a:r>
              <a:rPr b="1" i="0" lang="en-US" sz="4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SQL Foundations for Data Science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Where SQL Sits in the ML Pipeline</a:t>
            </a:r>
            <a:endParaRPr/>
          </a:p>
        </p:txBody>
      </p:sp>
      <p:sp>
        <p:nvSpPr>
          <p:cNvPr id="131" name="Google Shape;131;p16"/>
          <p:cNvSpPr txBox="1"/>
          <p:nvPr>
            <p:ph idx="2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6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WHY THIS WEEK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77824" y="1737360"/>
            <a:ext cx="104241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You've built models on data that was already clean, joined, and in one table. In </a:t>
            </a:r>
            <a:r>
              <a:rPr lang="en-US" sz="15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real world</a:t>
            </a:r>
            <a:r>
              <a:rPr b="0" i="0" lang="en-US" sz="15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, that table doesn't exist yet: it lives across a database, and SQL is how you build it, before it ever reaches a DataFrame.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877824" y="2834640"/>
            <a:ext cx="3383280" cy="283464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1106424" y="301752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106424" y="36118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0A5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RAW 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106424" y="406908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Orders, customers, products, returns: separate, normalized, full of noise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443984" y="2834640"/>
            <a:ext cx="3383280" cy="2834640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4672584" y="301752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FB8E4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4672584" y="36118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4672584" y="406908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Proxima Nova"/>
                <a:ea typeface="Proxima Nova"/>
                <a:cs typeface="Proxima Nova"/>
                <a:sym typeface="Proxima Nova"/>
              </a:rPr>
              <a:t>Filter, aggregate, join, engineer features: directly at the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8010144" y="2834640"/>
            <a:ext cx="3383280" cy="283464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8238744" y="301752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8238744" y="36118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0A5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TRAINING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8238744" y="406908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One clean, feature-rich table: ready for pandas.read_sql()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Foundations to Joins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The Superstore Schema</a:t>
            </a:r>
            <a:endParaRPr/>
          </a:p>
        </p:txBody>
      </p:sp>
      <p:sp>
        <p:nvSpPr>
          <p:cNvPr id="151" name="Google Shape;151;p17"/>
          <p:cNvSpPr txBox="1"/>
          <p:nvPr>
            <p:ph idx="2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6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TODAY'S DATASET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77824" y="169164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Four tables. Think of orders as your user behavior log, and products as your item catalog: exactly the shape of data you'll join for any recommender, churn, or demand-forecasting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877824" y="2377440"/>
            <a:ext cx="10424160" cy="8046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1097280" y="254203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0A59"/>
                </a:solidFill>
                <a:latin typeface="Courier New"/>
                <a:ea typeface="Courier New"/>
                <a:cs typeface="Courier New"/>
                <a:sym typeface="Courier New"/>
              </a:rPr>
              <a:t>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2834640" y="2505456"/>
            <a:ext cx="6492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6B8A"/>
                </a:solidFill>
                <a:latin typeface="Courier New"/>
                <a:ea typeface="Courier New"/>
                <a:cs typeface="Courier New"/>
                <a:sym typeface="Courier New"/>
              </a:rPr>
              <a:t>OrderID, ProductID, CustomerID, OrderDate, OrderPriority, OrderQuantity, Sales, Discount, ShipMode, Profit, UnitPrice, ShippingCost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9418320" y="2560320"/>
            <a:ext cx="1691640" cy="438912"/>
          </a:xfrm>
          <a:prstGeom prst="roundRect">
            <a:avLst>
              <a:gd fmla="val 30000" name="adj"/>
            </a:avLst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9418320" y="2560320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behavior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877824" y="3310128"/>
            <a:ext cx="10424160" cy="8046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1097280" y="347472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0A59"/>
                </a:solidFill>
                <a:latin typeface="Courier New"/>
                <a:ea typeface="Courier New"/>
                <a:cs typeface="Courier New"/>
                <a:sym typeface="Courier New"/>
              </a:rPr>
              <a:t>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2834640" y="3438144"/>
            <a:ext cx="6492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6B8A"/>
                </a:solidFill>
                <a:latin typeface="Courier New"/>
                <a:ea typeface="Courier New"/>
                <a:cs typeface="Courier New"/>
                <a:sym typeface="Courier New"/>
              </a:rPr>
              <a:t>CustomerID, CustomerName, Province, Region, CustomerSegment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9418320" y="3493008"/>
            <a:ext cx="1691640" cy="438912"/>
          </a:xfrm>
          <a:prstGeom prst="roundRect">
            <a:avLst>
              <a:gd fmla="val 30000" name="adj"/>
            </a:avLst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9418320" y="349300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user profile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877824" y="4242816"/>
            <a:ext cx="10424160" cy="8046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1097280" y="440740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0A59"/>
                </a:solidFill>
                <a:latin typeface="Courier New"/>
                <a:ea typeface="Courier New"/>
                <a:cs typeface="Courier New"/>
                <a:sym typeface="Courier New"/>
              </a:rPr>
              <a:t>products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2834640" y="4370832"/>
            <a:ext cx="6492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6B8A"/>
                </a:solidFill>
                <a:latin typeface="Courier New"/>
                <a:ea typeface="Courier New"/>
                <a:cs typeface="Courier New"/>
                <a:sym typeface="Courier New"/>
              </a:rPr>
              <a:t>ProductID, ProductName, ProductCategory, ProductSubCategory, ProductContainer, ProductBaseMargin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9418320" y="4425696"/>
            <a:ext cx="1691640" cy="438912"/>
          </a:xfrm>
          <a:prstGeom prst="roundRect">
            <a:avLst>
              <a:gd fmla="val 30000" name="adj"/>
            </a:avLst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9418320" y="4425696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item catalog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877824" y="5175504"/>
            <a:ext cx="10424160" cy="8046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1097280" y="5340096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0A59"/>
                </a:solidFill>
                <a:latin typeface="Courier New"/>
                <a:ea typeface="Courier New"/>
                <a:cs typeface="Courier New"/>
                <a:sym typeface="Courier New"/>
              </a:rPr>
              <a:t>returns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2834640" y="5303520"/>
            <a:ext cx="6492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6B8A"/>
                </a:solidFill>
                <a:latin typeface="Courier New"/>
                <a:ea typeface="Courier New"/>
                <a:cs typeface="Courier New"/>
                <a:sym typeface="Courier New"/>
              </a:rPr>
              <a:t>OrderID,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9418320" y="5358384"/>
            <a:ext cx="1691640" cy="438912"/>
          </a:xfrm>
          <a:prstGeom prst="roundRect">
            <a:avLst>
              <a:gd fmla="val 30000" name="adj"/>
            </a:avLst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9418320" y="5358384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label / outcome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Foundations to Joins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/>
          <p:nvPr>
            <p:ph type="title"/>
          </p:nvPr>
        </p:nvSpPr>
        <p:spPr>
          <a:xfrm>
            <a:off x="0" y="3017650"/>
            <a:ext cx="12207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i="0" lang="en-US" sz="15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BEFORE THE MODULES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000"/>
              <a:buNone/>
            </a:pPr>
            <a:r>
              <a:rPr b="1" i="0" lang="en-US" sz="3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SQL Basics</a:t>
            </a:r>
            <a:endParaRPr/>
          </a:p>
        </p:txBody>
      </p:sp>
      <p:sp>
        <p:nvSpPr>
          <p:cNvPr id="179" name="Google Shape;179;p18"/>
          <p:cNvSpPr txBox="1"/>
          <p:nvPr>
            <p:ph idx="1" type="subTitle"/>
          </p:nvPr>
        </p:nvSpPr>
        <p:spPr>
          <a:xfrm>
            <a:off x="0" y="3972225"/>
            <a:ext cx="121890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i="0" lang="en-US" sz="1500">
                <a:solidFill>
                  <a:srgbClr val="CADCF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The core commands and join types you will use all week, in their simplest form.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DDL, DML, and DCL</a:t>
            </a:r>
            <a:endParaRPr/>
          </a:p>
        </p:txBody>
      </p:sp>
      <p:sp>
        <p:nvSpPr>
          <p:cNvPr id="185" name="Google Shape;185;p19"/>
          <p:cNvSpPr txBox="1"/>
          <p:nvPr>
            <p:ph idx="2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6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THREE CATEGORIES OF SQL COMMANDS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877824" y="1828800"/>
            <a:ext cx="3383280" cy="42976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1106424" y="201168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DDL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1106424" y="26060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Data Definition Language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1106424" y="306324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Defines and changes table 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1106424" y="3749039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DROP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TRUNCATE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4443984" y="1828800"/>
            <a:ext cx="3383280" cy="4297680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4672584" y="201168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5FB8E4"/>
                </a:solidFill>
                <a:latin typeface="Proxima Nova"/>
                <a:ea typeface="Proxima Nova"/>
                <a:cs typeface="Proxima Nova"/>
                <a:sym typeface="Proxima Nova"/>
              </a:rPr>
              <a:t>DML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4672584" y="26060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Data Manipulation Language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4672584" y="306324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Proxima Nova"/>
                <a:ea typeface="Proxima Nova"/>
                <a:cs typeface="Proxima Nova"/>
                <a:sym typeface="Proxima Nova"/>
              </a:rPr>
              <a:t>Reads and changes the data itself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4672584" y="3749039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UPDATE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8010144" y="1828800"/>
            <a:ext cx="3383280" cy="42976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8238744" y="201168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DCL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8238744" y="26060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Data Control Language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8238744" y="306324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Controls who can access what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8238744" y="3749039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GRANT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REVOKE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SQL Basics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>
            <p:ph type="title"/>
          </p:nvPr>
        </p:nvSpPr>
        <p:spPr>
          <a:xfrm>
            <a:off x="2276850" y="657525"/>
            <a:ext cx="9912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SELECT</a:t>
            </a:r>
            <a:endParaRPr/>
          </a:p>
        </p:txBody>
      </p:sp>
      <p:sp>
        <p:nvSpPr>
          <p:cNvPr id="207" name="Google Shape;207;p20"/>
          <p:cNvSpPr txBox="1"/>
          <p:nvPr>
            <p:ph idx="3" type="subTitle"/>
          </p:nvPr>
        </p:nvSpPr>
        <p:spPr>
          <a:xfrm>
            <a:off x="2281350" y="1124100"/>
            <a:ext cx="991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6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DML: RETRIEVE DATA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877824" y="1691640"/>
            <a:ext cx="5074920" cy="4480560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1106424" y="1856232"/>
            <a:ext cx="4617720" cy="4151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SELECT column1, column2,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FROM table_name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WHERE condition;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--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SELECT CustomerName, Region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FROM 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WHERE Region = 'West';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6172200" y="1691640"/>
            <a:ext cx="5120640" cy="44805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400800" y="1874519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WHAT IT DOES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400800" y="2286000"/>
            <a:ext cx="4663440" cy="3749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Reads rows from a table without changing them.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Choose specific columns by name, or use * for all columns (avoid * on large tables).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WHERE filters which rows come back.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The most common statement you will write all week.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SQL Basics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>
            <p:ph type="title"/>
          </p:nvPr>
        </p:nvSpPr>
        <p:spPr>
          <a:xfrm>
            <a:off x="2276850" y="657525"/>
            <a:ext cx="9912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INSERT</a:t>
            </a:r>
            <a:endParaRPr/>
          </a:p>
        </p:txBody>
      </p:sp>
      <p:sp>
        <p:nvSpPr>
          <p:cNvPr id="219" name="Google Shape;219;p21"/>
          <p:cNvSpPr txBox="1"/>
          <p:nvPr>
            <p:ph idx="3" type="subTitle"/>
          </p:nvPr>
        </p:nvSpPr>
        <p:spPr>
          <a:xfrm>
            <a:off x="2281350" y="1124100"/>
            <a:ext cx="991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6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DML: ADD A ROW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877824" y="1691640"/>
            <a:ext cx="5074920" cy="4480560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1106424" y="1856232"/>
            <a:ext cx="4617720" cy="4151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table_name (col1, col2, ...)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VALUES (val1, val2, ...);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--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(CustomerID, CustomerName, Region)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(10001, 'Aisha Al-Farsi', 'Central');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6172200" y="1691640"/>
            <a:ext cx="5120640" cy="44805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6400800" y="1874519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WHAT IT DOES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6400800" y="2286000"/>
            <a:ext cx="4663440" cy="3749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Adds a new row to a 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The column list is optional, but it keeps the statement readable and safe.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Values must match the column order and data types.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One INSERT can add a single row, or many rows at once.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SQL Basics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type="title"/>
          </p:nvPr>
        </p:nvSpPr>
        <p:spPr>
          <a:xfrm>
            <a:off x="2276850" y="657525"/>
            <a:ext cx="9912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UPDATE</a:t>
            </a:r>
            <a:endParaRPr/>
          </a:p>
        </p:txBody>
      </p:sp>
      <p:sp>
        <p:nvSpPr>
          <p:cNvPr id="231" name="Google Shape;231;p22"/>
          <p:cNvSpPr txBox="1"/>
          <p:nvPr>
            <p:ph idx="3" type="subTitle"/>
          </p:nvPr>
        </p:nvSpPr>
        <p:spPr>
          <a:xfrm>
            <a:off x="2281350" y="1124100"/>
            <a:ext cx="991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6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DML: CHANGE EXISTING ROWS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877824" y="1691640"/>
            <a:ext cx="5074920" cy="4480560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1106424" y="1856232"/>
            <a:ext cx="4617720" cy="4151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UPDATE table_name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SET column1 = value1, column2 = value2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WHERE condition;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--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UPDATE 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SET OrderPriority = 'Critical'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WHERE Sales &gt; 5000;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6172200" y="1691640"/>
            <a:ext cx="5120640" cy="44805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6400800" y="1874519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WHAT IT DOES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6400800" y="2286000"/>
            <a:ext cx="4663440" cy="3749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Changes values in rows that already exist.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WHERE decides which rows are touched. Leaving it off updates every row.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Always test the WHERE clause with a SELECT first.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Common in cleanup work: standardizing values, fixing typos, backfilling defaults.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SQL Basics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>
            <p:ph type="title"/>
          </p:nvPr>
        </p:nvSpPr>
        <p:spPr>
          <a:xfrm>
            <a:off x="2276850" y="657525"/>
            <a:ext cx="9912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DELETE</a:t>
            </a:r>
            <a:endParaRPr/>
          </a:p>
        </p:txBody>
      </p:sp>
      <p:sp>
        <p:nvSpPr>
          <p:cNvPr id="243" name="Google Shape;243;p23"/>
          <p:cNvSpPr txBox="1"/>
          <p:nvPr>
            <p:ph idx="3" type="subTitle"/>
          </p:nvPr>
        </p:nvSpPr>
        <p:spPr>
          <a:xfrm>
            <a:off x="2281350" y="1124100"/>
            <a:ext cx="991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6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DML: REMOVE ROWS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877824" y="1691640"/>
            <a:ext cx="5074920" cy="4480560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1106424" y="1856232"/>
            <a:ext cx="4617720" cy="4151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 table_name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WHERE condition;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--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 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WHERE OrderDate &lt; '2009-01-01';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6172200" y="1691640"/>
            <a:ext cx="5120640" cy="44805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6400800" y="1874519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WHAT IT DOES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6400800" y="2286000"/>
            <a:ext cx="4663440" cy="3749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Removes whole rows from a 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WHERE decides which rows are removed. Leaving it off deletes every row.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Deleted rows are gone. There is no undo without a backup.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In practice: archive or soft-delete with a status flag before a hard DELETE.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SQL Basics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INNER JOIN</a:t>
            </a:r>
            <a:endParaRPr/>
          </a:p>
        </p:txBody>
      </p:sp>
      <p:sp>
        <p:nvSpPr>
          <p:cNvPr id="255" name="Google Shape;255;p24"/>
          <p:cNvSpPr txBox="1"/>
          <p:nvPr>
            <p:ph idx="2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6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 OF 4 · MATCHING ROWS ONLY</a:t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1737360" y="2926079"/>
            <a:ext cx="2103120" cy="2103120"/>
          </a:xfrm>
          <a:prstGeom prst="ellipse">
            <a:avLst/>
          </a:prstGeom>
          <a:noFill/>
          <a:ln cap="flat" cmpd="sng" w="28575">
            <a:solidFill>
              <a:srgbClr val="120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3154679" y="2926079"/>
            <a:ext cx="2103120" cy="2103120"/>
          </a:xfrm>
          <a:prstGeom prst="ellipse">
            <a:avLst/>
          </a:prstGeom>
          <a:noFill/>
          <a:ln cap="flat" cmpd="sng" w="28575">
            <a:solidFill>
              <a:srgbClr val="120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3155112" y="3200736"/>
            <a:ext cx="684935" cy="1553807"/>
          </a:xfrm>
          <a:custGeom>
            <a:rect b="b" l="l" r="r" t="t"/>
            <a:pathLst>
              <a:path extrusionOk="0" h="1553807" w="684935">
                <a:moveTo>
                  <a:pt x="342467" y="0"/>
                </a:moveTo>
                <a:lnTo>
                  <a:pt x="385820" y="41882"/>
                </a:lnTo>
                <a:lnTo>
                  <a:pt x="426701" y="86180"/>
                </a:lnTo>
                <a:lnTo>
                  <a:pt x="464976" y="132748"/>
                </a:lnTo>
                <a:lnTo>
                  <a:pt x="500521" y="181432"/>
                </a:lnTo>
                <a:lnTo>
                  <a:pt x="533217" y="232073"/>
                </a:lnTo>
                <a:lnTo>
                  <a:pt x="562958" y="284504"/>
                </a:lnTo>
                <a:lnTo>
                  <a:pt x="589646" y="338553"/>
                </a:lnTo>
                <a:lnTo>
                  <a:pt x="613193" y="394043"/>
                </a:lnTo>
                <a:lnTo>
                  <a:pt x="633522" y="450791"/>
                </a:lnTo>
                <a:lnTo>
                  <a:pt x="650566" y="508610"/>
                </a:lnTo>
                <a:lnTo>
                  <a:pt x="664268" y="567311"/>
                </a:lnTo>
                <a:lnTo>
                  <a:pt x="674585" y="626701"/>
                </a:lnTo>
                <a:lnTo>
                  <a:pt x="681482" y="686584"/>
                </a:lnTo>
                <a:lnTo>
                  <a:pt x="684935" y="746764"/>
                </a:lnTo>
                <a:lnTo>
                  <a:pt x="684935" y="807043"/>
                </a:lnTo>
                <a:lnTo>
                  <a:pt x="681482" y="867223"/>
                </a:lnTo>
                <a:lnTo>
                  <a:pt x="674585" y="927106"/>
                </a:lnTo>
                <a:lnTo>
                  <a:pt x="664268" y="986496"/>
                </a:lnTo>
                <a:lnTo>
                  <a:pt x="650566" y="1045197"/>
                </a:lnTo>
                <a:lnTo>
                  <a:pt x="633522" y="1103016"/>
                </a:lnTo>
                <a:lnTo>
                  <a:pt x="613193" y="1159764"/>
                </a:lnTo>
                <a:lnTo>
                  <a:pt x="589646" y="1215254"/>
                </a:lnTo>
                <a:lnTo>
                  <a:pt x="562958" y="1269303"/>
                </a:lnTo>
                <a:lnTo>
                  <a:pt x="533217" y="1321734"/>
                </a:lnTo>
                <a:lnTo>
                  <a:pt x="500521" y="1372375"/>
                </a:lnTo>
                <a:lnTo>
                  <a:pt x="464976" y="1421059"/>
                </a:lnTo>
                <a:lnTo>
                  <a:pt x="426701" y="1467627"/>
                </a:lnTo>
                <a:lnTo>
                  <a:pt x="385820" y="1511925"/>
                </a:lnTo>
                <a:lnTo>
                  <a:pt x="342467" y="1553807"/>
                </a:lnTo>
                <a:lnTo>
                  <a:pt x="342467" y="1553807"/>
                </a:lnTo>
                <a:lnTo>
                  <a:pt x="299115" y="1511925"/>
                </a:lnTo>
                <a:lnTo>
                  <a:pt x="258234" y="1467627"/>
                </a:lnTo>
                <a:lnTo>
                  <a:pt x="219959" y="1421059"/>
                </a:lnTo>
                <a:lnTo>
                  <a:pt x="184414" y="1372375"/>
                </a:lnTo>
                <a:lnTo>
                  <a:pt x="151718" y="1321734"/>
                </a:lnTo>
                <a:lnTo>
                  <a:pt x="121977" y="1269303"/>
                </a:lnTo>
                <a:lnTo>
                  <a:pt x="95289" y="1215254"/>
                </a:lnTo>
                <a:lnTo>
                  <a:pt x="71742" y="1159764"/>
                </a:lnTo>
                <a:lnTo>
                  <a:pt x="51413" y="1103016"/>
                </a:lnTo>
                <a:lnTo>
                  <a:pt x="34369" y="1045197"/>
                </a:lnTo>
                <a:lnTo>
                  <a:pt x="20667" y="986496"/>
                </a:lnTo>
                <a:lnTo>
                  <a:pt x="10350" y="927106"/>
                </a:lnTo>
                <a:lnTo>
                  <a:pt x="3453" y="867223"/>
                </a:lnTo>
                <a:lnTo>
                  <a:pt x="0" y="807043"/>
                </a:lnTo>
                <a:lnTo>
                  <a:pt x="0" y="746764"/>
                </a:lnTo>
                <a:lnTo>
                  <a:pt x="3453" y="686584"/>
                </a:lnTo>
                <a:lnTo>
                  <a:pt x="10350" y="626701"/>
                </a:lnTo>
                <a:lnTo>
                  <a:pt x="20667" y="567311"/>
                </a:lnTo>
                <a:lnTo>
                  <a:pt x="34369" y="508610"/>
                </a:lnTo>
                <a:lnTo>
                  <a:pt x="51413" y="450791"/>
                </a:lnTo>
                <a:lnTo>
                  <a:pt x="71742" y="394043"/>
                </a:lnTo>
                <a:lnTo>
                  <a:pt x="95289" y="338553"/>
                </a:lnTo>
                <a:lnTo>
                  <a:pt x="121977" y="284504"/>
                </a:lnTo>
                <a:lnTo>
                  <a:pt x="151718" y="232073"/>
                </a:lnTo>
                <a:lnTo>
                  <a:pt x="184414" y="181432"/>
                </a:lnTo>
                <a:lnTo>
                  <a:pt x="219959" y="132748"/>
                </a:lnTo>
                <a:lnTo>
                  <a:pt x="258234" y="86180"/>
                </a:lnTo>
                <a:lnTo>
                  <a:pt x="299115" y="41882"/>
                </a:lnTo>
                <a:lnTo>
                  <a:pt x="342467" y="0"/>
                </a:lnTo>
                <a:close/>
              </a:path>
            </a:pathLst>
          </a:custGeom>
          <a:solidFill>
            <a:srgbClr val="5FB8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1737360" y="2926079"/>
            <a:ext cx="2103120" cy="2103120"/>
          </a:xfrm>
          <a:prstGeom prst="ellipse">
            <a:avLst/>
          </a:prstGeom>
          <a:noFill/>
          <a:ln cap="flat" cmpd="sng" w="28575">
            <a:solidFill>
              <a:srgbClr val="120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3154679" y="2926079"/>
            <a:ext cx="2103120" cy="2103120"/>
          </a:xfrm>
          <a:prstGeom prst="ellipse">
            <a:avLst/>
          </a:prstGeom>
          <a:noFill/>
          <a:ln cap="flat" cmpd="sng" w="28575">
            <a:solidFill>
              <a:srgbClr val="120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1463039" y="2468879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Courier New"/>
                <a:ea typeface="Courier New"/>
                <a:cs typeface="Courier New"/>
                <a:sym typeface="Courier New"/>
              </a:rPr>
              <a:t>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4"/>
          <p:cNvSpPr txBox="1"/>
          <p:nvPr/>
        </p:nvSpPr>
        <p:spPr>
          <a:xfrm>
            <a:off x="2880360" y="2468879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Courier New"/>
                <a:ea typeface="Courier New"/>
                <a:cs typeface="Courier New"/>
                <a:sym typeface="Courier New"/>
              </a:rPr>
              <a:t>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4"/>
          <p:cNvSpPr txBox="1"/>
          <p:nvPr/>
        </p:nvSpPr>
        <p:spPr>
          <a:xfrm>
            <a:off x="1463039" y="5166360"/>
            <a:ext cx="4069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Shaded = rows returned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6035040" y="1737360"/>
            <a:ext cx="525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Returns only the rows where the join key matches in both tables. An order with no matching customer is dropped from the result.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6035040" y="2743200"/>
            <a:ext cx="5257800" cy="1874519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6263640" y="2907792"/>
            <a:ext cx="4800600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SELECT o.OrderID, c.CustomerName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INNER JOIN customers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ON o.CustomerID = c.CustomerID;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6035040" y="4800600"/>
            <a:ext cx="5257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Use INNER JOIN when a missing match means the row is not usable for the task at hand.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SQL Basics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LEFT JOIN</a:t>
            </a:r>
            <a:endParaRPr/>
          </a:p>
        </p:txBody>
      </p:sp>
      <p:sp>
        <p:nvSpPr>
          <p:cNvPr id="274" name="Google Shape;274;p25"/>
          <p:cNvSpPr txBox="1"/>
          <p:nvPr>
            <p:ph idx="2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6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 OF 4 · EVERY ROW ON THE LEFT</a:t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1737360" y="2926079"/>
            <a:ext cx="2103120" cy="2103120"/>
          </a:xfrm>
          <a:prstGeom prst="ellipse">
            <a:avLst/>
          </a:prstGeom>
          <a:solidFill>
            <a:srgbClr val="5FB8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3154679" y="2926079"/>
            <a:ext cx="2103120" cy="2103120"/>
          </a:xfrm>
          <a:prstGeom prst="ellipse">
            <a:avLst/>
          </a:prstGeom>
          <a:noFill/>
          <a:ln cap="flat" cmpd="sng" w="28575">
            <a:solidFill>
              <a:srgbClr val="120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1463039" y="2468879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Courier New"/>
                <a:ea typeface="Courier New"/>
                <a:cs typeface="Courier New"/>
                <a:sym typeface="Courier New"/>
              </a:rPr>
              <a:t>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2880360" y="2468879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Courier New"/>
                <a:ea typeface="Courier New"/>
                <a:cs typeface="Courier New"/>
                <a:sym typeface="Courier New"/>
              </a:rPr>
              <a:t>returns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1463039" y="5166360"/>
            <a:ext cx="4069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Shaded = rows returned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6035040" y="1737360"/>
            <a:ext cx="525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Keeps every row from the left table. Where there is no match on the right, those columns come back as NULL.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6035040" y="2743200"/>
            <a:ext cx="5257800" cy="1874519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6263640" y="2907792"/>
            <a:ext cx="4800600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SELECT o.OrderID, r.Status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LEFT JOIN returns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ON o.OrderID = r.OrderID;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5"/>
          <p:cNvSpPr txBox="1"/>
          <p:nvPr/>
        </p:nvSpPr>
        <p:spPr>
          <a:xfrm>
            <a:off x="6035040" y="4800600"/>
            <a:ext cx="5257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A NULL Status here means the order was never returned. That NULL is a feature, not a gap.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5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SQL Basics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RIGHT JOIN</a:t>
            </a:r>
            <a:endParaRPr/>
          </a:p>
        </p:txBody>
      </p:sp>
      <p:sp>
        <p:nvSpPr>
          <p:cNvPr id="290" name="Google Shape;290;p26"/>
          <p:cNvSpPr txBox="1"/>
          <p:nvPr>
            <p:ph idx="2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6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 OF 4 · EVERY ROW ON THE RIGHT</a:t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1737360" y="2926079"/>
            <a:ext cx="2103120" cy="2103120"/>
          </a:xfrm>
          <a:prstGeom prst="ellipse">
            <a:avLst/>
          </a:prstGeom>
          <a:noFill/>
          <a:ln cap="flat" cmpd="sng" w="28575">
            <a:solidFill>
              <a:srgbClr val="120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3154679" y="2926079"/>
            <a:ext cx="2103120" cy="2103120"/>
          </a:xfrm>
          <a:prstGeom prst="ellipse">
            <a:avLst/>
          </a:prstGeom>
          <a:solidFill>
            <a:srgbClr val="5FB8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6"/>
          <p:cNvSpPr txBox="1"/>
          <p:nvPr/>
        </p:nvSpPr>
        <p:spPr>
          <a:xfrm>
            <a:off x="1463039" y="2468879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Courier New"/>
                <a:ea typeface="Courier New"/>
                <a:cs typeface="Courier New"/>
                <a:sym typeface="Courier New"/>
              </a:rPr>
              <a:t>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6"/>
          <p:cNvSpPr txBox="1"/>
          <p:nvPr/>
        </p:nvSpPr>
        <p:spPr>
          <a:xfrm>
            <a:off x="2880360" y="2468879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Courier New"/>
                <a:ea typeface="Courier New"/>
                <a:cs typeface="Courier New"/>
                <a:sym typeface="Courier New"/>
              </a:rPr>
              <a:t>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6"/>
          <p:cNvSpPr txBox="1"/>
          <p:nvPr/>
        </p:nvSpPr>
        <p:spPr>
          <a:xfrm>
            <a:off x="1463039" y="5166360"/>
            <a:ext cx="4069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Shaded = rows returned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6"/>
          <p:cNvSpPr txBox="1"/>
          <p:nvPr/>
        </p:nvSpPr>
        <p:spPr>
          <a:xfrm>
            <a:off x="6035040" y="1737360"/>
            <a:ext cx="525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The mirror of LEFT JOIN. Keeps every row from the right table, and fills in NULL where the left table has no match.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6035040" y="2743200"/>
            <a:ext cx="5257800" cy="1874519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6"/>
          <p:cNvSpPr txBox="1"/>
          <p:nvPr/>
        </p:nvSpPr>
        <p:spPr>
          <a:xfrm>
            <a:off x="6263640" y="2907792"/>
            <a:ext cx="4800600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SELECT o.OrderID, c.CustomerName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RIGHT JOIN customers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ON o.CustomerID = c.CustomerID;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6"/>
          <p:cNvSpPr txBox="1"/>
          <p:nvPr/>
        </p:nvSpPr>
        <p:spPr>
          <a:xfrm>
            <a:off x="6035040" y="4800600"/>
            <a:ext cx="5257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Rarely needed in practice: most RIGHT JOINs can be rewritten as a LEFT JOIN by swapping the table order.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6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SQL Basics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FULL OUTER JOIN</a:t>
            </a:r>
            <a:endParaRPr/>
          </a:p>
        </p:txBody>
      </p:sp>
      <p:sp>
        <p:nvSpPr>
          <p:cNvPr id="306" name="Google Shape;306;p27"/>
          <p:cNvSpPr txBox="1"/>
          <p:nvPr>
            <p:ph idx="2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6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4 OF 4 · EVERY ROW FROM BOTH SIDES</a:t>
            </a:r>
            <a:endParaRPr/>
          </a:p>
        </p:txBody>
      </p:sp>
      <p:sp>
        <p:nvSpPr>
          <p:cNvPr id="307" name="Google Shape;307;p27"/>
          <p:cNvSpPr/>
          <p:nvPr/>
        </p:nvSpPr>
        <p:spPr>
          <a:xfrm>
            <a:off x="1737360" y="2926079"/>
            <a:ext cx="2103120" cy="2103120"/>
          </a:xfrm>
          <a:prstGeom prst="ellipse">
            <a:avLst/>
          </a:prstGeom>
          <a:solidFill>
            <a:srgbClr val="5FB8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3154679" y="2926079"/>
            <a:ext cx="2103120" cy="2103120"/>
          </a:xfrm>
          <a:prstGeom prst="ellipse">
            <a:avLst/>
          </a:prstGeom>
          <a:solidFill>
            <a:srgbClr val="5FB8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1737360" y="2926079"/>
            <a:ext cx="2103120" cy="2103120"/>
          </a:xfrm>
          <a:prstGeom prst="ellipse">
            <a:avLst/>
          </a:prstGeom>
          <a:noFill/>
          <a:ln cap="flat" cmpd="sng" w="28575">
            <a:solidFill>
              <a:srgbClr val="120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3154679" y="2926079"/>
            <a:ext cx="2103120" cy="2103120"/>
          </a:xfrm>
          <a:prstGeom prst="ellipse">
            <a:avLst/>
          </a:prstGeom>
          <a:noFill/>
          <a:ln cap="flat" cmpd="sng" w="28575">
            <a:solidFill>
              <a:srgbClr val="120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7"/>
          <p:cNvSpPr txBox="1"/>
          <p:nvPr/>
        </p:nvSpPr>
        <p:spPr>
          <a:xfrm>
            <a:off x="1463039" y="2468879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Courier New"/>
                <a:ea typeface="Courier New"/>
                <a:cs typeface="Courier New"/>
                <a:sym typeface="Courier New"/>
              </a:rPr>
              <a:t>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7"/>
          <p:cNvSpPr txBox="1"/>
          <p:nvPr/>
        </p:nvSpPr>
        <p:spPr>
          <a:xfrm>
            <a:off x="2880360" y="2468879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Courier New"/>
                <a:ea typeface="Courier New"/>
                <a:cs typeface="Courier New"/>
                <a:sym typeface="Courier New"/>
              </a:rPr>
              <a:t>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7"/>
          <p:cNvSpPr txBox="1"/>
          <p:nvPr/>
        </p:nvSpPr>
        <p:spPr>
          <a:xfrm>
            <a:off x="1463039" y="5166360"/>
            <a:ext cx="4069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Shaded = rows returned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7"/>
          <p:cNvSpPr txBox="1"/>
          <p:nvPr/>
        </p:nvSpPr>
        <p:spPr>
          <a:xfrm>
            <a:off x="6035040" y="1737360"/>
            <a:ext cx="525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Keeps every row from both tables. Where a row has no match on the other side, those columns come back as NULL.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6035040" y="2743200"/>
            <a:ext cx="5257800" cy="1874519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7"/>
          <p:cNvSpPr txBox="1"/>
          <p:nvPr/>
        </p:nvSpPr>
        <p:spPr>
          <a:xfrm>
            <a:off x="6263640" y="2907792"/>
            <a:ext cx="4800600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SELECT o.OrderID, c.CustomerName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FULL OUTER JOIN customers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ON o.CustomerID = c.CustomerID;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7"/>
          <p:cNvSpPr txBox="1"/>
          <p:nvPr/>
        </p:nvSpPr>
        <p:spPr>
          <a:xfrm>
            <a:off x="6035040" y="4800600"/>
            <a:ext cx="5257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MySQL has no native FULL OUTER JOIN. It is usually built from a LEFT JOIN combined with a RIGHT JOIN using UNION.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SQL Basics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8"/>
          <p:cNvSpPr txBox="1"/>
          <p:nvPr>
            <p:ph type="title"/>
          </p:nvPr>
        </p:nvSpPr>
        <p:spPr>
          <a:xfrm>
            <a:off x="0" y="3017650"/>
            <a:ext cx="12207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i="0" lang="en-US" sz="15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MODULE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000"/>
              <a:buNone/>
            </a:pPr>
            <a:r>
              <a:rPr b="1" i="0" lang="en-US" sz="3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Basic Querying &amp; Filtering</a:t>
            </a:r>
            <a:endParaRPr/>
          </a:p>
        </p:txBody>
      </p:sp>
      <p:sp>
        <p:nvSpPr>
          <p:cNvPr id="324" name="Google Shape;324;p28"/>
          <p:cNvSpPr txBox="1"/>
          <p:nvPr>
            <p:ph idx="1" type="subTitle"/>
          </p:nvPr>
        </p:nvSpPr>
        <p:spPr>
          <a:xfrm>
            <a:off x="0" y="3972225"/>
            <a:ext cx="121890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i="0" lang="en-US" sz="1500">
                <a:solidFill>
                  <a:srgbClr val="CADCF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SELECT, WHERE, ORDER BY, LIMIT, DISTINCT: the first pass of cleaning a dataset happens before Pandas even sees it.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WHERE, ORDER BY, LIMIT</a:t>
            </a:r>
            <a:endParaRPr/>
          </a:p>
        </p:txBody>
      </p:sp>
      <p:sp>
        <p:nvSpPr>
          <p:cNvPr id="330" name="Google Shape;330;p29"/>
          <p:cNvSpPr txBox="1"/>
          <p:nvPr>
            <p:ph idx="2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6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CLAUSES YOU WILL USE IN THIS MODULE</a:t>
            </a:r>
            <a:endParaRPr/>
          </a:p>
        </p:txBody>
      </p:sp>
      <p:sp>
        <p:nvSpPr>
          <p:cNvPr id="331" name="Google Shape;331;p29"/>
          <p:cNvSpPr/>
          <p:nvPr/>
        </p:nvSpPr>
        <p:spPr>
          <a:xfrm>
            <a:off x="877824" y="1828800"/>
            <a:ext cx="3383280" cy="42976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9"/>
          <p:cNvSpPr txBox="1"/>
          <p:nvPr/>
        </p:nvSpPr>
        <p:spPr>
          <a:xfrm>
            <a:off x="1106424" y="2029968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WHERE</a:t>
            </a:r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1106424" y="260604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Filters which rows come back</a:t>
            </a:r>
            <a:endParaRPr/>
          </a:p>
        </p:txBody>
      </p:sp>
      <p:sp>
        <p:nvSpPr>
          <p:cNvPr id="334" name="Google Shape;334;p29"/>
          <p:cNvSpPr txBox="1"/>
          <p:nvPr/>
        </p:nvSpPr>
        <p:spPr>
          <a:xfrm>
            <a:off x="1106424" y="31089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Conditions: =, !=, &gt;, &lt;, &gt;=, &lt;=, BETWEEN, IN, LIKE, IS NULL</a:t>
            </a:r>
            <a:endParaRPr/>
          </a:p>
        </p:txBody>
      </p:sp>
      <p:sp>
        <p:nvSpPr>
          <p:cNvPr id="335" name="Google Shape;335;p29"/>
          <p:cNvSpPr txBox="1"/>
          <p:nvPr/>
        </p:nvSpPr>
        <p:spPr>
          <a:xfrm>
            <a:off x="1106424" y="4160520"/>
            <a:ext cx="29260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WHERE Sales &gt; 1000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WHERE Region IN ('West','East')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WHERE ShipMode LIKE 'Air%'</a:t>
            </a:r>
            <a:endParaRPr/>
          </a:p>
        </p:txBody>
      </p:sp>
      <p:sp>
        <p:nvSpPr>
          <p:cNvPr id="336" name="Google Shape;336;p29"/>
          <p:cNvSpPr/>
          <p:nvPr/>
        </p:nvSpPr>
        <p:spPr>
          <a:xfrm>
            <a:off x="4443984" y="1828800"/>
            <a:ext cx="3383280" cy="42976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9"/>
          <p:cNvSpPr txBox="1"/>
          <p:nvPr/>
        </p:nvSpPr>
        <p:spPr>
          <a:xfrm>
            <a:off x="4672584" y="2029968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ORDER BY</a:t>
            </a:r>
            <a:endParaRPr/>
          </a:p>
        </p:txBody>
      </p:sp>
      <p:sp>
        <p:nvSpPr>
          <p:cNvPr id="338" name="Google Shape;338;p29"/>
          <p:cNvSpPr txBox="1"/>
          <p:nvPr/>
        </p:nvSpPr>
        <p:spPr>
          <a:xfrm>
            <a:off x="4672584" y="260604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Sorts the result set</a:t>
            </a:r>
            <a:endParaRPr/>
          </a:p>
        </p:txBody>
      </p:sp>
      <p:sp>
        <p:nvSpPr>
          <p:cNvPr id="339" name="Google Shape;339;p29"/>
          <p:cNvSpPr txBox="1"/>
          <p:nvPr/>
        </p:nvSpPr>
        <p:spPr>
          <a:xfrm>
            <a:off x="4672584" y="31089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ASC (default) or DESC, on one or more columns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4672584" y="4160520"/>
            <a:ext cx="29260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ORDER BY Sales DESC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ORDER BY Region, Sales DESC</a:t>
            </a:r>
            <a:endParaRPr/>
          </a:p>
        </p:txBody>
      </p:sp>
      <p:sp>
        <p:nvSpPr>
          <p:cNvPr id="341" name="Google Shape;341;p29"/>
          <p:cNvSpPr/>
          <p:nvPr/>
        </p:nvSpPr>
        <p:spPr>
          <a:xfrm>
            <a:off x="8010144" y="1828800"/>
            <a:ext cx="3383280" cy="42976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9"/>
          <p:cNvSpPr txBox="1"/>
          <p:nvPr/>
        </p:nvSpPr>
        <p:spPr>
          <a:xfrm>
            <a:off x="8238744" y="2029968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LIMIT</a:t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8238744" y="260604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Caps how many rows come back</a:t>
            </a:r>
            <a:endParaRPr/>
          </a:p>
        </p:txBody>
      </p:sp>
      <p:sp>
        <p:nvSpPr>
          <p:cNvPr id="344" name="Google Shape;344;p29"/>
          <p:cNvSpPr txBox="1"/>
          <p:nvPr/>
        </p:nvSpPr>
        <p:spPr>
          <a:xfrm>
            <a:off x="8238744" y="31089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Pair it with ORDER BY, or the top rows are arbitrary</a:t>
            </a:r>
            <a:endParaRPr/>
          </a:p>
        </p:txBody>
      </p:sp>
      <p:sp>
        <p:nvSpPr>
          <p:cNvPr id="345" name="Google Shape;345;p29"/>
          <p:cNvSpPr txBox="1"/>
          <p:nvPr/>
        </p:nvSpPr>
        <p:spPr>
          <a:xfrm>
            <a:off x="8238744" y="4160520"/>
            <a:ext cx="29260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LIMIT 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ORDER BY Sales DESC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LIMIT 5</a:t>
            </a:r>
            <a:endParaRPr/>
          </a:p>
        </p:txBody>
      </p:sp>
      <p:sp>
        <p:nvSpPr>
          <p:cNvPr id="346" name="Google Shape;346;p29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Foundations to Joins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"/>
          <p:cNvSpPr txBox="1"/>
          <p:nvPr>
            <p:ph type="title"/>
          </p:nvPr>
        </p:nvSpPr>
        <p:spPr>
          <a:xfrm>
            <a:off x="2276850" y="657525"/>
            <a:ext cx="9912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2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MODULE 1</a:t>
            </a:r>
            <a:endParaRPr/>
          </a:p>
        </p:txBody>
      </p:sp>
      <p:sp>
        <p:nvSpPr>
          <p:cNvPr id="352" name="Google Shape;352;p30"/>
          <p:cNvSpPr txBox="1"/>
          <p:nvPr>
            <p:ph idx="3" type="subTitle"/>
          </p:nvPr>
        </p:nvSpPr>
        <p:spPr>
          <a:xfrm>
            <a:off x="2281350" y="1124100"/>
            <a:ext cx="991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5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Basic Querying &amp; Filtering</a:t>
            </a:r>
            <a:endParaRPr/>
          </a:p>
        </p:txBody>
      </p:sp>
      <p:sp>
        <p:nvSpPr>
          <p:cNvPr id="353" name="Google Shape;353;p30"/>
          <p:cNvSpPr/>
          <p:nvPr/>
        </p:nvSpPr>
        <p:spPr>
          <a:xfrm>
            <a:off x="877824" y="1691640"/>
            <a:ext cx="5074920" cy="4480560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0"/>
          <p:cNvSpPr txBox="1"/>
          <p:nvPr/>
        </p:nvSpPr>
        <p:spPr>
          <a:xfrm>
            <a:off x="1106424" y="1856232"/>
            <a:ext cx="4617720" cy="4151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SELECT column1, column2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WHERE OrderPriority = 'Critical'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AND Sales BETWEEN 100 AND 5000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AND ShipMode &lt;&gt; 'Delivery Truck'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AND ProductID IN (657768, 293693)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ORDER BY OrderDate DESC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LIMIT 100;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SELECT DISTINCT CustomerSegment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FROM customers;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6172200" y="1691640"/>
            <a:ext cx="5120640" cy="44805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6400800" y="1874519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THE DATA SCIENCE TOUCH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0"/>
          <p:cNvSpPr txBox="1"/>
          <p:nvPr/>
        </p:nvSpPr>
        <p:spPr>
          <a:xfrm>
            <a:off x="6400800" y="2176272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Filter noise before it costs you compute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0"/>
          <p:cNvSpPr txBox="1"/>
          <p:nvPr/>
        </p:nvSpPr>
        <p:spPr>
          <a:xfrm>
            <a:off x="6400800" y="2926080"/>
            <a:ext cx="46634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WHERE with BETWEEN / IN / LIKE removes invalid rows and outliers before a single byte hits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LIMIT is your fastest sanity check on a new table: never SELECT * on a full production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DISTINCT catches duplicate log entries that would silently inflate frequency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IS NULL / IS NOT NULL is your first missing-data audit: before you write pandas.dropna()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0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Foundations to Joins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2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MODULE 1</a:t>
            </a:r>
            <a:endParaRPr/>
          </a:p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5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Basic Querying &amp; Filtering</a:t>
            </a:r>
            <a:endParaRPr/>
          </a:p>
        </p:txBody>
      </p:sp>
      <p:sp>
        <p:nvSpPr>
          <p:cNvPr id="366" name="Google Shape;366;p31"/>
          <p:cNvSpPr txBox="1"/>
          <p:nvPr/>
        </p:nvSpPr>
        <p:spPr>
          <a:xfrm>
            <a:off x="877824" y="16916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Pull high-value, recent Critical-priority orders: a candidate slice for a rush-delivery risk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877824" y="2194560"/>
            <a:ext cx="10424160" cy="2331720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1"/>
          <p:cNvSpPr txBox="1"/>
          <p:nvPr/>
        </p:nvSpPr>
        <p:spPr>
          <a:xfrm>
            <a:off x="1106424" y="2359152"/>
            <a:ext cx="9966960" cy="2002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SELECT OrderID, CustomerID, OrderDate, Sales, OrderPriority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WHERE OrderPriority = 'Critical'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AND Sales &gt; 1000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AND OrderDate &gt;= '2011-01-01'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ORDER BY Sales DESC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LIMIT 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1"/>
          <p:cNvSpPr txBox="1"/>
          <p:nvPr/>
        </p:nvSpPr>
        <p:spPr>
          <a:xfrm>
            <a:off x="877824" y="4663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B6B8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RESULT (excerpt)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0" name="Google Shape;370;p31"/>
          <p:cNvGraphicFramePr/>
          <p:nvPr/>
        </p:nvGraphicFramePr>
        <p:xfrm>
          <a:off x="877824" y="4956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{623202BF-37A4-49A7-A2C1-C678A9C21BC4}</a:tableStyleId>
              </a:tblPr>
              <a:tblGrid>
                <a:gridCol w="2084825"/>
                <a:gridCol w="2084825"/>
                <a:gridCol w="2084825"/>
                <a:gridCol w="2084825"/>
                <a:gridCol w="2084825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OrderID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20A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CustomerID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20A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OrderDate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20A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Sales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20A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OrderPriority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20A59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3841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60800210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2011-11-02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8399.98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Critical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6852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51402540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2011-06-14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6720.10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Critical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2214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40732966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2011-03-22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5410.55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Critical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1" name="Google Shape;371;p31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Foundations to Joins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 txBox="1"/>
          <p:nvPr>
            <p:ph type="title"/>
          </p:nvPr>
        </p:nvSpPr>
        <p:spPr>
          <a:xfrm>
            <a:off x="0" y="3017650"/>
            <a:ext cx="12207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i="0" lang="en-US" sz="15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MODULE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000"/>
              <a:buNone/>
            </a:pPr>
            <a:r>
              <a:rPr b="1" i="0" lang="en-US" sz="3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Aggregations</a:t>
            </a:r>
            <a:endParaRPr/>
          </a:p>
        </p:txBody>
      </p:sp>
      <p:sp>
        <p:nvSpPr>
          <p:cNvPr id="377" name="Google Shape;377;p32"/>
          <p:cNvSpPr txBox="1"/>
          <p:nvPr>
            <p:ph idx="1" type="subTitle"/>
          </p:nvPr>
        </p:nvSpPr>
        <p:spPr>
          <a:xfrm>
            <a:off x="0" y="3972225"/>
            <a:ext cx="121890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i="0" lang="en-US" sz="1500">
                <a:solidFill>
                  <a:srgbClr val="CADCF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GROUP BY and HAVING turn thousands of transaction rows into the customer- and product-level features a model actually trains on.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8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GROUP BY, HAVING</a:t>
            </a:r>
            <a:endParaRPr/>
          </a:p>
        </p:txBody>
      </p:sp>
      <p:sp>
        <p:nvSpPr>
          <p:cNvPr id="383" name="Google Shape;383;p33"/>
          <p:cNvSpPr txBox="1"/>
          <p:nvPr>
            <p:ph idx="2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6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CLAUSES YOU WILL USE IN THIS MODULE</a:t>
            </a:r>
            <a:endParaRPr/>
          </a:p>
        </p:txBody>
      </p:sp>
      <p:sp>
        <p:nvSpPr>
          <p:cNvPr id="384" name="Google Shape;384;p33"/>
          <p:cNvSpPr/>
          <p:nvPr/>
        </p:nvSpPr>
        <p:spPr>
          <a:xfrm>
            <a:off x="877824" y="1828800"/>
            <a:ext cx="5102352" cy="42976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3"/>
          <p:cNvSpPr txBox="1"/>
          <p:nvPr/>
        </p:nvSpPr>
        <p:spPr>
          <a:xfrm>
            <a:off x="1106424" y="2029968"/>
            <a:ext cx="46451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GROUP BY</a:t>
            </a:r>
            <a:endParaRPr/>
          </a:p>
        </p:txBody>
      </p:sp>
      <p:sp>
        <p:nvSpPr>
          <p:cNvPr id="386" name="Google Shape;386;p33"/>
          <p:cNvSpPr txBox="1"/>
          <p:nvPr/>
        </p:nvSpPr>
        <p:spPr>
          <a:xfrm>
            <a:off x="1106424" y="2606040"/>
            <a:ext cx="46451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Collapses rows into one row per group</a:t>
            </a:r>
            <a:endParaRPr/>
          </a:p>
        </p:txBody>
      </p:sp>
      <p:sp>
        <p:nvSpPr>
          <p:cNvPr id="387" name="Google Shape;387;p33"/>
          <p:cNvSpPr txBox="1"/>
          <p:nvPr/>
        </p:nvSpPr>
        <p:spPr>
          <a:xfrm>
            <a:off x="1106424" y="3108960"/>
            <a:ext cx="4645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Group by one or more columns, then aggregate each group with COUNT, SUM, AVG, MIN, or MAX</a:t>
            </a:r>
            <a:endParaRPr/>
          </a:p>
        </p:txBody>
      </p:sp>
      <p:sp>
        <p:nvSpPr>
          <p:cNvPr id="388" name="Google Shape;388;p33"/>
          <p:cNvSpPr txBox="1"/>
          <p:nvPr/>
        </p:nvSpPr>
        <p:spPr>
          <a:xfrm>
            <a:off x="1106424" y="4160520"/>
            <a:ext cx="464515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SELECT CustomerID, COUNT(*)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GROUP BY CustomerID</a:t>
            </a:r>
            <a:endParaRPr/>
          </a:p>
        </p:txBody>
      </p:sp>
      <p:sp>
        <p:nvSpPr>
          <p:cNvPr id="389" name="Google Shape;389;p33"/>
          <p:cNvSpPr/>
          <p:nvPr/>
        </p:nvSpPr>
        <p:spPr>
          <a:xfrm>
            <a:off x="6190488" y="1828800"/>
            <a:ext cx="5102352" cy="42976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3"/>
          <p:cNvSpPr txBox="1"/>
          <p:nvPr/>
        </p:nvSpPr>
        <p:spPr>
          <a:xfrm>
            <a:off x="6419088" y="2029968"/>
            <a:ext cx="46451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HAVING</a:t>
            </a:r>
            <a:endParaRPr/>
          </a:p>
        </p:txBody>
      </p:sp>
      <p:sp>
        <p:nvSpPr>
          <p:cNvPr id="391" name="Google Shape;391;p33"/>
          <p:cNvSpPr txBox="1"/>
          <p:nvPr/>
        </p:nvSpPr>
        <p:spPr>
          <a:xfrm>
            <a:off x="6419088" y="2606040"/>
            <a:ext cx="46451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0A5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Filters groups after they are aggregated</a:t>
            </a:r>
            <a:endParaRPr/>
          </a:p>
        </p:txBody>
      </p:sp>
      <p:sp>
        <p:nvSpPr>
          <p:cNvPr id="392" name="Google Shape;392;p33"/>
          <p:cNvSpPr txBox="1"/>
          <p:nvPr/>
        </p:nvSpPr>
        <p:spPr>
          <a:xfrm>
            <a:off x="6419088" y="3108960"/>
            <a:ext cx="4645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WHERE filters rows before grouping. HAVING filters groups, and can reference an aggregate like COUNT(*) or SUM(Sales)</a:t>
            </a:r>
            <a:endParaRPr/>
          </a:p>
        </p:txBody>
      </p:sp>
      <p:sp>
        <p:nvSpPr>
          <p:cNvPr id="393" name="Google Shape;393;p33"/>
          <p:cNvSpPr txBox="1"/>
          <p:nvPr/>
        </p:nvSpPr>
        <p:spPr>
          <a:xfrm>
            <a:off x="6419088" y="4160520"/>
            <a:ext cx="464515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GROUP BY CustomerID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0757"/>
                </a:solidFill>
                <a:latin typeface="Courier New"/>
                <a:ea typeface="Courier New"/>
                <a:cs typeface="Courier New"/>
                <a:sym typeface="Courier New"/>
              </a:rPr>
              <a:t>HAVING COUNT(*) &gt;= 3</a:t>
            </a:r>
            <a:endParaRPr/>
          </a:p>
        </p:txBody>
      </p:sp>
      <p:sp>
        <p:nvSpPr>
          <p:cNvPr id="394" name="Google Shape;394;p33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Foundations to Joins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4"/>
          <p:cNvSpPr txBox="1"/>
          <p:nvPr>
            <p:ph type="title"/>
          </p:nvPr>
        </p:nvSpPr>
        <p:spPr>
          <a:xfrm>
            <a:off x="2276850" y="657525"/>
            <a:ext cx="9912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2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MODULE 2</a:t>
            </a:r>
            <a:endParaRPr/>
          </a:p>
        </p:txBody>
      </p:sp>
      <p:sp>
        <p:nvSpPr>
          <p:cNvPr id="400" name="Google Shape;400;p34"/>
          <p:cNvSpPr txBox="1"/>
          <p:nvPr>
            <p:ph idx="3" type="subTitle"/>
          </p:nvPr>
        </p:nvSpPr>
        <p:spPr>
          <a:xfrm>
            <a:off x="2281350" y="1124100"/>
            <a:ext cx="991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5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Aggregations</a:t>
            </a:r>
            <a:endParaRPr/>
          </a:p>
        </p:txBody>
      </p:sp>
      <p:sp>
        <p:nvSpPr>
          <p:cNvPr id="401" name="Google Shape;401;p34"/>
          <p:cNvSpPr/>
          <p:nvPr/>
        </p:nvSpPr>
        <p:spPr>
          <a:xfrm>
            <a:off x="877824" y="1691640"/>
            <a:ext cx="5074920" cy="4480560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4"/>
          <p:cNvSpPr txBox="1"/>
          <p:nvPr/>
        </p:nvSpPr>
        <p:spPr>
          <a:xfrm>
            <a:off x="1106424" y="1856232"/>
            <a:ext cx="4617720" cy="4151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SELECT CustomerID,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     COUNT(OrderID)  AS order_count,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     SUM(Sales)      AS total_spend,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     AVG(Sales)      AS avg_order_value,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     MAX(OrderDate)  AS last_order_date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GROUP BY CustomerID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HAVING COUNT(OrderID) &gt;=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ORDER BY total_spend DESC;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6172200" y="1691640"/>
            <a:ext cx="5120640" cy="44805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6400800" y="1874519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THE DATA SCIENCE TOUCH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6400800" y="2176272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This is feature engineering, in 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4"/>
          <p:cNvSpPr txBox="1"/>
          <p:nvPr/>
        </p:nvSpPr>
        <p:spPr>
          <a:xfrm>
            <a:off x="6400800" y="2926080"/>
            <a:ext cx="46634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One row per customer, one column per feature: the exact shape a model's feature table needs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COUNT / SUM / AVG per group = frequency, monetary, and average-basket features, computed at the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HAVING filters on the aggregate itself: e.g. drop customers with too few orders to trust a trend from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COALESCE(SUM(Discount), 0) turns a NULL aggregate into a real, model-safe zero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4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Foundations to Joins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5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2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MODULE 2</a:t>
            </a:r>
            <a:endParaRPr/>
          </a:p>
        </p:txBody>
      </p:sp>
      <p:sp>
        <p:nvSpPr>
          <p:cNvPr id="413" name="Google Shape;413;p35"/>
          <p:cNvSpPr txBox="1"/>
          <p:nvPr>
            <p:ph idx="2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5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Aggregations</a:t>
            </a:r>
            <a:endParaRPr/>
          </a:p>
        </p:txBody>
      </p:sp>
      <p:sp>
        <p:nvSpPr>
          <p:cNvPr id="414" name="Google Shape;414;p35"/>
          <p:cNvSpPr txBox="1"/>
          <p:nvPr/>
        </p:nvSpPr>
        <p:spPr>
          <a:xfrm>
            <a:off x="877824" y="16916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Aggregate to the product level: a feature table ready to feed a pricing or margin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877824" y="2194560"/>
            <a:ext cx="10424160" cy="2331720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5"/>
          <p:cNvSpPr txBox="1"/>
          <p:nvPr/>
        </p:nvSpPr>
        <p:spPr>
          <a:xfrm>
            <a:off x="1106424" y="2359152"/>
            <a:ext cx="9966960" cy="2002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SELECT ProductID,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     COUNT(*)         AS times_ordered,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     SUM(Profit)      AS total_profit,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ROUND(AVG(Discount), 2) AS avg_discount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GROUP BY ProductID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HAVING SUM(Profit) &lt;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ORDER BY total_profit ASC;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877824" y="4663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B6B8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RESULT (excerpt)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8" name="Google Shape;418;p35"/>
          <p:cNvGraphicFramePr/>
          <p:nvPr/>
        </p:nvGraphicFramePr>
        <p:xfrm>
          <a:off x="877824" y="4956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{623202BF-37A4-49A7-A2C1-C678A9C21BC4}</a:tableStyleId>
              </a:tblPr>
              <a:tblGrid>
                <a:gridCol w="2606050"/>
                <a:gridCol w="2606050"/>
                <a:gridCol w="2606050"/>
                <a:gridCol w="260605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ProductID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20A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times_ordered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20A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total_profit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20A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avg_discount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20A59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657768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-318.40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0.18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293693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-201.75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0.22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481920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-95.10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0.15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9" name="Google Shape;419;p35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Foundations to Joins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"/>
          <p:cNvSpPr txBox="1"/>
          <p:nvPr>
            <p:ph type="title"/>
          </p:nvPr>
        </p:nvSpPr>
        <p:spPr>
          <a:xfrm>
            <a:off x="0" y="3017650"/>
            <a:ext cx="12207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i="0" lang="en-US" sz="15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MODULE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000"/>
              <a:buNone/>
            </a:pPr>
            <a:r>
              <a:rPr b="1" i="0" lang="en-US" sz="3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Joins &amp; Unions</a:t>
            </a:r>
            <a:endParaRPr/>
          </a:p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0" y="3972225"/>
            <a:ext cx="121890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i="0" lang="en-US" sz="1500">
                <a:solidFill>
                  <a:srgbClr val="CADCF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The training set doesn't live in one table. Joins are how a behavior log, a catalog, and a customer profile become a single modeling dataset.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7"/>
          <p:cNvSpPr txBox="1"/>
          <p:nvPr>
            <p:ph type="title"/>
          </p:nvPr>
        </p:nvSpPr>
        <p:spPr>
          <a:xfrm>
            <a:off x="2276850" y="657525"/>
            <a:ext cx="9912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2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MODULE 3</a:t>
            </a:r>
            <a:endParaRPr/>
          </a:p>
        </p:txBody>
      </p:sp>
      <p:sp>
        <p:nvSpPr>
          <p:cNvPr id="431" name="Google Shape;431;p37"/>
          <p:cNvSpPr txBox="1"/>
          <p:nvPr>
            <p:ph idx="3" type="subTitle"/>
          </p:nvPr>
        </p:nvSpPr>
        <p:spPr>
          <a:xfrm>
            <a:off x="2281350" y="1124100"/>
            <a:ext cx="991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5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Joins &amp; Unions</a:t>
            </a:r>
            <a:endParaRPr/>
          </a:p>
        </p:txBody>
      </p:sp>
      <p:sp>
        <p:nvSpPr>
          <p:cNvPr id="432" name="Google Shape;432;p37"/>
          <p:cNvSpPr/>
          <p:nvPr/>
        </p:nvSpPr>
        <p:spPr>
          <a:xfrm>
            <a:off x="877824" y="1691640"/>
            <a:ext cx="5074920" cy="4480560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7"/>
          <p:cNvSpPr txBox="1"/>
          <p:nvPr/>
        </p:nvSpPr>
        <p:spPr>
          <a:xfrm>
            <a:off x="1106424" y="1856232"/>
            <a:ext cx="4617720" cy="4151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SELECT o.OrderID, o.Sales, c.CustomerSegment,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     p.ProductCategory, r.Status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INNER JOIN customers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ON o.CustomerID = c.CustomerID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LEFT JOIN products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ON o.ProductID = p.ProductID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LEFT JOIN returns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ON o.OrderID = r.OrderID;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-- r.Status IS NULL  =&gt;  'never returned'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7"/>
          <p:cNvSpPr/>
          <p:nvPr/>
        </p:nvSpPr>
        <p:spPr>
          <a:xfrm>
            <a:off x="6172200" y="1691640"/>
            <a:ext cx="5120640" cy="44805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7"/>
          <p:cNvSpPr txBox="1"/>
          <p:nvPr/>
        </p:nvSpPr>
        <p:spPr>
          <a:xfrm>
            <a:off x="6400800" y="1874519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THE DATA SCIENCE TOUCH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7"/>
          <p:cNvSpPr txBox="1"/>
          <p:nvPr/>
        </p:nvSpPr>
        <p:spPr>
          <a:xfrm>
            <a:off x="6400800" y="2176272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A LEFT JOIN's NULL is a feature, not an error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7"/>
          <p:cNvSpPr txBox="1"/>
          <p:nvPr/>
        </p:nvSpPr>
        <p:spPr>
          <a:xfrm>
            <a:off x="6400800" y="2926080"/>
            <a:ext cx="46634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INNER JOIN keeps only rows that match both sides: use it when a missing link means the row isn't usable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LEFT JOIN keeps every row on the left even with no match: the NULL often is the label itself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UNION ALL stacks similarly-shaped queries into one training set without deduping; UNION removes duplicates when that's wanted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An unintended fan-out silently duplicates rows and corrupts every aggregate downstream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7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Foundations to Joins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8"/>
          <p:cNvSpPr txBox="1"/>
          <p:nvPr>
            <p:ph type="title"/>
          </p:nvPr>
        </p:nvSpPr>
        <p:spPr>
          <a:xfrm>
            <a:off x="2276850" y="657525"/>
            <a:ext cx="9915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2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rPr>
              <a:t>MODULE 3</a:t>
            </a:r>
            <a:endParaRPr/>
          </a:p>
        </p:txBody>
      </p:sp>
      <p:sp>
        <p:nvSpPr>
          <p:cNvPr id="444" name="Google Shape;444;p38"/>
          <p:cNvSpPr txBox="1"/>
          <p:nvPr>
            <p:ph idx="2" type="subTitle"/>
          </p:nvPr>
        </p:nvSpPr>
        <p:spPr>
          <a:xfrm>
            <a:off x="2281350" y="1124100"/>
            <a:ext cx="991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0" lang="en-US" sz="1500">
                <a:solidFill>
                  <a:srgbClr val="5FB8E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Joins &amp; Unions</a:t>
            </a:r>
            <a:endParaRPr/>
          </a:p>
        </p:txBody>
      </p:sp>
      <p:sp>
        <p:nvSpPr>
          <p:cNvPr id="445" name="Google Shape;445;p38"/>
          <p:cNvSpPr txBox="1"/>
          <p:nvPr/>
        </p:nvSpPr>
        <p:spPr>
          <a:xfrm>
            <a:off x="877824" y="16916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rPr>
              <a:t>One row per order, enriched with customer segment, product category, and return outcome.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8"/>
          <p:cNvSpPr/>
          <p:nvPr/>
        </p:nvSpPr>
        <p:spPr>
          <a:xfrm>
            <a:off x="877824" y="2194560"/>
            <a:ext cx="10424160" cy="2331720"/>
          </a:xfrm>
          <a:prstGeom prst="rect">
            <a:avLst/>
          </a:prstGeom>
          <a:solidFill>
            <a:srgbClr val="120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8"/>
          <p:cNvSpPr txBox="1"/>
          <p:nvPr/>
        </p:nvSpPr>
        <p:spPr>
          <a:xfrm>
            <a:off x="1106424" y="2359152"/>
            <a:ext cx="9966960" cy="2002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SELECT o.OrderID, o.OrderDate, o.Sales, o.Discount,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     c.CustomerSegment, p.ProductCategory,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       CASE WHEN r.Status IS NULL THEN 0 ELSE 1 END AS was_returned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JOIN customers c ON o.CustomerID = c.CustomerID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JOIN products  p ON o.ProductID  = p.ProductID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F5"/>
                </a:solidFill>
                <a:latin typeface="Courier New"/>
                <a:ea typeface="Courier New"/>
                <a:cs typeface="Courier New"/>
                <a:sym typeface="Courier New"/>
              </a:rPr>
              <a:t>LEFT JOIN returns r ON o.OrderID = r.OrderID;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8"/>
          <p:cNvSpPr txBox="1"/>
          <p:nvPr/>
        </p:nvSpPr>
        <p:spPr>
          <a:xfrm>
            <a:off x="877824" y="4663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B6B8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RESULT (excerpt)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9" name="Google Shape;449;p38"/>
          <p:cNvGraphicFramePr/>
          <p:nvPr/>
        </p:nvGraphicFramePr>
        <p:xfrm>
          <a:off x="877824" y="4956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{623202BF-37A4-49A7-A2C1-C678A9C21BC4}</a:tableStyleId>
              </a:tblPr>
              <a:tblGrid>
                <a:gridCol w="2084825"/>
                <a:gridCol w="2084825"/>
                <a:gridCol w="2084825"/>
                <a:gridCol w="2084825"/>
                <a:gridCol w="2084825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OrderID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20A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Sales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20A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CustomerSegment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20A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ProductCategory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20A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was_returned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20A59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8710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151.35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Corporate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Office Supplies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5251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3821.04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Corporate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Technology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3841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8399.98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Home Office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Furniture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F075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0" name="Google Shape;450;p38"/>
          <p:cNvSpPr txBox="1"/>
          <p:nvPr/>
        </p:nvSpPr>
        <p:spPr>
          <a:xfrm>
            <a:off x="877824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Proxima Nova"/>
                <a:ea typeface="Proxima Nova"/>
                <a:cs typeface="Proxima Nova"/>
                <a:sym typeface="Proxima Nova"/>
              </a:rPr>
              <a:t>Foundations to Joins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9"/>
          <p:cNvSpPr txBox="1"/>
          <p:nvPr>
            <p:ph type="title"/>
          </p:nvPr>
        </p:nvSpPr>
        <p:spPr>
          <a:xfrm>
            <a:off x="877824" y="155448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i="0" lang="en-US" sz="2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Why This Matters for Your Models</a:t>
            </a:r>
            <a:endParaRPr/>
          </a:p>
        </p:txBody>
      </p:sp>
      <p:sp>
        <p:nvSpPr>
          <p:cNvPr id="456" name="Google Shape;456;p39"/>
          <p:cNvSpPr txBox="1"/>
          <p:nvPr/>
        </p:nvSpPr>
        <p:spPr>
          <a:xfrm>
            <a:off x="877824" y="3017520"/>
            <a:ext cx="3383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5FB8E4"/>
                </a:solidFill>
                <a:latin typeface="Proxima Nova"/>
                <a:ea typeface="Proxima Nova"/>
                <a:cs typeface="Proxima Nova"/>
                <a:sym typeface="Proxima Nova"/>
              </a:rPr>
              <a:t>3+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9"/>
          <p:cNvSpPr txBox="1"/>
          <p:nvPr/>
        </p:nvSpPr>
        <p:spPr>
          <a:xfrm>
            <a:off x="877824" y="406908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Proxima Nova"/>
                <a:ea typeface="Proxima Nova"/>
                <a:cs typeface="Proxima Nova"/>
                <a:sym typeface="Proxima Nova"/>
              </a:rPr>
              <a:t>tables typically joined to build one real-world training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9"/>
          <p:cNvSpPr txBox="1"/>
          <p:nvPr/>
        </p:nvSpPr>
        <p:spPr>
          <a:xfrm>
            <a:off x="4443984" y="3017520"/>
            <a:ext cx="3383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5FB8E4"/>
                </a:solidFill>
                <a:latin typeface="Proxima Nova"/>
                <a:ea typeface="Proxima Nova"/>
                <a:cs typeface="Proxima Nova"/>
                <a:sym typeface="Proxima Nova"/>
              </a:rPr>
              <a:t>70%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9"/>
          <p:cNvSpPr txBox="1"/>
          <p:nvPr/>
        </p:nvSpPr>
        <p:spPr>
          <a:xfrm>
            <a:off x="4443984" y="406908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Proxima Nova"/>
                <a:ea typeface="Proxima Nova"/>
                <a:cs typeface="Proxima Nova"/>
                <a:sym typeface="Proxima Nova"/>
              </a:rPr>
              <a:t>of a data scientist's time is data prep: most of it belongs in SQL, not Pandas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9"/>
          <p:cNvSpPr txBox="1"/>
          <p:nvPr/>
        </p:nvSpPr>
        <p:spPr>
          <a:xfrm>
            <a:off x="8010144" y="3017520"/>
            <a:ext cx="3383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5FB8E4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9"/>
          <p:cNvSpPr txBox="1"/>
          <p:nvPr/>
        </p:nvSpPr>
        <p:spPr>
          <a:xfrm>
            <a:off x="8010144" y="406908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Proxima Nova"/>
                <a:ea typeface="Proxima Nova"/>
                <a:cs typeface="Proxima Nova"/>
                <a:sym typeface="Proxima Nova"/>
              </a:rPr>
              <a:t>rows you should filter, aggregate, or join twice: do it once, at the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clouddata">
  <a:themeElements>
    <a:clrScheme name="Simple Light">
      <a:dk1>
        <a:srgbClr val="120A59"/>
      </a:dk1>
      <a:lt1>
        <a:srgbClr val="FFFFFF"/>
      </a:lt1>
      <a:dk2>
        <a:srgbClr val="595959"/>
      </a:dk2>
      <a:lt2>
        <a:srgbClr val="EEEEEE"/>
      </a:lt2>
      <a:accent1>
        <a:srgbClr val="D6356C"/>
      </a:accent1>
      <a:accent2>
        <a:srgbClr val="AB46A5"/>
      </a:accent2>
      <a:accent3>
        <a:srgbClr val="5BB5E3"/>
      </a:accent3>
      <a:accent4>
        <a:srgbClr val="6D72CC"/>
      </a:accent4>
      <a:accent5>
        <a:srgbClr val="7765B2"/>
      </a:accent5>
      <a:accent6>
        <a:srgbClr val="120A59"/>
      </a:accent6>
      <a:hlink>
        <a:srgbClr val="0078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